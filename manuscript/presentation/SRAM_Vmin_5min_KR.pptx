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</c:v>
                </c:pt>
              </c:strCache>
            </c:strRef>
          </c:tx>
          <c:dPt>
            <c:idx val="0"/>
            <c:spPr>
              <a:solidFill>
                <a:srgbClr val="5B728D"/>
              </a:solidFill>
            </c:spPr>
          </c:dPt>
          <c:dPt>
            <c:idx val="1"/>
            <c:spPr>
              <a:solidFill>
                <a:srgbClr val="5B728D"/>
              </a:solidFill>
            </c:spPr>
          </c:dPt>
          <c:dPt>
            <c:idx val="2"/>
            <c:spPr>
              <a:solidFill>
                <a:srgbClr val="5B728D"/>
              </a:solidFill>
            </c:spPr>
          </c:dPt>
          <c:dPt>
            <c:idx val="3"/>
            <c:spPr>
              <a:solidFill>
                <a:srgbClr val="5B728D"/>
              </a:solidFill>
            </c:spPr>
          </c:dPt>
          <c:dPt>
            <c:idx val="4"/>
            <c:spPr>
              <a:solidFill>
                <a:srgbClr val="5B728D"/>
              </a:solidFill>
            </c:spPr>
          </c:dPt>
          <c:dPt>
            <c:idx val="5"/>
            <c:spPr>
              <a:solidFill>
                <a:srgbClr val="5B728D"/>
              </a:solidFill>
            </c:spPr>
          </c:dPt>
          <c:dPt>
            <c:idx val="6"/>
            <c:spPr>
              <a:solidFill>
                <a:srgbClr val="A6A6A6"/>
              </a:solidFill>
            </c:spPr>
          </c:dPt>
          <c:dPt>
            <c:idx val="7"/>
            <c:spPr>
              <a:solidFill>
                <a:srgbClr val="5B728D"/>
              </a:solidFill>
            </c:spPr>
          </c:dPt>
          <c:dPt>
            <c:idx val="8"/>
            <c:spPr>
              <a:solidFill>
                <a:srgbClr val="A6A6A6"/>
              </a:solidFill>
            </c:spPr>
          </c:dPt>
          <c:cat>
            <c:strRef>
              <c:f>Sheet1!$A$2:$A$10</c:f>
              <c:strCache>
                <c:ptCount val="9"/>
                <c:pt idx="0">
                  <c:v>ΔkσN  PG–PD local-σ</c:v>
                </c:pt>
                <c:pt idx="1">
                  <c:v>kμP  PMOS mobility</c:v>
                </c:pt>
                <c:pt idx="2">
                  <c:v>ΔkμN  PG–PD mobility</c:v>
                </c:pt>
                <c:pt idx="3">
                  <c:v>kμN  NMOS mobility</c:v>
                </c:pt>
                <c:pt idx="4">
                  <c:v>kσP  PMOS local-σ</c:v>
                </c:pt>
                <c:pt idx="5">
                  <c:v>ΔVth,skew  PG–PD Vth</c:v>
                </c:pt>
                <c:pt idx="6">
                  <c:v>ΔVth,P  PMOS Vth (corner)</c:v>
                </c:pt>
                <c:pt idx="7">
                  <c:v>kσN  NMOS local-σ</c:v>
                </c:pt>
                <c:pt idx="8">
                  <c:v>ΔVth,N  NMOS Vth (corner)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0.001</c:v>
                </c:pt>
                <c:pt idx="1">
                  <c:v>0.008</c:v>
                </c:pt>
                <c:pt idx="2">
                  <c:v>0.015</c:v>
                </c:pt>
                <c:pt idx="3">
                  <c:v>0.015</c:v>
                </c:pt>
                <c:pt idx="4">
                  <c:v>0.045</c:v>
                </c:pt>
                <c:pt idx="5">
                  <c:v>0.065</c:v>
                </c:pt>
                <c:pt idx="6">
                  <c:v>0.2</c:v>
                </c:pt>
                <c:pt idx="7">
                  <c:v>0.272</c:v>
                </c:pt>
                <c:pt idx="8">
                  <c:v>0.413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SRAM Vmin을 순방향과 역방향으로 함께 추정하는 physics-guided surrogate를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출발점은 고객 VOC였습니다. Vmin은 더 낮추고, 성능도 같이 올려 달라는 요구였습니다. 목표를 0.575 V로 잡으면 지금은 read가 21 mV, write가 18 mV 모자랍니다. 공정 쪽에서 움직일 수 있는 knob은 셀의 PU, PD, PG마다 Vth, local mismatch, mobility가 있습니다. 그런데 이 중 어느 knob이 Vmin에 가장 잘 듣는지, 얼마나 움직여야 하는지 빨리 비교할 방법이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방법은 둘입니다. 왼쪽 그림처럼 MC는 학습 조건 하나에 수천 번을 돌려야 하고, corner는 별 네 개, 네 점만 봅니다. 오른쪽은 margin 분포입니다. 평균이 같아도 local mismatch로 σ가 커지면 tail이 0을 넘어가고, 그만큼 Vmin이 올라갑니다. corner로는 이게 안 보여서 Vmin을 낙관적으로 잡기 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그래서 simulation은 한 번만 돌리고, 그 결과에 여러 번 묻기로 했습니다. 이 조건의 Vmin은 얼마인지, 어느 축이 Vmin을 흔드는지, 목표를 맞추려면 얼마나 바꿔야 하는지, simulation은 얼마나 줄일 수 있는지. 뒤에서 이 네 가지를 같은 색으로 짚겠습니다.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구현은 단순합니다. 입력은 오른쪽 표처럼 Vth shift, local-σ, mobility를 NMOS 공통, pass-gate와 pull-down 사이 skew, PMOS로 나눈 9개 축과 공급 전압입니다. HSPICE MC 결과로 GP 두 개를 학습합니다. 하나는 margin 평균 μ, 하나는 산포 log σ입니다. Vmin은 따로 배우지 않습니다. 그림처럼 μ에서 kσ를 뺀 선이 0이 되는 가장 낮은 전압이 Vmin입니다. 이렇게 나눠 두면 Vmin이 밀린 원인이 중심인지 산포인지 보이고, 역산도 1차원 이분 탐색으로 끝납니다.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정확도부터 보겠습니다. 학습에 안 쓴 조건에서 Vmin 오차는 read 3.98 mV, write 5.65 mV RMSE입니다. 학습에서 뺀 PDK corner 네 곳에서도 8.5 mV와 5.8 mV이고, read는 FSG, write는 SFG로 최악 corner를 제대로 짚었습니다. 기준값은 따로 돌린 HSPICE MC입니다.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다음은 어느 축이 Vmin을 흔드는지입니다. total-order Sobol 지수로 read margin 분산을 나눠 보면, NMOS local mismatch가 0.272로 corner 축인 PMOS Vth shift 0.200보다 큽니다. corner 두 축을 합쳐도 0.61이 상한이라, 적어도 38 %는 corner 밖에서 나옵니다. 성능 쪽 knob인 mobility 축은 0.015 이하로 작았습니다. VOC 대응 action을 어떤 순서로 볼지 이 결과로 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VOC로 돌아가겠습니다. 앞에서 본 read 21 mV, write 18 mV 차이를 없애려면 무엇을 얼마나 바꿔야 할까요. 나머지 축을 고정하고 knob 하나씩 거꾸로 풀면, NMOS local-σ를 10.9 % 줄이는 게 가장 작은 변화였습니다. NMOS와 PMOS에 나누면 각각 7.8 %면 되고, PMOS local-σ만으로는 30 %를 줄여도 닿지 않습니다. 공정 action 후보를 simulation을 더 돌리지 않고 이렇게 바로 비교할 수 있었던 게 가장 쓸모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비용입니다. 기준 학습은 1,700개 조건, 전압 5개, 조건당 MC 5,000개였습니다. 400개 조건, 전압 4개, MC 500개로 줄이면 budget은 53배 줄고 read 오차는 3.5 mV 늡니다. 한 번 학습해 두면 이후 질의에는 MC가 더 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정리하면, simulation을 한 번 돌려 정확도, 민감도, 역산, 비용 네 가지에 답했고, 실제 VOC에서 어떤 공정 action이 효과적인지 고르는 데 썼습니다. 다만 margin을 Gaussian으로 가정했고, 역산은 나머지 축을 고정한 결과라는 한계가 있습니다.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8516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SRAM Vmin 순·역방향 추정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117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공정 변동을 반영한 physics-guided surrogate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4480" y="3525520"/>
            <a:ext cx="1463040" cy="12700"/>
          </a:xfrm>
          <a:prstGeom prst="rect">
            <a:avLst/>
          </a:prstGeom>
          <a:solidFill>
            <a:srgbClr val="8BB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3703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B9C6F0"/>
                </a:solidFill>
                <a:latin typeface="Malgun Gothic Semilight"/>
                <a:ea typeface="Malgun Gothic Semilight"/>
                <a:cs typeface="Malgun Gothic Semilight"/>
              </a:rPr>
              <a:t>Gaussian process  ·  Sobol 민감도  ·  공정 사양 역산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49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[발표자]  ·  [소속]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760720"/>
            <a:ext cx="109728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B9C6F0"/>
                </a:solidFill>
                <a:latin typeface="Malgun Gothic Semilight"/>
                <a:ea typeface="Malgun Gothic Semilight"/>
                <a:cs typeface="Malgun Gothic Semilight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3172"/>
            <a:ext cx="11253216" cy="5417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사례: 고객이 Vmin은 낮추고 성능은 올려 달라고 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296" y="887984"/>
            <a:ext cx="11265408" cy="4826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20" y="6480810"/>
            <a:ext cx="1828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4566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6494526"/>
            <a:ext cx="90220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759"/>
                </a:solidFill>
                <a:latin typeface="Malgun Gothic Semilight"/>
                <a:ea typeface="Malgun Gothic Semilight"/>
                <a:cs typeface="Malgun Gothic Semilight"/>
              </a:rPr>
              <a:t>knob 이름은 이 연구의 9개 공정 축에 맞췄다 · 고객명과 제품 정보는 생략 · 막대는 surrogate가 계산한 한계 corner의 Vmin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920" y="6487668"/>
            <a:ext cx="2462784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SRAM Vmin surrogate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463296" y="1110996"/>
            <a:ext cx="5242560" cy="857250"/>
          </a:xfrm>
          <a:prstGeom prst="wedgeRoundRectCallout">
            <a:avLst>
              <a:gd name="adj1" fmla="val -30000"/>
              <a:gd name="adj2" fmla="val 78000"/>
              <a:gd name="adj3" fmla="val 16667"/>
            </a:avLst>
          </a:prstGeom>
          <a:solidFill>
            <a:srgbClr val="EEF1FB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984" y="1159002"/>
            <a:ext cx="48768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고객 VOC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984" y="1412748"/>
            <a:ext cx="4876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“Vmin은 더 낮게, 성능은 더 좋게”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263140"/>
            <a:ext cx="5242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새 목표 0.575 V까지 남은 거리</a:t>
            </a:r>
          </a:p>
        </p:txBody>
      </p:sp>
      <p:pic>
        <p:nvPicPr>
          <p:cNvPr id="11" name="Picture 10" descr="s2_vmi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03" y="2571750"/>
            <a:ext cx="4876745" cy="3086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78880" y="1124712"/>
            <a:ext cx="54498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공정에서 움직일 수 있는 knob</a:t>
            </a:r>
          </a:p>
        </p:txBody>
      </p:sp>
      <p:pic>
        <p:nvPicPr>
          <p:cNvPr id="13" name="Picture 12" descr="s2_cell6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862" y="1440180"/>
            <a:ext cx="3751859" cy="26060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78880" y="4149090"/>
            <a:ext cx="1341120" cy="370332"/>
          </a:xfrm>
          <a:prstGeom prst="roundRect">
            <a:avLst/>
          </a:prstGeom>
          <a:solidFill>
            <a:srgbClr val="3E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2032" y="4149090"/>
            <a:ext cx="1194816" cy="3703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PU (PMOS)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920" y="4149090"/>
            <a:ext cx="3986784" cy="3703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Vth,P · local-σP · mobility μP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880" y="4622292"/>
            <a:ext cx="1341120" cy="370332"/>
          </a:xfrm>
          <a:prstGeom prst="round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2032" y="4622292"/>
            <a:ext cx="1194816" cy="3703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PD·PG (NMOS)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1920" y="4622292"/>
            <a:ext cx="3986784" cy="3703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Vth,N · local-σN · mobility μN · PG–PD skew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880" y="5143500"/>
            <a:ext cx="1755648" cy="3703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2032" y="5143500"/>
            <a:ext cx="1609344" cy="3703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어느 knob이 잘 듣나?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5143500"/>
            <a:ext cx="1755648" cy="3703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5143500"/>
            <a:ext cx="1609344" cy="3703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얼마나 움직여야 하나?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0864" y="5143500"/>
            <a:ext cx="1755648" cy="3703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4016" y="5143500"/>
            <a:ext cx="1609344" cy="3703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read·write 동시에?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3296" y="5760720"/>
            <a:ext cx="11265408" cy="51435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560" y="5760720"/>
            <a:ext cx="10850880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knob마다 MC를 다시 돌리지 않고 한자리에서 비교할 방법이 필요했다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3172"/>
            <a:ext cx="11253216" cy="5417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 방법은 느리거나, 산포를 놓친다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296" y="887984"/>
            <a:ext cx="11265408" cy="4826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20" y="6480810"/>
            <a:ext cx="1828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4566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6494526"/>
            <a:ext cx="90220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759"/>
                </a:solidFill>
                <a:latin typeface="Malgun Gothic Semilight"/>
                <a:ea typeface="Malgun Gothic Semilight"/>
                <a:cs typeface="Malgun Gothic Semilight"/>
              </a:rPr>
              <a:t>왼쪽 점은 학습 조건 분포를 보여 주는 예시 (실제 조건은 9차원) · 오른쪽은 개념도 · Vmin: margin tail이 0에 닿는 가장 낮은 VDD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920" y="6487668"/>
            <a:ext cx="2462784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SRAM Vmin surrogate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069848"/>
            <a:ext cx="5364480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비용 — MC는 조건마다 수천 번, corner는 4점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880" y="1069848"/>
            <a:ext cx="5449824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사각지대 — Vmin은 분포의 tail이 정한다</a:t>
            </a:r>
          </a:p>
        </p:txBody>
      </p:sp>
      <p:pic>
        <p:nvPicPr>
          <p:cNvPr id="9" name="Picture 8" descr="s3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24" y="1440180"/>
            <a:ext cx="4314825" cy="4114800"/>
          </a:xfrm>
          <a:prstGeom prst="rect">
            <a:avLst/>
          </a:prstGeom>
        </p:spPr>
      </p:pic>
      <p:pic>
        <p:nvPicPr>
          <p:cNvPr id="10" name="Picture 9" descr="s3_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496" y="1440180"/>
            <a:ext cx="3954593" cy="4114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37453" y="1097280"/>
            <a:ext cx="31750" cy="514350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296" y="5632069"/>
            <a:ext cx="11265408" cy="2413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5726430"/>
            <a:ext cx="5364480" cy="480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MC</a:t>
            </a:r>
            <a:r>
              <a:rPr sz="16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: 정확하지만 knob을 바꿀 때마다 </a:t>
            </a:r>
            <a:r>
              <a:rPr sz="16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처음부터 다시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880" y="5726430"/>
            <a:ext cx="5449824" cy="480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corner</a:t>
            </a:r>
            <a:r>
              <a:rPr sz="16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: 빠르지만 σ가 커지는 건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못 본다</a:t>
            </a:r>
            <a:r>
              <a:rPr sz="16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 → Vmin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낙관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3172"/>
            <a:ext cx="11253216" cy="5417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목표: simulation은 한 번만, 질문은 여러 번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296" y="887984"/>
            <a:ext cx="11265408" cy="4826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20" y="6480810"/>
            <a:ext cx="1828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4566A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6494526"/>
            <a:ext cx="90220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759"/>
                </a:solidFill>
                <a:latin typeface="Malgun Gothic Semilight"/>
                <a:ea typeface="Malgun Gothic Semilight"/>
                <a:cs typeface="Malgun Gothic Semilight"/>
              </a:rPr>
              <a:t>썸네일은 뒤 장표의 실제 결과 · 이미 돌린 HSPICE MC를 계속 물어볼 수 있는 모델로 바꾼다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920" y="6487668"/>
            <a:ext cx="2462784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SRAM Vmin surrogate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296" y="1083564"/>
            <a:ext cx="2474976" cy="6172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96" y="1083564"/>
            <a:ext cx="2474976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정확도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256" y="1885950"/>
            <a:ext cx="2353056" cy="754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이 조건에서</a:t>
            </a:r>
          </a:p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Vmin은 얼마?</a:t>
            </a:r>
          </a:p>
        </p:txBody>
      </p:sp>
      <p:pic>
        <p:nvPicPr>
          <p:cNvPr id="10" name="Picture 9" descr="t1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56" y="2986889"/>
            <a:ext cx="2353056" cy="17071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3296" y="5074920"/>
            <a:ext cx="2474976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쓰는 도구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96" y="5349240"/>
            <a:ext cx="247497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GP surrogate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9376" y="1083564"/>
            <a:ext cx="2474976" cy="617220"/>
          </a:xfrm>
          <a:prstGeom prst="rect">
            <a:avLst/>
          </a:prstGeom>
          <a:solidFill>
            <a:srgbClr val="5B7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9376" y="1083564"/>
            <a:ext cx="2474976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민감도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0336" y="1885950"/>
            <a:ext cx="2353056" cy="754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Vmin을 흔드는</a:t>
            </a:r>
          </a:p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축은 어디?</a:t>
            </a:r>
          </a:p>
        </p:txBody>
      </p:sp>
      <p:pic>
        <p:nvPicPr>
          <p:cNvPr id="16" name="Picture 15" descr="t2_so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336" y="3140279"/>
            <a:ext cx="2353056" cy="14004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89376" y="5074920"/>
            <a:ext cx="2474976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쓰는 도구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9376" y="5349240"/>
            <a:ext cx="247497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Sobol 지수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5757" y="1083564"/>
            <a:ext cx="31750" cy="5301234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5456" y="1083564"/>
            <a:ext cx="2474976" cy="617220"/>
          </a:xfrm>
          <a:prstGeom prst="rect">
            <a:avLst/>
          </a:prstGeom>
          <a:solidFill>
            <a:srgbClr val="3E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5456" y="1083564"/>
            <a:ext cx="2474976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역산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6416" y="1885950"/>
            <a:ext cx="2353056" cy="754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목표를 맞추려면</a:t>
            </a:r>
          </a:p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얼마나?</a:t>
            </a:r>
          </a:p>
        </p:txBody>
      </p:sp>
      <p:pic>
        <p:nvPicPr>
          <p:cNvPr id="23" name="Picture 22" descr="t3_inver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416" y="2989442"/>
            <a:ext cx="2353056" cy="17020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15456" y="5074920"/>
            <a:ext cx="2474976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쓰는 도구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456" y="5349240"/>
            <a:ext cx="247497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1차원 이분 탐색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1837" y="1083564"/>
            <a:ext cx="31750" cy="5301234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29344" y="1083564"/>
            <a:ext cx="2474976" cy="6172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29344" y="1083564"/>
            <a:ext cx="2474976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비용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1885950"/>
            <a:ext cx="2353056" cy="754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simulation은</a:t>
            </a:r>
          </a:p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얼마나 줄이나?</a:t>
            </a:r>
          </a:p>
        </p:txBody>
      </p:sp>
      <p:pic>
        <p:nvPicPr>
          <p:cNvPr id="30" name="Picture 29" descr="t4_co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2982122"/>
            <a:ext cx="2353056" cy="171671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29344" y="5074920"/>
            <a:ext cx="2474976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쓰는 도구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9344" y="5349240"/>
            <a:ext cx="2474976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budget 절감 실험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5725" y="1083564"/>
            <a:ext cx="31750" cy="5301234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3172"/>
            <a:ext cx="11253216" cy="5417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구현: Vmin을 바로 배우지 않고 μ와 σ를 따로 배운다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296" y="887984"/>
            <a:ext cx="11265408" cy="4826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20" y="6480810"/>
            <a:ext cx="1828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4566A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6494526"/>
            <a:ext cx="90220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759"/>
                </a:solidFill>
                <a:latin typeface="Malgun Gothic Semilight"/>
                <a:ea typeface="Malgun Gothic Semilight"/>
                <a:cs typeface="Malgun Gothic Semilight"/>
              </a:rPr>
              <a:t>k: array 크기와 목표 fail 확률로 정하는 tail 배율 · σ GP는 log σ에 full-ARD kernel · read(125 °C)와 write(−40 °C)는 따로 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920" y="6487668"/>
            <a:ext cx="2462784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SRAM Vmin surrogate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980694"/>
            <a:ext cx="2831592" cy="294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8" name="Pentagon 7"/>
          <p:cNvSpPr/>
          <p:nvPr/>
        </p:nvSpPr>
        <p:spPr>
          <a:xfrm>
            <a:off x="438912" y="1364742"/>
            <a:ext cx="2977896" cy="720090"/>
          </a:xfrm>
          <a:prstGeom prst="homePlate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6448" y="1364742"/>
            <a:ext cx="2441448" cy="72009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9개 공정 축 + VDD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HSPICE MC 1,700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0504" y="980694"/>
            <a:ext cx="2831592" cy="294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2C47C0"/>
                </a:solidFill>
                <a:latin typeface="맑은 고딕"/>
                <a:ea typeface="맑은 고딕"/>
                <a:cs typeface="맑은 고딕"/>
              </a:rPr>
              <a:t>학습 ①</a:t>
            </a:r>
          </a:p>
        </p:txBody>
      </p:sp>
      <p:sp>
        <p:nvSpPr>
          <p:cNvPr id="11" name="Chevron 10"/>
          <p:cNvSpPr/>
          <p:nvPr/>
        </p:nvSpPr>
        <p:spPr>
          <a:xfrm>
            <a:off x="3270504" y="1364742"/>
            <a:ext cx="2977896" cy="720090"/>
          </a:xfrm>
          <a:prstGeom prst="chevron">
            <a:avLst/>
          </a:prstGeom>
          <a:solidFill>
            <a:srgbClr val="2C4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3384" y="1364742"/>
            <a:ext cx="2441448" cy="72009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GP: margin 평균 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2096" y="980694"/>
            <a:ext cx="2831592" cy="294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4F65E9"/>
                </a:solidFill>
                <a:latin typeface="맑은 고딕"/>
                <a:ea typeface="맑은 고딕"/>
                <a:cs typeface="맑은 고딕"/>
              </a:rPr>
              <a:t>학습 ②</a:t>
            </a:r>
          </a:p>
        </p:txBody>
      </p:sp>
      <p:sp>
        <p:nvSpPr>
          <p:cNvPr id="14" name="Chevron 13"/>
          <p:cNvSpPr/>
          <p:nvPr/>
        </p:nvSpPr>
        <p:spPr>
          <a:xfrm>
            <a:off x="6102096" y="1364742"/>
            <a:ext cx="2977896" cy="720090"/>
          </a:xfrm>
          <a:prstGeom prst="chevron">
            <a:avLst/>
          </a:prstGeom>
          <a:solidFill>
            <a:srgbClr val="4F6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4976" y="1364742"/>
            <a:ext cx="2441448" cy="72009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GP: margin 산포 log 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980694"/>
            <a:ext cx="2831592" cy="294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17" name="Chevron 16"/>
          <p:cNvSpPr/>
          <p:nvPr/>
        </p:nvSpPr>
        <p:spPr>
          <a:xfrm>
            <a:off x="8933688" y="1364742"/>
            <a:ext cx="2831592" cy="720090"/>
          </a:xfrm>
          <a:prstGeom prst="chevron">
            <a:avLst/>
          </a:prstGeom>
          <a:solidFill>
            <a:srgbClr val="3E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8" y="1364742"/>
            <a:ext cx="2441448" cy="72009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μ − k·σ ≥ 0이 되는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가장 낮은 VDD = Vmin</a:t>
            </a:r>
          </a:p>
        </p:txBody>
      </p:sp>
      <p:pic>
        <p:nvPicPr>
          <p:cNvPr id="19" name="Picture 18" descr="s5_mu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" y="2297430"/>
            <a:ext cx="6096000" cy="388968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49440" y="2297430"/>
            <a:ext cx="4779264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입력 9개 축 = 3종 × 3위치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1520" y="270891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NMOS 공통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270891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PG–PD skew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70891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PMOS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017520"/>
            <a:ext cx="13411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Vth shift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51520" y="3038094"/>
            <a:ext cx="1085088" cy="534924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1520" y="3038094"/>
            <a:ext cx="1085088" cy="5349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ΔVth,N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79280" y="3038094"/>
            <a:ext cx="1085088" cy="534924"/>
          </a:xfrm>
          <a:prstGeom prst="rect">
            <a:avLst/>
          </a:prstGeom>
          <a:solidFill>
            <a:srgbClr val="E3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79280" y="3038094"/>
            <a:ext cx="1085088" cy="5349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ΔVth,skew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3038094"/>
            <a:ext cx="1085088" cy="534924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0" y="3038094"/>
            <a:ext cx="1085088" cy="5349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ΔVth,P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607308"/>
            <a:ext cx="13411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local-σ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51520" y="3627882"/>
            <a:ext cx="1085088" cy="534924"/>
          </a:xfrm>
          <a:prstGeom prst="rect">
            <a:avLst/>
          </a:prstGeom>
          <a:solidFill>
            <a:srgbClr val="E3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1520" y="3627882"/>
            <a:ext cx="1085088" cy="5349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kσN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79280" y="3627882"/>
            <a:ext cx="1085088" cy="534924"/>
          </a:xfrm>
          <a:prstGeom prst="rect">
            <a:avLst/>
          </a:prstGeom>
          <a:solidFill>
            <a:srgbClr val="E3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79280" y="3627882"/>
            <a:ext cx="1085088" cy="5349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ΔkσN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07040" y="3627882"/>
            <a:ext cx="1085088" cy="534924"/>
          </a:xfrm>
          <a:prstGeom prst="rect">
            <a:avLst/>
          </a:prstGeom>
          <a:solidFill>
            <a:srgbClr val="E3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0" y="3627882"/>
            <a:ext cx="1085088" cy="5349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kσP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197096"/>
            <a:ext cx="13411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mobility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51520" y="4217670"/>
            <a:ext cx="1085088" cy="534924"/>
          </a:xfrm>
          <a:prstGeom prst="rect">
            <a:avLst/>
          </a:prstGeom>
          <a:solidFill>
            <a:srgbClr val="E3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1520" y="4217670"/>
            <a:ext cx="1085088" cy="5349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kμN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79280" y="4217670"/>
            <a:ext cx="1085088" cy="534924"/>
          </a:xfrm>
          <a:prstGeom prst="rect">
            <a:avLst/>
          </a:prstGeom>
          <a:solidFill>
            <a:srgbClr val="E3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79280" y="4217670"/>
            <a:ext cx="1085088" cy="5349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ΔkμN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07040" y="4217670"/>
            <a:ext cx="1085088" cy="534924"/>
          </a:xfrm>
          <a:prstGeom prst="rect">
            <a:avLst/>
          </a:prstGeom>
          <a:solidFill>
            <a:srgbClr val="E3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07040" y="4217670"/>
            <a:ext cx="1085088" cy="5349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kμP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1520" y="4821174"/>
            <a:ext cx="3377184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회색 = PDK corner가 다루는 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212080"/>
            <a:ext cx="477926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μ·σ로 나누면</a:t>
            </a: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 Vmin이 밀린 원인이 보인다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식이 VDD에 단조</a:t>
            </a: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 → 역산은 1차원 이분 탐색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3172"/>
            <a:ext cx="11253216" cy="5417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처음 보는 조건에서도 Vmin 오차는 수 mV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296" y="887984"/>
            <a:ext cx="11265408" cy="4826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20" y="6480810"/>
            <a:ext cx="1828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4566A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6494526"/>
            <a:ext cx="90220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759"/>
                </a:solidFill>
                <a:latin typeface="Malgun Gothic Semilight"/>
                <a:ea typeface="Malgun Gothic Semilight"/>
                <a:cs typeface="Malgun Gothic Semilight"/>
              </a:rPr>
              <a:t>기준값은 따로 돌린 HSPICE MC (silicon 측정 아님) · hold-out 300개 조건 중 판정 가능한 read 245개, write 228개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920" y="6487668"/>
            <a:ext cx="2462784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SRAM Vmin surrogate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056132"/>
            <a:ext cx="11253216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① 정확도 — 이 조건에서 Vmin은 얼마?</a:t>
            </a:r>
          </a:p>
        </p:txBody>
      </p:sp>
      <p:pic>
        <p:nvPicPr>
          <p:cNvPr id="8" name="Picture 7" descr="fig3_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" y="1474470"/>
            <a:ext cx="7376160" cy="30539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" y="47320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대각선에 붙을수록 정확하고, 회색 띠는 ±10 mV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왼쪽 read (SNM, 125 °C), 오른쪽 write (Vtrip, −40 °C)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74470"/>
            <a:ext cx="34991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Hold-out Vmin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17370"/>
            <a:ext cx="174345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3.98</a:t>
            </a:r>
            <a:r>
              <a:rPr sz="1800">
                <a:solidFill>
                  <a:srgbClr val="1428A0"/>
                </a:solidFill>
                <a:latin typeface="Malgun Gothic Semilight"/>
                <a:ea typeface="Malgun Gothic Semilight"/>
                <a:cs typeface="Malgun Gothic Semilight"/>
              </a:rPr>
              <a:t> 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07158"/>
            <a:ext cx="1743456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85248" y="1817370"/>
            <a:ext cx="174345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5.65</a:t>
            </a:r>
            <a:r>
              <a:rPr sz="1800">
                <a:solidFill>
                  <a:srgbClr val="1428A0"/>
                </a:solidFill>
                <a:latin typeface="Malgun Gothic Semilight"/>
                <a:ea typeface="Malgun Gothic Semilight"/>
                <a:cs typeface="Malgun Gothic Semilight"/>
              </a:rPr>
              <a:t> mV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5248" y="2407158"/>
            <a:ext cx="1743456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Write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74389" y="1851660"/>
            <a:ext cx="9525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868295"/>
            <a:ext cx="3499104" cy="2413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17520"/>
            <a:ext cx="34991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학습에서 뺀 PDK corner 4개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360420"/>
            <a:ext cx="174345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8.5</a:t>
            </a:r>
            <a:r>
              <a:rPr sz="1800">
                <a:solidFill>
                  <a:srgbClr val="1428A0"/>
                </a:solidFill>
                <a:latin typeface="Malgun Gothic Semilight"/>
                <a:ea typeface="Malgun Gothic Semilight"/>
                <a:cs typeface="Malgun Gothic Semilight"/>
              </a:rPr>
              <a:t> mV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50208"/>
            <a:ext cx="1743456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5248" y="3360420"/>
            <a:ext cx="174345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5.8</a:t>
            </a:r>
            <a:r>
              <a:rPr sz="1800">
                <a:solidFill>
                  <a:srgbClr val="1428A0"/>
                </a:solidFill>
                <a:latin typeface="Malgun Gothic Semilight"/>
                <a:ea typeface="Malgun Gothic Semilight"/>
                <a:cs typeface="Malgun Gothic Semilight"/>
              </a:rPr>
              <a:t> mV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5248" y="3950208"/>
            <a:ext cx="1743456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Write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74389" y="3394710"/>
            <a:ext cx="9525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4411345"/>
            <a:ext cx="3499104" cy="2413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560570"/>
            <a:ext cx="34991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최악 corner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903470"/>
            <a:ext cx="174345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FSG ✓</a:t>
            </a:r>
            <a:r>
              <a:rPr sz="1800">
                <a:solidFill>
                  <a:srgbClr val="1428A0"/>
                </a:solidFill>
                <a:latin typeface="Malgun Gothic Semilight"/>
                <a:ea typeface="Malgun Gothic Semilight"/>
                <a:cs typeface="Malgun Gothic Semilight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493258"/>
            <a:ext cx="1743456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4903470"/>
            <a:ext cx="174345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SFG ✓</a:t>
            </a:r>
            <a:r>
              <a:rPr sz="1800">
                <a:solidFill>
                  <a:srgbClr val="1428A0"/>
                </a:solidFill>
                <a:latin typeface="Malgun Gothic Semilight"/>
                <a:ea typeface="Malgun Gothic Semilight"/>
                <a:cs typeface="Malgun Gothic Semilight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5493258"/>
            <a:ext cx="1743456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Write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74389" y="4937760"/>
            <a:ext cx="9525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3172"/>
            <a:ext cx="11253216" cy="5417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Read margin 분산의 38 % 이상이 corner 밖에서 나온다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296" y="887984"/>
            <a:ext cx="11265408" cy="4826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20" y="6480810"/>
            <a:ext cx="1828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4566A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6494526"/>
            <a:ext cx="90220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759"/>
                </a:solidFill>
                <a:latin typeface="Malgun Gothic Semilight"/>
                <a:ea typeface="Malgun Gothic Semilight"/>
                <a:cs typeface="Malgun Gothic Semilight"/>
              </a:rPr>
              <a:t>total-order Sobol 지수 ST · read margin z, VDD = 0.625 V · 9개 축 전 범위 · 상호작용이 겹쳐 합이 1을 넘을 수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920" y="6487668"/>
            <a:ext cx="2462784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SRAM Vmin surrogate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056132"/>
            <a:ext cx="11253216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② 민감도 — Vmin을 흔드는 축은 어디?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63296" y="1440180"/>
          <a:ext cx="67056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2438400" y="5987034"/>
            <a:ext cx="158496" cy="157734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7856" y="5952744"/>
            <a:ext cx="1706880" cy="226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corner 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5987034"/>
            <a:ext cx="158496" cy="157734"/>
          </a:xfrm>
          <a:prstGeom prst="rect">
            <a:avLst/>
          </a:prstGeom>
          <a:solidFill>
            <a:srgbClr val="5B7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5952744"/>
            <a:ext cx="1950720" cy="226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728D"/>
                </a:solidFill>
                <a:latin typeface="Malgun Gothic Semilight"/>
                <a:ea typeface="Malgun Gothic Semilight"/>
                <a:cs typeface="Malgun Gothic Semilight"/>
              </a:rPr>
              <a:t>corner 밖 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1440180"/>
            <a:ext cx="4108704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0.272 &gt; 0.200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1920240"/>
            <a:ext cx="410870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NMOS local mismatch(kσN)가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PMOS Vth corner 축(ΔVth,P)보다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read 분산에 </a:t>
            </a:r>
            <a:r>
              <a:rPr sz="15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더 크게</a:t>
            </a: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 기여한다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0" y="2834005"/>
            <a:ext cx="4108704" cy="2413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0" y="2969514"/>
            <a:ext cx="4108704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≥ 38 %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3449574"/>
            <a:ext cx="410870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corner 두 축을 합쳐도 </a:t>
            </a:r>
            <a:r>
              <a:rPr sz="15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0.61이 상한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→ 나머지 7개 축 몫이 </a:t>
            </a:r>
            <a:r>
              <a:rPr sz="15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최소 38 %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0" y="4363339"/>
            <a:ext cx="4108704" cy="2413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0" y="4498848"/>
            <a:ext cx="4108704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→ VOC 대응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0" y="4978908"/>
            <a:ext cx="410870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corner만 보면 Vmin을 </a:t>
            </a:r>
            <a:r>
              <a:rPr sz="15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낙관적</a:t>
            </a: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으로 잡는다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action은 </a:t>
            </a:r>
            <a:r>
              <a:rPr sz="15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기여가 큰 축부터</a:t>
            </a: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 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3172"/>
            <a:ext cx="11253216" cy="5417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VOC 답: Vmin 50 mV는 NMOS local-σ 10.9 %면 닿는다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296" y="887984"/>
            <a:ext cx="11265408" cy="4826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20" y="6480810"/>
            <a:ext cx="1828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4566A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6494526"/>
            <a:ext cx="90220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759"/>
                </a:solidFill>
                <a:latin typeface="Malgun Gothic Semilight"/>
                <a:ea typeface="Malgun Gothic Semilight"/>
                <a:cs typeface="Malgun Gothic Semilight"/>
              </a:rPr>
              <a:t>나머지 축을 고정하고 한 축씩 이분 탐색 · 필요 수준 = read(FSG)와 write(SFG) 한계 corner가 모두 0.575 V를 통과하는 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920" y="6487668"/>
            <a:ext cx="2462784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SRAM Vmin surrogate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056132"/>
            <a:ext cx="11253216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③ 역산 — 목표 Vmin에서 공정 사양으로</a:t>
            </a:r>
          </a:p>
        </p:txBody>
      </p:sp>
      <p:pic>
        <p:nvPicPr>
          <p:cNvPr id="8" name="Picture 7" descr="fig5_in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" y="1440180"/>
            <a:ext cx="499480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" y="5781294"/>
            <a:ext cx="499872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셀 Vmin = max(read, write), 빨강 점선은 read 경계, 노랑은 write 경계 (0.625 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4080" y="1440180"/>
            <a:ext cx="5754624" cy="6172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지금 0.625 V → 목표 </a:t>
            </a:r>
            <a:r>
              <a:rPr sz="16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0.575 V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read 한계 FSG는 </a:t>
            </a:r>
            <a:r>
              <a:rPr sz="16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21.1 mV</a:t>
            </a:r>
            <a:r>
              <a:rPr sz="16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, write 한계 SFG는 </a:t>
            </a:r>
            <a:r>
              <a:rPr sz="16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18.3 mV</a:t>
            </a:r>
            <a:r>
              <a:rPr sz="16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 넘친다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4080" y="2194560"/>
            <a:ext cx="1889760" cy="850392"/>
          </a:xfrm>
          <a:prstGeom prst="rect">
            <a:avLst/>
          </a:prstGeom>
          <a:solidFill>
            <a:srgbClr val="3E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194560"/>
            <a:ext cx="17678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NMOS local-σ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640" y="2318004"/>
            <a:ext cx="353568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σ −10.9 %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695194"/>
            <a:ext cx="3535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knob 하나로는 가장 작은 변화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74080" y="3044952"/>
            <a:ext cx="1889760" cy="850392"/>
          </a:xfrm>
          <a:prstGeom prst="rect">
            <a:avLst/>
          </a:prstGeom>
          <a:solidFill>
            <a:srgbClr val="3E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044952"/>
            <a:ext cx="17678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NMOS + PMOS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local-σ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640" y="3168396"/>
            <a:ext cx="353568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각각 σ −7.8 %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545586"/>
            <a:ext cx="3535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두 축에 나눠 부담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4080" y="3013202"/>
            <a:ext cx="1889760" cy="6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3032887"/>
            <a:ext cx="3864864" cy="2413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74080" y="3895344"/>
            <a:ext cx="1889760" cy="850392"/>
          </a:xfrm>
          <a:prstGeom prst="rect">
            <a:avLst/>
          </a:prstGeom>
          <a:solidFill>
            <a:srgbClr val="3E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895344"/>
            <a:ext cx="17678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Global Vth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corner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8640" y="4018788"/>
            <a:ext cx="353568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PDK offset −47 %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8640" y="4395978"/>
            <a:ext cx="3535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corner 폭을 절반 가까이 줄여야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74080" y="3863594"/>
            <a:ext cx="1889760" cy="6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883279"/>
            <a:ext cx="3864864" cy="2413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74080" y="4745736"/>
            <a:ext cx="1889760" cy="85039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745736"/>
            <a:ext cx="17678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PMOS local-σ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640" y="4869180"/>
            <a:ext cx="353568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−30 %로도 부족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5246370"/>
            <a:ext cx="3535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이 축 하나로는 닿지 않는다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74080" y="4713986"/>
            <a:ext cx="1889760" cy="6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0" y="4733671"/>
            <a:ext cx="3864864" cy="2413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74080" y="5726430"/>
            <a:ext cx="5754624" cy="480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Vth shift 역산 오차 </a:t>
            </a:r>
            <a:r>
              <a:rPr sz="14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ΔVth,N 1.46 mV · ΔVth,P 1.94 mV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질의할 때 simulation을 더 돌리지 않는다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3172"/>
            <a:ext cx="11253216" cy="5417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budget을 53배 줄이면 read 오차는 +3.5 mV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296" y="887984"/>
            <a:ext cx="11265408" cy="4826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20" y="6480810"/>
            <a:ext cx="1828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4566A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6494526"/>
            <a:ext cx="90220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759"/>
                </a:solidFill>
                <a:latin typeface="Malgun Gothic Semilight"/>
                <a:ea typeface="Malgun Gothic Semilight"/>
                <a:cs typeface="Malgun Gothic Semilight"/>
              </a:rPr>
              <a:t>53×는 조건 수·전압 레벨·MC 표본 수로 계산한 budget 비율 (HSPICE 실행 시간을 잰 값 아님) · MC 깊이 절감은 noise emulation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920" y="6487668"/>
            <a:ext cx="2462784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SRAM Vmin surrogate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056132"/>
            <a:ext cx="11253216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④ 비용 — simulation은 얼마나 줄이나?</a:t>
            </a:r>
          </a:p>
        </p:txBody>
      </p:sp>
      <p:pic>
        <p:nvPicPr>
          <p:cNvPr id="8" name="Picture 7" descr="s9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01" y="1474470"/>
            <a:ext cx="7271631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508760"/>
            <a:ext cx="3316224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줄인 학습 recipe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915478"/>
            <a:ext cx="3316224" cy="9525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75104"/>
            <a:ext cx="1219200" cy="480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공정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680" y="1975104"/>
            <a:ext cx="2097024" cy="480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1,700  → 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532698"/>
            <a:ext cx="3316224" cy="9525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592324"/>
            <a:ext cx="1219200" cy="480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VDD 레벨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1680" y="2592324"/>
            <a:ext cx="2097024" cy="480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5  → 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149918"/>
            <a:ext cx="3316224" cy="9525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209544"/>
            <a:ext cx="1219200" cy="480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조건당 MC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680" y="3209544"/>
            <a:ext cx="2097024" cy="480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5,000  → 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767138"/>
            <a:ext cx="3316224" cy="9525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977640"/>
            <a:ext cx="331622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read </a:t>
            </a:r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53×</a:t>
            </a: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, write </a:t>
            </a:r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42.5×</a:t>
            </a: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 절감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오차는 read </a:t>
            </a:r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+3.5 mV</a:t>
            </a:r>
            <a:r>
              <a:rPr sz="1500" b="0">
                <a:solidFill>
                  <a:srgbClr val="000000"/>
                </a:solidFill>
                <a:latin typeface="Malgun Gothic Semilight"/>
                <a:ea typeface="Malgun Gothic Semilight"/>
                <a:cs typeface="Malgun Gothic Semilight"/>
              </a:rPr>
              <a:t>, write </a:t>
            </a:r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+2.8 mV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296" y="5692140"/>
            <a:ext cx="11265408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560" y="5692140"/>
            <a:ext cx="108508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번 학습해 두면 what-if와 역산 질의에는 MC가 더 들지 않는다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3172"/>
            <a:ext cx="11253216" cy="5417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정리: 한 번 돌린 simulation으로 VOC에 답했다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296" y="887984"/>
            <a:ext cx="11265408" cy="4826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20" y="6480810"/>
            <a:ext cx="1828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4566A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920" y="6487668"/>
            <a:ext cx="2462784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SRAM Vmin surrogate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296" y="1083564"/>
            <a:ext cx="2474976" cy="51435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96" y="1083564"/>
            <a:ext cx="2474976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정확도</a:t>
            </a:r>
          </a:p>
        </p:txBody>
      </p:sp>
      <p:pic>
        <p:nvPicPr>
          <p:cNvPr id="8" name="Picture 7" descr="t1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62386"/>
            <a:ext cx="2231136" cy="1618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3296" y="3531870"/>
            <a:ext cx="2474976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3.98 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96" y="4080510"/>
            <a:ext cx="247497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hold-out read RMSE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write 5.65 mV · 최악 corner 일치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9376" y="1083564"/>
            <a:ext cx="2474976" cy="514350"/>
          </a:xfrm>
          <a:prstGeom prst="rect">
            <a:avLst/>
          </a:prstGeom>
          <a:solidFill>
            <a:srgbClr val="5B7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9376" y="1083564"/>
            <a:ext cx="2474976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민감도</a:t>
            </a:r>
          </a:p>
        </p:txBody>
      </p:sp>
      <p:pic>
        <p:nvPicPr>
          <p:cNvPr id="13" name="Picture 12" descr="t2_so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1907829"/>
            <a:ext cx="2231136" cy="13278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89376" y="3531870"/>
            <a:ext cx="2474976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5B728D"/>
                </a:solidFill>
                <a:latin typeface="맑은 고딕"/>
                <a:ea typeface="맑은 고딕"/>
                <a:cs typeface="맑은 고딕"/>
              </a:rPr>
              <a:t>≥ 38 %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9376" y="4080510"/>
            <a:ext cx="247497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read 분산 중 corner 밖 몫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kσN 0.272 &gt; ΔVth,P 0.200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5757" y="1083564"/>
            <a:ext cx="31750" cy="363474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5456" y="1083564"/>
            <a:ext cx="2474976" cy="514350"/>
          </a:xfrm>
          <a:prstGeom prst="rect">
            <a:avLst/>
          </a:prstGeom>
          <a:solidFill>
            <a:srgbClr val="3E7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5456" y="1083564"/>
            <a:ext cx="2474976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역산</a:t>
            </a:r>
          </a:p>
        </p:txBody>
      </p:sp>
      <p:pic>
        <p:nvPicPr>
          <p:cNvPr id="19" name="Picture 18" descr="t3_inver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764807"/>
            <a:ext cx="2231136" cy="16138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15456" y="3531870"/>
            <a:ext cx="2474976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3E7EDE"/>
                </a:solidFill>
                <a:latin typeface="맑은 고딕"/>
                <a:ea typeface="맑은 고딕"/>
                <a:cs typeface="맑은 고딕"/>
              </a:rPr>
              <a:t>σN −10.9 %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456" y="4080510"/>
            <a:ext cx="247497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VOC −50 mV의 가장 작은 action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추가 simulation 없이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1837" y="1083564"/>
            <a:ext cx="31750" cy="363474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344" y="1083564"/>
            <a:ext cx="2474976" cy="514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344" y="1083564"/>
            <a:ext cx="2474976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비용</a:t>
            </a:r>
          </a:p>
        </p:txBody>
      </p:sp>
      <p:pic>
        <p:nvPicPr>
          <p:cNvPr id="25" name="Picture 24" descr="t4_co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1264" y="1757866"/>
            <a:ext cx="2231136" cy="16277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29344" y="3531870"/>
            <a:ext cx="2474976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53×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344" y="4080510"/>
            <a:ext cx="247497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학습 budget 절감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대가는 read +3.5 mV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75725" y="1083564"/>
            <a:ext cx="31750" cy="363474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3296" y="4869180"/>
            <a:ext cx="11265408" cy="51435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560" y="4869180"/>
            <a:ext cx="10850880" cy="514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action 우선순위를 simulation 추가 없이 정할 수 있었다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554980"/>
            <a:ext cx="7315200" cy="6172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 — margin은 Gaussian 가정 (tail 보정은 후속 연구)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역산은 나머지 축을 고정한 결과 · 기준값은 silicon이 아닌 HSPICE MC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520690"/>
            <a:ext cx="3681984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28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