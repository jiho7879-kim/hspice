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ST</c:v>
                </c:pt>
              </c:strCache>
            </c:strRef>
          </c:tx>
          <c:dPt>
            <c:idx val="0"/>
            <c:spPr>
              <a:solidFill>
                <a:srgbClr val="5B728D"/>
              </a:solidFill>
            </c:spPr>
          </c:dPt>
          <c:dPt>
            <c:idx val="1"/>
            <c:spPr>
              <a:solidFill>
                <a:srgbClr val="5B728D"/>
              </a:solidFill>
            </c:spPr>
          </c:dPt>
          <c:dPt>
            <c:idx val="2"/>
            <c:spPr>
              <a:solidFill>
                <a:srgbClr val="5B728D"/>
              </a:solidFill>
            </c:spPr>
          </c:dPt>
          <c:dPt>
            <c:idx val="3"/>
            <c:spPr>
              <a:solidFill>
                <a:srgbClr val="5B728D"/>
              </a:solidFill>
            </c:spPr>
          </c:dPt>
          <c:dPt>
            <c:idx val="4"/>
            <c:spPr>
              <a:solidFill>
                <a:srgbClr val="5B728D"/>
              </a:solidFill>
            </c:spPr>
          </c:dPt>
          <c:dPt>
            <c:idx val="5"/>
            <c:spPr>
              <a:solidFill>
                <a:srgbClr val="5B728D"/>
              </a:solidFill>
            </c:spPr>
          </c:dPt>
          <c:dPt>
            <c:idx val="6"/>
            <c:spPr>
              <a:solidFill>
                <a:srgbClr val="A6A6A6"/>
              </a:solidFill>
            </c:spPr>
          </c:dPt>
          <c:dPt>
            <c:idx val="7"/>
            <c:spPr>
              <a:solidFill>
                <a:srgbClr val="5B728D"/>
              </a:solidFill>
            </c:spPr>
          </c:dPt>
          <c:dPt>
            <c:idx val="8"/>
            <c:spPr>
              <a:solidFill>
                <a:srgbClr val="A6A6A6"/>
              </a:solidFill>
            </c:spPr>
          </c:dPt>
          <c:cat>
            <c:strRef>
              <c:f>Sheet1!$A$2:$A$10</c:f>
              <c:strCache>
                <c:ptCount val="9"/>
                <c:pt idx="0">
                  <c:v>ΔkσN  PG–PD local-σ</c:v>
                </c:pt>
                <c:pt idx="1">
                  <c:v>kμP  PMOS mobility</c:v>
                </c:pt>
                <c:pt idx="2">
                  <c:v>ΔkμN  PG–PD mobility</c:v>
                </c:pt>
                <c:pt idx="3">
                  <c:v>kμN  NMOS mobility</c:v>
                </c:pt>
                <c:pt idx="4">
                  <c:v>kσP  PMOS local-σ</c:v>
                </c:pt>
                <c:pt idx="5">
                  <c:v>ΔVth,skew  PG–PD Vth</c:v>
                </c:pt>
                <c:pt idx="6">
                  <c:v>ΔVth,P  PMOS Vth (corner)</c:v>
                </c:pt>
                <c:pt idx="7">
                  <c:v>kσN  NMOS local-σ</c:v>
                </c:pt>
                <c:pt idx="8">
                  <c:v>ΔVth,N  NMOS Vth (corner)</c:v>
                </c:pt>
              </c:strCache>
            </c:strRef>
          </c:cat>
          <c:val>
            <c:numRef>
              <c:f>Sheet1!$B$2:$B$10</c:f>
              <c:numCache>
                <c:formatCode>General</c:formatCode>
                <c:ptCount val="9"/>
                <c:pt idx="0">
                  <c:v>0.001</c:v>
                </c:pt>
                <c:pt idx="1">
                  <c:v>0.008</c:v>
                </c:pt>
                <c:pt idx="2">
                  <c:v>0.015</c:v>
                </c:pt>
                <c:pt idx="3">
                  <c:v>0.015</c:v>
                </c:pt>
                <c:pt idx="4">
                  <c:v>0.045</c:v>
                </c:pt>
                <c:pt idx="5">
                  <c:v>0.065</c:v>
                </c:pt>
                <c:pt idx="6">
                  <c:v>0.2</c:v>
                </c:pt>
                <c:pt idx="7">
                  <c:v>0.272</c:v>
                </c:pt>
                <c:pt idx="8">
                  <c:v>0.413</c:v>
                </c:pt>
              </c:numCache>
            </c:numRef>
          </c:val>
        </c:ser>
        <c:dLbls>
          <c:numFmt formatCode="0.000" sourceLinked="0"/>
          <c:txPr>
            <a:bodyPr/>
            <a:lstStyle/>
            <a:p>
              <a:pPr>
                <a:defRPr sz="1200"/>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D9D9D9"/>
            </a:solidFill>
          </a:ln>
        </c:spPr>
        <c:txPr>
          <a:bodyPr/>
          <a:lstStyle/>
          <a:p>
            <a:pPr>
              <a:defRPr sz="1200"/>
            </a:pPr>
          </a:p>
        </c:txPr>
        <c:crossAx val="-2113994440"/>
        <c:crosses val="autoZero"/>
        <c:auto val="1"/>
        <c:lblAlgn val="ctr"/>
        <c:lblOffset val="100"/>
        <c:noMultiLvlLbl val="0"/>
      </c:catAx>
      <c:valAx>
        <c:axId val="-2113994440"/>
        <c:scaling>
          <c:max val="0.5"/>
          <c:min val="0.0"/>
        </c:scaling>
        <c:delete/>
        <c:axPos val="b"/>
        <c:majorTickMark val="out"/>
        <c:minorTickMark val="none"/>
        <c:tickLblPos val="nextTo"/>
        <c:crossAx val="-2068027336"/>
        <c:crosses val="autoZero"/>
      </c:valAx>
    </c:plotArea>
    <c:dispBlanksAs val="gap"/>
  </c:chart>
  <c:txPr>
    <a:bodyPr/>
    <a:lstStyle/>
    <a:p>
      <a:pPr>
        <a:defRPr sz="1200">
          <a:latin typeface="맑은 고딕"/>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공정 변동이 있을 때 SRAM의 Vmin을 순방향과 역방향으로 함께 추정하는 physics-guided surrogate framework를 발표하겠습니다.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배경입니다. Vmin은 목표 yield를 지키면서 셀이 동작하는 가장 낮은 전압이고, 평균이 아니라 margin 분포의 꼬리가 정합니다. 이걸 검증하는 방법은 크게 두 가지입니다. Monte Carlo는 빠짐없이 보지만 조건 하나에 수천 번씩 돌려야 해서, 설계를 바꿀 때마다 다시 돌리기가 어렵습니다. PDK corner는 빠르지만 전역 공정 방향 몇 개만 보기 때문에 local mismatch가 만드는 산포를 놓치고, 그만큼 Vmin을 낙관적으로 잡을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이 연구의 목표는 simulation을 대체하는 게 아니라, 이미 돌린 simulation 한 번으로 더 많은 질문에 답하는 것입니다. 질문은 네 가지입니다. 이 조건의 Vmin이 얼마인지, 어느 공정 축이 Vmin을 흔드는지, 목표를 맞추려면 무엇을 얼마나 바꿔야 하는지, 그리고 simulation을 얼마나 줄일 수 있는지입니다. 뒤에서 이 순서대로, 같은 색으로 답을 보여드리겠습니다.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구현은 이렇습니다. 입력은 Vth shift, local mismatch σ 배율, mobility 배율 세 종류를 NMOS 공통, pass-gate와 pull-down 사이 skew, PMOS로 나눈 9개 공정 축과 공급 전압입니다. HSPICE MC 결과로 Gaussian process 두 개를 학습하는데, 하나는 margin의 평균 μ, 다른 하나는 산포 log σ를 맞춥니다. Vmin은 직접 학습하지 않고, μ − kσ가 0 이상이 되는 가장 낮은 전압으로 식에서 계산합니다. 이렇게 나누면 Vmin이 밀린 원인이 중심 이동인지 산포 증가인지 구분할 수 있고, 식이 전압에 단조롭기 때문에 역방향 계산도 안정적인 1차원 탐색이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정확도입니다. 학습에 쓰지 않은 조건에서 Vmin 오차는 read 3.98 mV, write 5.65 mV RMSE입니다. 학습에서 뺀 PDK corner 네 개에서도 8.5 mV와 5.8 mV이고, read는 FSG, write는 SFG로 최악 corner를 정확히 짚었습니다. 여기서 기준값은 독립적으로 돌린 HSPICE MC이고, silicon 측정은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번째는 커버리지, 어느 축이 중요한가입니다. 9개 축 전체 범위에서 total-order Sobol 지수로 read margin 분산을 나눠 봤습니다. NMOS local mismatch 축이 0.272로, corner 축인 PMOS Vth shift 0.200보다 큽니다. 그리고 corner 두 축을 다 합쳐도 0.61이 상한이라, 분산의 최소 38 %는 corner가 보지 않는 방향에 있습니다. corner만 보면 이 부분을 놓치고, 개선 우선순위도 이 기여도 순으로 잡아야 한다는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번째는 역방향입니다. 나머지 축을 고정하고 한 축을 1차원 이분 탐색으로 풀면, 목표 Vmin에 맞는 공정 값을 얻습니다. Vth shift 복원 오차는 1.5에서 1.9 mV 수준입니다. 예를 들어 Vmin 목표를 0.625 V에서 0.575 V로 50 mV 낮추면, 수단 하나로는 NMOS local-σ를 10.9 % 줄이는 것이 가장 작은 요구이고, NMOS와 PMOS에 나누면 각각 7.8 %면 됩니다. PMOS local-σ만으로는 30 %를 줄여도 닿지 않습니다. 이 계산에 추가 simulation은 필요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번째는 비용입니다. 기준 학습에는 1,700개 조건, 전압 5개, 조건당 MC 5,000개를 썼습니다. 이걸 400개 조건, 전압 4개, MC 500개로 줄이면 budget이 53배 줄고, 그 대가로 read Vmin 오차가 3.5 mV 늘어납니다. 그리고 한 번 학습하면 이후 what-if나 역방향 질의에는 MC가 더 들지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정리하면, simulation campaign 한 번으로 정확도, 커버리지, 역방향 사양, 비용 네 가지 질문에 답할 수 있습니다. 다만 margin을 Gaussian으로 가정했고, 역방향은 나머지 축을 고정한 조건부 결과라는 점은 한계로 남깁니다.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1851660"/>
            <a:ext cx="10972800" cy="822960"/>
          </a:xfrm>
          <a:prstGeom prst="rect">
            <a:avLst/>
          </a:prstGeom>
          <a:noFill/>
        </p:spPr>
        <p:txBody>
          <a:bodyPr wrap="square" lIns="0" rIns="0" tIns="0" bIns="0" anchor="ctr">
            <a:noAutofit/>
          </a:bodyPr>
          <a:lstStyle/>
          <a:p>
            <a:pPr algn="ctr">
              <a:lnSpc>
                <a:spcPct val="110000"/>
              </a:lnSpc>
            </a:pPr>
            <a:r>
              <a:rPr sz="4800" b="1">
                <a:solidFill>
                  <a:srgbClr val="FFFFFF"/>
                </a:solidFill>
                <a:latin typeface="맑은 고딕"/>
                <a:ea typeface="맑은 고딕"/>
                <a:cs typeface="맑은 고딕"/>
              </a:rPr>
              <a:t>SRAM Vmin 순·역방향 추정</a:t>
            </a:r>
          </a:p>
        </p:txBody>
      </p:sp>
      <p:sp>
        <p:nvSpPr>
          <p:cNvPr id="4" name="TextBox 3"/>
          <p:cNvSpPr txBox="1"/>
          <p:nvPr/>
        </p:nvSpPr>
        <p:spPr>
          <a:xfrm>
            <a:off x="609600" y="2811780"/>
            <a:ext cx="10972800" cy="411480"/>
          </a:xfrm>
          <a:prstGeom prst="rect">
            <a:avLst/>
          </a:prstGeom>
          <a:noFill/>
        </p:spPr>
        <p:txBody>
          <a:bodyPr wrap="square" lIns="0" rIns="0" tIns="0" bIns="0" anchor="t">
            <a:noAutofit/>
          </a:bodyPr>
          <a:lstStyle/>
          <a:p>
            <a:pPr algn="ctr">
              <a:lnSpc>
                <a:spcPct val="110000"/>
              </a:lnSpc>
            </a:pPr>
            <a:r>
              <a:rPr sz="2400" b="0">
                <a:solidFill>
                  <a:srgbClr val="FFFFFF"/>
                </a:solidFill>
                <a:latin typeface="Malgun Gothic Semilight"/>
                <a:ea typeface="Malgun Gothic Semilight"/>
                <a:cs typeface="Malgun Gothic Semilight"/>
              </a:rPr>
              <a:t>공정 변동 하의 physics-guided surrogate framework</a:t>
            </a:r>
          </a:p>
        </p:txBody>
      </p:sp>
      <p:sp>
        <p:nvSpPr>
          <p:cNvPr id="5" name="Rectangle 4"/>
          <p:cNvSpPr/>
          <p:nvPr/>
        </p:nvSpPr>
        <p:spPr>
          <a:xfrm>
            <a:off x="5364480" y="3525520"/>
            <a:ext cx="1463040" cy="12700"/>
          </a:xfrm>
          <a:prstGeom prst="rect">
            <a:avLst/>
          </a:prstGeom>
          <a:solidFill>
            <a:srgbClr val="8BB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09600" y="3703320"/>
            <a:ext cx="10972800" cy="274320"/>
          </a:xfrm>
          <a:prstGeom prst="rect">
            <a:avLst/>
          </a:prstGeom>
          <a:noFill/>
        </p:spPr>
        <p:txBody>
          <a:bodyPr wrap="square" lIns="0" rIns="0" tIns="0" bIns="0" anchor="t">
            <a:noAutofit/>
          </a:bodyPr>
          <a:lstStyle/>
          <a:p>
            <a:pPr algn="ctr">
              <a:lnSpc>
                <a:spcPct val="110000"/>
              </a:lnSpc>
            </a:pPr>
            <a:r>
              <a:rPr sz="1600" b="0">
                <a:solidFill>
                  <a:srgbClr val="B9C6F0"/>
                </a:solidFill>
                <a:latin typeface="Malgun Gothic Semilight"/>
                <a:ea typeface="Malgun Gothic Semilight"/>
                <a:cs typeface="Malgun Gothic Semilight"/>
              </a:rPr>
              <a:t>Gaussian process  ·  Sobol 민감도  ·  역방향 공정 사양</a:t>
            </a:r>
          </a:p>
        </p:txBody>
      </p:sp>
      <p:sp>
        <p:nvSpPr>
          <p:cNvPr id="7" name="TextBox 6"/>
          <p:cNvSpPr txBox="1"/>
          <p:nvPr/>
        </p:nvSpPr>
        <p:spPr>
          <a:xfrm>
            <a:off x="609600" y="5349240"/>
            <a:ext cx="10972800" cy="274320"/>
          </a:xfrm>
          <a:prstGeom prst="rect">
            <a:avLst/>
          </a:prstGeom>
          <a:noFill/>
        </p:spPr>
        <p:txBody>
          <a:bodyPr wrap="square" lIns="0" rIns="0" tIns="0" bIns="0" anchor="t">
            <a:noAutofit/>
          </a:bodyPr>
          <a:lstStyle/>
          <a:p>
            <a:pPr algn="ctr">
              <a:lnSpc>
                <a:spcPct val="110000"/>
              </a:lnSpc>
            </a:pPr>
            <a:r>
              <a:rPr sz="1800" b="0">
                <a:solidFill>
                  <a:srgbClr val="FFFFFF"/>
                </a:solidFill>
                <a:latin typeface="Malgun Gothic Semilight"/>
                <a:ea typeface="Malgun Gothic Semilight"/>
                <a:cs typeface="Malgun Gothic Semilight"/>
              </a:rPr>
              <a:t>[발표자]  ·  [소속]</a:t>
            </a:r>
          </a:p>
        </p:txBody>
      </p:sp>
      <p:sp>
        <p:nvSpPr>
          <p:cNvPr id="8" name="TextBox 7"/>
          <p:cNvSpPr txBox="1"/>
          <p:nvPr/>
        </p:nvSpPr>
        <p:spPr>
          <a:xfrm>
            <a:off x="609600" y="5760720"/>
            <a:ext cx="10972800" cy="240030"/>
          </a:xfrm>
          <a:prstGeom prst="rect">
            <a:avLst/>
          </a:prstGeom>
          <a:noFill/>
        </p:spPr>
        <p:txBody>
          <a:bodyPr wrap="square" lIns="0" rIns="0" tIns="0" bIns="0" anchor="t">
            <a:noAutofit/>
          </a:bodyPr>
          <a:lstStyle/>
          <a:p>
            <a:pPr algn="ctr">
              <a:lnSpc>
                <a:spcPct val="110000"/>
              </a:lnSpc>
            </a:pPr>
            <a:r>
              <a:rPr sz="1400" b="0">
                <a:solidFill>
                  <a:srgbClr val="B9C6F0"/>
                </a:solidFill>
                <a:latin typeface="Malgun Gothic Semilight"/>
                <a:ea typeface="Malgun Gothic Semilight"/>
                <a:cs typeface="Malgun Gothic Semilight"/>
              </a:rPr>
              <a:t>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75488" y="233172"/>
            <a:ext cx="11253216" cy="541782"/>
          </a:xfrm>
          <a:prstGeom prst="rect">
            <a:avLst/>
          </a:prstGeom>
          <a:noFill/>
        </p:spPr>
        <p:txBody>
          <a:bodyPr wrap="square" lIns="0" rIns="0" tIns="0" bIns="0" anchor="ctr">
            <a:noAutofit/>
          </a:bodyPr>
          <a:lstStyle/>
          <a:p>
            <a:pPr algn="l">
              <a:lnSpc>
                <a:spcPct val="110000"/>
              </a:lnSpc>
            </a:pPr>
            <a:r>
              <a:rPr sz="3000" b="1">
                <a:solidFill>
                  <a:srgbClr val="000000"/>
                </a:solidFill>
                <a:latin typeface="맑은 고딕"/>
                <a:ea typeface="맑은 고딕"/>
                <a:cs typeface="맑은 고딕"/>
              </a:rPr>
              <a:t>배경: Vmin 검증은 비용과 사각지대 사이에 끼어 있다</a:t>
            </a:r>
          </a:p>
        </p:txBody>
      </p:sp>
      <p:sp>
        <p:nvSpPr>
          <p:cNvPr id="3" name="Rectangle 2"/>
          <p:cNvSpPr/>
          <p:nvPr/>
        </p:nvSpPr>
        <p:spPr>
          <a:xfrm>
            <a:off x="463296" y="887984"/>
            <a:ext cx="11265408" cy="48260"/>
          </a:xfrm>
          <a:prstGeom prst="rect">
            <a:avLst/>
          </a:prstGeom>
          <a:solidFill>
            <a:srgbClr val="E7E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6720" y="6480810"/>
            <a:ext cx="182880" cy="205740"/>
          </a:xfrm>
          <a:prstGeom prst="rect">
            <a:avLst/>
          </a:prstGeom>
          <a:noFill/>
        </p:spPr>
        <p:txBody>
          <a:bodyPr wrap="square" lIns="0" rIns="0" tIns="0" bIns="0" anchor="t">
            <a:noAutofit/>
          </a:bodyPr>
          <a:lstStyle/>
          <a:p>
            <a:pPr algn="l">
              <a:lnSpc>
                <a:spcPct val="110000"/>
              </a:lnSpc>
            </a:pPr>
            <a:r>
              <a:rPr sz="1000" b="1">
                <a:solidFill>
                  <a:srgbClr val="44566A"/>
                </a:solidFill>
                <a:latin typeface="맑은 고딕"/>
                <a:ea typeface="맑은 고딕"/>
                <a:cs typeface="맑은 고딕"/>
              </a:rPr>
              <a:t>2</a:t>
            </a:r>
          </a:p>
        </p:txBody>
      </p:sp>
      <p:sp>
        <p:nvSpPr>
          <p:cNvPr id="5" name="TextBox 4"/>
          <p:cNvSpPr txBox="1"/>
          <p:nvPr/>
        </p:nvSpPr>
        <p:spPr>
          <a:xfrm>
            <a:off x="670560" y="6494526"/>
            <a:ext cx="9022080" cy="205740"/>
          </a:xfrm>
          <a:prstGeom prst="rect">
            <a:avLst/>
          </a:prstGeom>
          <a:noFill/>
        </p:spPr>
        <p:txBody>
          <a:bodyPr wrap="square" lIns="0" rIns="0" tIns="0" bIns="0" anchor="t">
            <a:noAutofit/>
          </a:bodyPr>
          <a:lstStyle/>
          <a:p>
            <a:pPr algn="l">
              <a:lnSpc>
                <a:spcPct val="110000"/>
              </a:lnSpc>
            </a:pPr>
            <a:r>
              <a:rPr sz="900" b="0">
                <a:solidFill>
                  <a:srgbClr val="4C5759"/>
                </a:solidFill>
                <a:latin typeface="Malgun Gothic Semilight"/>
                <a:ea typeface="Malgun Gothic Semilight"/>
                <a:cs typeface="Malgun Gothic Semilight"/>
              </a:rPr>
              <a:t>Vmin = 목표 yield(array 크기·fail 확률)에서 margin의 tail이 0에 닿는 최저 공급 전압</a:t>
            </a:r>
          </a:p>
        </p:txBody>
      </p:sp>
      <p:sp>
        <p:nvSpPr>
          <p:cNvPr id="6" name="TextBox 5"/>
          <p:cNvSpPr txBox="1"/>
          <p:nvPr/>
        </p:nvSpPr>
        <p:spPr>
          <a:xfrm>
            <a:off x="9265920" y="6487668"/>
            <a:ext cx="2462784" cy="205740"/>
          </a:xfrm>
          <a:prstGeom prst="rect">
            <a:avLst/>
          </a:prstGeom>
          <a:noFill/>
        </p:spPr>
        <p:txBody>
          <a:bodyPr wrap="square" lIns="0" rIns="0" tIns="0" bIns="0" anchor="t">
            <a:noAutofit/>
          </a:bodyPr>
          <a:lstStyle/>
          <a:p>
            <a:pPr algn="r">
              <a:lnSpc>
                <a:spcPct val="110000"/>
              </a:lnSpc>
            </a:pPr>
            <a:r>
              <a:rPr sz="900" b="0">
                <a:solidFill>
                  <a:srgbClr val="7F7F7F"/>
                </a:solidFill>
                <a:latin typeface="Malgun Gothic Semilight"/>
                <a:ea typeface="Malgun Gothic Semilight"/>
                <a:cs typeface="Malgun Gothic Semilight"/>
              </a:rPr>
              <a:t>SRAM Vmin surrogate</a:t>
            </a:r>
          </a:p>
        </p:txBody>
      </p:sp>
      <p:sp>
        <p:nvSpPr>
          <p:cNvPr id="7" name="TextBox 6"/>
          <p:cNvSpPr txBox="1"/>
          <p:nvPr/>
        </p:nvSpPr>
        <p:spPr>
          <a:xfrm>
            <a:off x="475488" y="1056132"/>
            <a:ext cx="11253216" cy="301752"/>
          </a:xfrm>
          <a:prstGeom prst="rect">
            <a:avLst/>
          </a:prstGeom>
          <a:noFill/>
        </p:spPr>
        <p:txBody>
          <a:bodyPr wrap="square" lIns="0" rIns="0" tIns="0" bIns="0" anchor="t">
            <a:noAutofit/>
          </a:bodyPr>
          <a:lstStyle/>
          <a:p>
            <a:pPr algn="ctr">
              <a:lnSpc>
                <a:spcPct val="110000"/>
              </a:lnSpc>
            </a:pPr>
            <a:r>
              <a:rPr sz="1800" b="0">
                <a:solidFill>
                  <a:srgbClr val="000000"/>
                </a:solidFill>
                <a:latin typeface="Malgun Gothic Semilight"/>
                <a:ea typeface="Malgun Gothic Semilight"/>
                <a:cs typeface="Malgun Gothic Semilight"/>
              </a:rPr>
              <a:t>Vmin은 평균이 아니라 </a:t>
            </a:r>
            <a:r>
              <a:rPr sz="1800" b="1">
                <a:solidFill>
                  <a:srgbClr val="3E7EDE"/>
                </a:solidFill>
                <a:latin typeface="맑은 고딕"/>
                <a:ea typeface="맑은 고딕"/>
                <a:cs typeface="맑은 고딕"/>
              </a:rPr>
              <a:t>margin 분포의 tail</a:t>
            </a:r>
            <a:r>
              <a:rPr sz="1800" b="0">
                <a:solidFill>
                  <a:srgbClr val="000000"/>
                </a:solidFill>
                <a:latin typeface="Malgun Gothic Semilight"/>
                <a:ea typeface="Malgun Gothic Semilight"/>
                <a:cs typeface="Malgun Gothic Semilight"/>
              </a:rPr>
              <a:t>이 정한다 — 그래서 산포(σ)를 놓치면 안 된다</a:t>
            </a:r>
          </a:p>
        </p:txBody>
      </p:sp>
      <p:sp>
        <p:nvSpPr>
          <p:cNvPr id="8" name="Rectangle 7"/>
          <p:cNvSpPr/>
          <p:nvPr/>
        </p:nvSpPr>
        <p:spPr>
          <a:xfrm>
            <a:off x="1950720" y="1536192"/>
            <a:ext cx="4828032" cy="48691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950720" y="1536192"/>
            <a:ext cx="4828032" cy="486918"/>
          </a:xfrm>
          <a:prstGeom prst="rect">
            <a:avLst/>
          </a:prstGeom>
          <a:noFill/>
        </p:spPr>
        <p:txBody>
          <a:bodyPr wrap="square" lIns="0" rIns="0" tIns="0" bIns="0" anchor="ctr">
            <a:noAutofit/>
          </a:bodyPr>
          <a:lstStyle/>
          <a:p>
            <a:pPr algn="ctr">
              <a:lnSpc>
                <a:spcPct val="110000"/>
              </a:lnSpc>
            </a:pPr>
            <a:r>
              <a:rPr sz="2000" b="1">
                <a:solidFill>
                  <a:srgbClr val="FFFFFF"/>
                </a:solidFill>
                <a:latin typeface="맑은 고딕"/>
                <a:ea typeface="맑은 고딕"/>
                <a:cs typeface="맑은 고딕"/>
              </a:rPr>
              <a:t>Monte Carlo (MC)</a:t>
            </a:r>
          </a:p>
        </p:txBody>
      </p:sp>
      <p:sp>
        <p:nvSpPr>
          <p:cNvPr id="10" name="Rectangle 9"/>
          <p:cNvSpPr/>
          <p:nvPr/>
        </p:nvSpPr>
        <p:spPr>
          <a:xfrm>
            <a:off x="6900672" y="1536192"/>
            <a:ext cx="4828032" cy="48691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00672" y="1536192"/>
            <a:ext cx="4828032" cy="486918"/>
          </a:xfrm>
          <a:prstGeom prst="rect">
            <a:avLst/>
          </a:prstGeom>
          <a:noFill/>
        </p:spPr>
        <p:txBody>
          <a:bodyPr wrap="square" lIns="0" rIns="0" tIns="0" bIns="0" anchor="ctr">
            <a:noAutofit/>
          </a:bodyPr>
          <a:lstStyle/>
          <a:p>
            <a:pPr algn="ctr">
              <a:lnSpc>
                <a:spcPct val="110000"/>
              </a:lnSpc>
            </a:pPr>
            <a:r>
              <a:rPr sz="2000" b="1">
                <a:solidFill>
                  <a:srgbClr val="FFFFFF"/>
                </a:solidFill>
                <a:latin typeface="맑은 고딕"/>
                <a:ea typeface="맑은 고딕"/>
                <a:cs typeface="맑은 고딕"/>
              </a:rPr>
              <a:t>PDK corner</a:t>
            </a:r>
          </a:p>
        </p:txBody>
      </p:sp>
      <p:sp>
        <p:nvSpPr>
          <p:cNvPr id="12" name="TextBox 11"/>
          <p:cNvSpPr txBox="1"/>
          <p:nvPr/>
        </p:nvSpPr>
        <p:spPr>
          <a:xfrm>
            <a:off x="475488" y="2091690"/>
            <a:ext cx="1341120" cy="1234440"/>
          </a:xfrm>
          <a:prstGeom prst="rect">
            <a:avLst/>
          </a:prstGeom>
          <a:noFill/>
        </p:spPr>
        <p:txBody>
          <a:bodyPr wrap="square" lIns="0" rIns="0" tIns="0" bIns="0" anchor="ctr">
            <a:noAutofit/>
          </a:bodyPr>
          <a:lstStyle/>
          <a:p>
            <a:pPr algn="l">
              <a:lnSpc>
                <a:spcPct val="110000"/>
              </a:lnSpc>
            </a:pPr>
            <a:r>
              <a:rPr sz="1800" b="1">
                <a:solidFill>
                  <a:srgbClr val="7F7F7F"/>
                </a:solidFill>
                <a:latin typeface="맑은 고딕"/>
                <a:ea typeface="맑은 고딕"/>
                <a:cs typeface="맑은 고딕"/>
              </a:rPr>
              <a:t>장점</a:t>
            </a:r>
          </a:p>
        </p:txBody>
      </p:sp>
      <p:sp>
        <p:nvSpPr>
          <p:cNvPr id="13" name="TextBox 12"/>
          <p:cNvSpPr txBox="1"/>
          <p:nvPr/>
        </p:nvSpPr>
        <p:spPr>
          <a:xfrm>
            <a:off x="2133600" y="2091690"/>
            <a:ext cx="4462272" cy="1234440"/>
          </a:xfrm>
          <a:prstGeom prst="rect">
            <a:avLst/>
          </a:prstGeom>
          <a:noFill/>
        </p:spPr>
        <p:txBody>
          <a:bodyPr wrap="square" lIns="0" rIns="0" tIns="0" bIns="0" anchor="ctr">
            <a:noAutofit/>
          </a:bodyPr>
          <a:lstStyle/>
          <a:p>
            <a:pPr algn="l">
              <a:lnSpc>
                <a:spcPct val="110000"/>
              </a:lnSpc>
            </a:pPr>
            <a:r>
              <a:rPr sz="1700" b="0">
                <a:solidFill>
                  <a:srgbClr val="000000"/>
                </a:solidFill>
                <a:latin typeface="Malgun Gothic Semilight"/>
                <a:ea typeface="Malgun Gothic Semilight"/>
                <a:cs typeface="Malgun Gothic Semilight"/>
              </a:rPr>
              <a:t>통계적으로 </a:t>
            </a:r>
            <a:r>
              <a:rPr sz="1700" b="1">
                <a:solidFill>
                  <a:srgbClr val="1428A0"/>
                </a:solidFill>
                <a:latin typeface="맑은 고딕"/>
                <a:ea typeface="맑은 고딕"/>
                <a:cs typeface="맑은 고딕"/>
              </a:rPr>
              <a:t>빠짐없이</a:t>
            </a:r>
            <a:r>
              <a:rPr sz="1700" b="0">
                <a:solidFill>
                  <a:srgbClr val="000000"/>
                </a:solidFill>
                <a:latin typeface="Malgun Gothic Semilight"/>
                <a:ea typeface="Malgun Gothic Semilight"/>
                <a:cs typeface="Malgun Gothic Semilight"/>
              </a:rPr>
              <a:t> 본다</a:t>
            </a:r>
          </a:p>
        </p:txBody>
      </p:sp>
      <p:sp>
        <p:nvSpPr>
          <p:cNvPr id="14" name="TextBox 13"/>
          <p:cNvSpPr txBox="1"/>
          <p:nvPr/>
        </p:nvSpPr>
        <p:spPr>
          <a:xfrm>
            <a:off x="7083552" y="2091690"/>
            <a:ext cx="4462272" cy="1234440"/>
          </a:xfrm>
          <a:prstGeom prst="rect">
            <a:avLst/>
          </a:prstGeom>
          <a:noFill/>
        </p:spPr>
        <p:txBody>
          <a:bodyPr wrap="square" lIns="0" rIns="0" tIns="0" bIns="0" anchor="ctr">
            <a:noAutofit/>
          </a:bodyPr>
          <a:lstStyle/>
          <a:p>
            <a:pPr algn="l">
              <a:lnSpc>
                <a:spcPct val="110000"/>
              </a:lnSpc>
            </a:pPr>
            <a:r>
              <a:rPr sz="1700" b="0">
                <a:solidFill>
                  <a:srgbClr val="000000"/>
                </a:solidFill>
                <a:latin typeface="Malgun Gothic Semilight"/>
                <a:ea typeface="Malgun Gothic Semilight"/>
                <a:cs typeface="Malgun Gothic Semilight"/>
              </a:rPr>
              <a:t>몇 개 corner만 돌리면 되어 </a:t>
            </a:r>
            <a:r>
              <a:rPr sz="1700" b="1">
                <a:solidFill>
                  <a:srgbClr val="000000"/>
                </a:solidFill>
                <a:latin typeface="맑은 고딕"/>
                <a:ea typeface="맑은 고딕"/>
                <a:cs typeface="맑은 고딕"/>
              </a:rPr>
              <a:t>빠르다</a:t>
            </a:r>
          </a:p>
        </p:txBody>
      </p:sp>
      <p:sp>
        <p:nvSpPr>
          <p:cNvPr id="15" name="Rectangle 14"/>
          <p:cNvSpPr/>
          <p:nvPr/>
        </p:nvSpPr>
        <p:spPr>
          <a:xfrm>
            <a:off x="463296" y="3403219"/>
            <a:ext cx="11265408" cy="24130"/>
          </a:xfrm>
          <a:prstGeom prst="rect">
            <a:avLst/>
          </a:prstGeom>
          <a:solidFill>
            <a:srgbClr val="E7E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 y="3497580"/>
            <a:ext cx="1341120" cy="1234440"/>
          </a:xfrm>
          <a:prstGeom prst="rect">
            <a:avLst/>
          </a:prstGeom>
          <a:noFill/>
        </p:spPr>
        <p:txBody>
          <a:bodyPr wrap="square" lIns="0" rIns="0" tIns="0" bIns="0" anchor="ctr">
            <a:noAutofit/>
          </a:bodyPr>
          <a:lstStyle/>
          <a:p>
            <a:pPr algn="l">
              <a:lnSpc>
                <a:spcPct val="110000"/>
              </a:lnSpc>
            </a:pPr>
            <a:r>
              <a:rPr sz="1800" b="1">
                <a:solidFill>
                  <a:srgbClr val="7F7F7F"/>
                </a:solidFill>
                <a:latin typeface="맑은 고딕"/>
                <a:ea typeface="맑은 고딕"/>
                <a:cs typeface="맑은 고딕"/>
              </a:rPr>
              <a:t>비용</a:t>
            </a:r>
          </a:p>
        </p:txBody>
      </p:sp>
      <p:sp>
        <p:nvSpPr>
          <p:cNvPr id="17" name="TextBox 16"/>
          <p:cNvSpPr txBox="1"/>
          <p:nvPr/>
        </p:nvSpPr>
        <p:spPr>
          <a:xfrm>
            <a:off x="2133600" y="3497580"/>
            <a:ext cx="4462272" cy="1234440"/>
          </a:xfrm>
          <a:prstGeom prst="rect">
            <a:avLst/>
          </a:prstGeom>
          <a:noFill/>
        </p:spPr>
        <p:txBody>
          <a:bodyPr wrap="square" lIns="0" rIns="0" tIns="0" bIns="0" anchor="ctr">
            <a:noAutofit/>
          </a:bodyPr>
          <a:lstStyle/>
          <a:p>
            <a:pPr algn="l">
              <a:lnSpc>
                <a:spcPct val="110000"/>
              </a:lnSpc>
            </a:pPr>
            <a:r>
              <a:rPr sz="1700" b="0">
                <a:solidFill>
                  <a:srgbClr val="000000"/>
                </a:solidFill>
                <a:latin typeface="Malgun Gothic Semilight"/>
                <a:ea typeface="Malgun Gothic Semilight"/>
                <a:cs typeface="Malgun Gothic Semilight"/>
              </a:rPr>
              <a:t>조건 하나에 </a:t>
            </a:r>
            <a:r>
              <a:rPr sz="1700" b="1">
                <a:solidFill>
                  <a:srgbClr val="1428A0"/>
                </a:solidFill>
                <a:latin typeface="맑은 고딕"/>
                <a:ea typeface="맑은 고딕"/>
                <a:cs typeface="맑은 고딕"/>
              </a:rPr>
              <a:t>수천 번</a:t>
            </a:r>
            <a:r>
              <a:rPr sz="1700" b="0">
                <a:solidFill>
                  <a:srgbClr val="000000"/>
                </a:solidFill>
                <a:latin typeface="Malgun Gothic Semilight"/>
                <a:ea typeface="Malgun Gothic Semilight"/>
                <a:cs typeface="Malgun Gothic Semilight"/>
              </a:rPr>
              <a:t>의 simulation</a:t>
            </a:r>
          </a:p>
        </p:txBody>
      </p:sp>
      <p:sp>
        <p:nvSpPr>
          <p:cNvPr id="18" name="TextBox 17"/>
          <p:cNvSpPr txBox="1"/>
          <p:nvPr/>
        </p:nvSpPr>
        <p:spPr>
          <a:xfrm>
            <a:off x="7083552" y="3497580"/>
            <a:ext cx="4462272" cy="1234440"/>
          </a:xfrm>
          <a:prstGeom prst="rect">
            <a:avLst/>
          </a:prstGeom>
          <a:noFill/>
        </p:spPr>
        <p:txBody>
          <a:bodyPr wrap="square" lIns="0" rIns="0" tIns="0" bIns="0" anchor="ctr">
            <a:noAutofit/>
          </a:bodyPr>
          <a:lstStyle/>
          <a:p>
            <a:pPr algn="l">
              <a:lnSpc>
                <a:spcPct val="110000"/>
              </a:lnSpc>
            </a:pPr>
            <a:r>
              <a:rPr sz="1700" b="0">
                <a:solidFill>
                  <a:srgbClr val="000000"/>
                </a:solidFill>
                <a:latin typeface="Malgun Gothic Semilight"/>
                <a:ea typeface="Malgun Gothic Semilight"/>
                <a:cs typeface="Malgun Gothic Semilight"/>
              </a:rPr>
              <a:t>corner 4개 — </a:t>
            </a:r>
            <a:r>
              <a:rPr sz="1700" b="1">
                <a:solidFill>
                  <a:srgbClr val="000000"/>
                </a:solidFill>
                <a:latin typeface="맑은 고딕"/>
                <a:ea typeface="맑은 고딕"/>
                <a:cs typeface="맑은 고딕"/>
              </a:rPr>
              <a:t>비용이 작다</a:t>
            </a:r>
          </a:p>
        </p:txBody>
      </p:sp>
      <p:sp>
        <p:nvSpPr>
          <p:cNvPr id="19" name="Rectangle 18"/>
          <p:cNvSpPr/>
          <p:nvPr/>
        </p:nvSpPr>
        <p:spPr>
          <a:xfrm>
            <a:off x="463296" y="4809109"/>
            <a:ext cx="11265408" cy="24130"/>
          </a:xfrm>
          <a:prstGeom prst="rect">
            <a:avLst/>
          </a:prstGeom>
          <a:solidFill>
            <a:srgbClr val="E7E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488" y="4903470"/>
            <a:ext cx="1341120" cy="1234440"/>
          </a:xfrm>
          <a:prstGeom prst="rect">
            <a:avLst/>
          </a:prstGeom>
          <a:noFill/>
        </p:spPr>
        <p:txBody>
          <a:bodyPr wrap="square" lIns="0" rIns="0" tIns="0" bIns="0" anchor="ctr">
            <a:noAutofit/>
          </a:bodyPr>
          <a:lstStyle/>
          <a:p>
            <a:pPr algn="l">
              <a:lnSpc>
                <a:spcPct val="110000"/>
              </a:lnSpc>
            </a:pPr>
            <a:r>
              <a:rPr sz="1800" b="1">
                <a:solidFill>
                  <a:srgbClr val="7F7F7F"/>
                </a:solidFill>
                <a:latin typeface="맑은 고딕"/>
                <a:ea typeface="맑은 고딕"/>
                <a:cs typeface="맑은 고딕"/>
              </a:rPr>
              <a:t>한계</a:t>
            </a:r>
          </a:p>
        </p:txBody>
      </p:sp>
      <p:sp>
        <p:nvSpPr>
          <p:cNvPr id="21" name="TextBox 20"/>
          <p:cNvSpPr txBox="1"/>
          <p:nvPr/>
        </p:nvSpPr>
        <p:spPr>
          <a:xfrm>
            <a:off x="2133600" y="4903470"/>
            <a:ext cx="4462272" cy="1234440"/>
          </a:xfrm>
          <a:prstGeom prst="rect">
            <a:avLst/>
          </a:prstGeom>
          <a:noFill/>
        </p:spPr>
        <p:txBody>
          <a:bodyPr wrap="square" lIns="0" rIns="0" tIns="0" bIns="0" anchor="ctr">
            <a:noAutofit/>
          </a:bodyPr>
          <a:lstStyle/>
          <a:p>
            <a:pPr algn="l">
              <a:lnSpc>
                <a:spcPct val="110000"/>
              </a:lnSpc>
            </a:pPr>
            <a:r>
              <a:rPr sz="1700" b="0">
                <a:solidFill>
                  <a:srgbClr val="000000"/>
                </a:solidFill>
                <a:latin typeface="Malgun Gothic Semilight"/>
                <a:ea typeface="Malgun Gothic Semilight"/>
                <a:cs typeface="Malgun Gothic Semilight"/>
              </a:rPr>
              <a:t>설계를 바꿀 때마다 </a:t>
            </a:r>
            <a:r>
              <a:rPr sz="1700" b="1">
                <a:solidFill>
                  <a:srgbClr val="1428A0"/>
                </a:solidFill>
                <a:latin typeface="맑은 고딕"/>
                <a:ea typeface="맑은 고딕"/>
                <a:cs typeface="맑은 고딕"/>
              </a:rPr>
              <a:t>다시 돌려야</a:t>
            </a:r>
            <a:r>
              <a:rPr sz="1700" b="0">
                <a:solidFill>
                  <a:srgbClr val="000000"/>
                </a:solidFill>
                <a:latin typeface="Malgun Gothic Semilight"/>
                <a:ea typeface="Malgun Gothic Semilight"/>
                <a:cs typeface="Malgun Gothic Semilight"/>
              </a:rPr>
              <a:t> 한다</a:t>
            </a:r>
          </a:p>
        </p:txBody>
      </p:sp>
      <p:sp>
        <p:nvSpPr>
          <p:cNvPr id="22" name="TextBox 21"/>
          <p:cNvSpPr txBox="1"/>
          <p:nvPr/>
        </p:nvSpPr>
        <p:spPr>
          <a:xfrm>
            <a:off x="7083552" y="4903470"/>
            <a:ext cx="4462272" cy="1234440"/>
          </a:xfrm>
          <a:prstGeom prst="rect">
            <a:avLst/>
          </a:prstGeom>
          <a:noFill/>
        </p:spPr>
        <p:txBody>
          <a:bodyPr wrap="square" lIns="0" rIns="0" tIns="0" bIns="0" anchor="ctr">
            <a:noAutofit/>
          </a:bodyPr>
          <a:lstStyle/>
          <a:p>
            <a:pPr algn="l">
              <a:lnSpc>
                <a:spcPct val="110000"/>
              </a:lnSpc>
            </a:pPr>
            <a:r>
              <a:rPr sz="1700" b="0">
                <a:solidFill>
                  <a:srgbClr val="000000"/>
                </a:solidFill>
                <a:latin typeface="Malgun Gothic Semilight"/>
                <a:ea typeface="Malgun Gothic Semilight"/>
                <a:cs typeface="Malgun Gothic Semilight"/>
              </a:rPr>
              <a:t>local mismatch의 </a:t>
            </a:r>
            <a:r>
              <a:rPr sz="1700" b="1">
                <a:solidFill>
                  <a:srgbClr val="000000"/>
                </a:solidFill>
                <a:latin typeface="맑은 고딕"/>
                <a:ea typeface="맑은 고딕"/>
                <a:cs typeface="맑은 고딕"/>
              </a:rPr>
              <a:t>산포를 못 본다</a:t>
            </a:r>
          </a:p>
          <a:p>
            <a:pPr algn="l">
              <a:lnSpc>
                <a:spcPct val="110000"/>
              </a:lnSpc>
            </a:pPr>
            <a:r>
              <a:rPr sz="1700" b="0">
                <a:solidFill>
                  <a:srgbClr val="000000"/>
                </a:solidFill>
                <a:latin typeface="Malgun Gothic Semilight"/>
                <a:ea typeface="Malgun Gothic Semilight"/>
                <a:cs typeface="Malgun Gothic Semilight"/>
              </a:rPr>
              <a:t>→ Vmin을 </a:t>
            </a:r>
            <a:r>
              <a:rPr sz="1700" b="1">
                <a:solidFill>
                  <a:srgbClr val="000000"/>
                </a:solidFill>
                <a:latin typeface="맑은 고딕"/>
                <a:ea typeface="맑은 고딕"/>
                <a:cs typeface="맑은 고딕"/>
              </a:rPr>
              <a:t>낙관적</a:t>
            </a:r>
            <a:r>
              <a:rPr sz="1700" b="0">
                <a:solidFill>
                  <a:srgbClr val="000000"/>
                </a:solidFill>
                <a:latin typeface="Malgun Gothic Semilight"/>
                <a:ea typeface="Malgun Gothic Semilight"/>
                <a:cs typeface="Malgun Gothic Semilight"/>
              </a:rPr>
              <a:t>으로 잡을 위험</a:t>
            </a:r>
          </a:p>
        </p:txBody>
      </p:sp>
      <p:sp>
        <p:nvSpPr>
          <p:cNvPr id="23" name="Rectangle 22"/>
          <p:cNvSpPr/>
          <p:nvPr/>
        </p:nvSpPr>
        <p:spPr>
          <a:xfrm>
            <a:off x="6726301" y="1536192"/>
            <a:ext cx="31750" cy="4773168"/>
          </a:xfrm>
          <a:prstGeom prst="rect">
            <a:avLst/>
          </a:prstGeom>
          <a:solidFill>
            <a:srgbClr val="E7E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75488" y="233172"/>
            <a:ext cx="11253216" cy="541782"/>
          </a:xfrm>
          <a:prstGeom prst="rect">
            <a:avLst/>
          </a:prstGeom>
          <a:noFill/>
        </p:spPr>
        <p:txBody>
          <a:bodyPr wrap="square" lIns="0" rIns="0" tIns="0" bIns="0" anchor="ctr">
            <a:noAutofit/>
          </a:bodyPr>
          <a:lstStyle/>
          <a:p>
            <a:pPr algn="l">
              <a:lnSpc>
                <a:spcPct val="110000"/>
              </a:lnSpc>
            </a:pPr>
            <a:r>
              <a:rPr sz="3000" b="1">
                <a:solidFill>
                  <a:srgbClr val="000000"/>
                </a:solidFill>
                <a:latin typeface="맑은 고딕"/>
                <a:ea typeface="맑은 고딕"/>
                <a:cs typeface="맑은 고딕"/>
              </a:rPr>
              <a:t>목표: simulation 한 번으로 네 가지 질문에 답한다</a:t>
            </a:r>
          </a:p>
        </p:txBody>
      </p:sp>
      <p:sp>
        <p:nvSpPr>
          <p:cNvPr id="3" name="Rectangle 2"/>
          <p:cNvSpPr/>
          <p:nvPr/>
        </p:nvSpPr>
        <p:spPr>
          <a:xfrm>
            <a:off x="463296" y="887984"/>
            <a:ext cx="11265408" cy="48260"/>
          </a:xfrm>
          <a:prstGeom prst="rect">
            <a:avLst/>
          </a:prstGeom>
          <a:solidFill>
            <a:srgbClr val="E7E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6720" y="6480810"/>
            <a:ext cx="182880" cy="205740"/>
          </a:xfrm>
          <a:prstGeom prst="rect">
            <a:avLst/>
          </a:prstGeom>
          <a:noFill/>
        </p:spPr>
        <p:txBody>
          <a:bodyPr wrap="square" lIns="0" rIns="0" tIns="0" bIns="0" anchor="t">
            <a:noAutofit/>
          </a:bodyPr>
          <a:lstStyle/>
          <a:p>
            <a:pPr algn="l">
              <a:lnSpc>
                <a:spcPct val="110000"/>
              </a:lnSpc>
            </a:pPr>
            <a:r>
              <a:rPr sz="1000" b="1">
                <a:solidFill>
                  <a:srgbClr val="44566A"/>
                </a:solidFill>
                <a:latin typeface="맑은 고딕"/>
                <a:ea typeface="맑은 고딕"/>
                <a:cs typeface="맑은 고딕"/>
              </a:rPr>
              <a:t>3</a:t>
            </a:r>
          </a:p>
        </p:txBody>
      </p:sp>
      <p:sp>
        <p:nvSpPr>
          <p:cNvPr id="5" name="TextBox 4"/>
          <p:cNvSpPr txBox="1"/>
          <p:nvPr/>
        </p:nvSpPr>
        <p:spPr>
          <a:xfrm>
            <a:off x="670560" y="6494526"/>
            <a:ext cx="9022080" cy="205740"/>
          </a:xfrm>
          <a:prstGeom prst="rect">
            <a:avLst/>
          </a:prstGeom>
          <a:noFill/>
        </p:spPr>
        <p:txBody>
          <a:bodyPr wrap="square" lIns="0" rIns="0" tIns="0" bIns="0" anchor="t">
            <a:noAutofit/>
          </a:bodyPr>
          <a:lstStyle/>
          <a:p>
            <a:pPr algn="l">
              <a:lnSpc>
                <a:spcPct val="110000"/>
              </a:lnSpc>
            </a:pPr>
            <a:r>
              <a:rPr sz="900" b="0">
                <a:solidFill>
                  <a:srgbClr val="4C5759"/>
                </a:solidFill>
                <a:latin typeface="Malgun Gothic Semilight"/>
                <a:ea typeface="Malgun Gothic Semilight"/>
                <a:cs typeface="Malgun Gothic Semilight"/>
              </a:rPr>
              <a:t>대체가 아니라 재사용 — 이미 돌린 HSPICE MC를 반복 질의 가능한 모델로 바꾼다</a:t>
            </a:r>
          </a:p>
        </p:txBody>
      </p:sp>
      <p:sp>
        <p:nvSpPr>
          <p:cNvPr id="6" name="TextBox 5"/>
          <p:cNvSpPr txBox="1"/>
          <p:nvPr/>
        </p:nvSpPr>
        <p:spPr>
          <a:xfrm>
            <a:off x="9265920" y="6487668"/>
            <a:ext cx="2462784" cy="205740"/>
          </a:xfrm>
          <a:prstGeom prst="rect">
            <a:avLst/>
          </a:prstGeom>
          <a:noFill/>
        </p:spPr>
        <p:txBody>
          <a:bodyPr wrap="square" lIns="0" rIns="0" tIns="0" bIns="0" anchor="t">
            <a:noAutofit/>
          </a:bodyPr>
          <a:lstStyle/>
          <a:p>
            <a:pPr algn="r">
              <a:lnSpc>
                <a:spcPct val="110000"/>
              </a:lnSpc>
            </a:pPr>
            <a:r>
              <a:rPr sz="900" b="0">
                <a:solidFill>
                  <a:srgbClr val="7F7F7F"/>
                </a:solidFill>
                <a:latin typeface="Malgun Gothic Semilight"/>
                <a:ea typeface="Malgun Gothic Semilight"/>
                <a:cs typeface="Malgun Gothic Semilight"/>
              </a:rPr>
              <a:t>SRAM Vmin surrogate</a:t>
            </a:r>
          </a:p>
        </p:txBody>
      </p:sp>
      <p:sp>
        <p:nvSpPr>
          <p:cNvPr id="7" name="Rectangle 6"/>
          <p:cNvSpPr/>
          <p:nvPr/>
        </p:nvSpPr>
        <p:spPr>
          <a:xfrm>
            <a:off x="463296" y="1083564"/>
            <a:ext cx="2474976" cy="8366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3296" y="1083564"/>
            <a:ext cx="2474976" cy="836676"/>
          </a:xfrm>
          <a:prstGeom prst="rect">
            <a:avLst/>
          </a:prstGeom>
          <a:noFill/>
        </p:spPr>
        <p:txBody>
          <a:bodyPr wrap="square" lIns="0" rIns="0" tIns="0" bIns="0" anchor="ctr">
            <a:noAutofit/>
          </a:bodyPr>
          <a:lstStyle/>
          <a:p>
            <a:pPr algn="ctr">
              <a:lnSpc>
                <a:spcPct val="110000"/>
              </a:lnSpc>
            </a:pPr>
            <a:r>
              <a:rPr sz="2200" b="1">
                <a:solidFill>
                  <a:srgbClr val="FFFFFF"/>
                </a:solidFill>
                <a:latin typeface="맑은 고딕"/>
                <a:ea typeface="맑은 고딕"/>
                <a:cs typeface="맑은 고딕"/>
              </a:rPr>
              <a:t>① 정확도</a:t>
            </a:r>
          </a:p>
        </p:txBody>
      </p:sp>
      <p:sp>
        <p:nvSpPr>
          <p:cNvPr id="9" name="TextBox 8"/>
          <p:cNvSpPr txBox="1"/>
          <p:nvPr/>
        </p:nvSpPr>
        <p:spPr>
          <a:xfrm>
            <a:off x="560832" y="2194560"/>
            <a:ext cx="2279904" cy="891540"/>
          </a:xfrm>
          <a:prstGeom prst="rect">
            <a:avLst/>
          </a:prstGeom>
          <a:noFill/>
        </p:spPr>
        <p:txBody>
          <a:bodyPr wrap="square" lIns="0" rIns="0" tIns="0" bIns="0" anchor="t">
            <a:noAutofit/>
          </a:bodyPr>
          <a:lstStyle/>
          <a:p>
            <a:pPr algn="ctr">
              <a:lnSpc>
                <a:spcPct val="115000"/>
              </a:lnSpc>
            </a:pPr>
            <a:r>
              <a:rPr sz="2000" b="1">
                <a:solidFill>
                  <a:srgbClr val="1428A0"/>
                </a:solidFill>
                <a:latin typeface="맑은 고딕"/>
                <a:ea typeface="맑은 고딕"/>
                <a:cs typeface="맑은 고딕"/>
              </a:rPr>
              <a:t>이 공정 조건에서</a:t>
            </a:r>
          </a:p>
          <a:p>
            <a:pPr algn="ctr">
              <a:lnSpc>
                <a:spcPct val="115000"/>
              </a:lnSpc>
            </a:pPr>
            <a:r>
              <a:rPr sz="2000" b="1">
                <a:solidFill>
                  <a:srgbClr val="1428A0"/>
                </a:solidFill>
                <a:latin typeface="맑은 고딕"/>
                <a:ea typeface="맑은 고딕"/>
                <a:cs typeface="맑은 고딕"/>
              </a:rPr>
              <a:t>Vmin은?</a:t>
            </a:r>
          </a:p>
        </p:txBody>
      </p:sp>
      <p:sp>
        <p:nvSpPr>
          <p:cNvPr id="10" name="TextBox 9"/>
          <p:cNvSpPr txBox="1"/>
          <p:nvPr/>
        </p:nvSpPr>
        <p:spPr>
          <a:xfrm>
            <a:off x="609600" y="3429000"/>
            <a:ext cx="2182368" cy="1097280"/>
          </a:xfrm>
          <a:prstGeom prst="rect">
            <a:avLst/>
          </a:prstGeom>
          <a:noFill/>
        </p:spPr>
        <p:txBody>
          <a:bodyPr wrap="square" lIns="0" rIns="0" tIns="0" bIns="0" anchor="t">
            <a:noAutofit/>
          </a:bodyPr>
          <a:lstStyle/>
          <a:p>
            <a:pPr algn="ctr">
              <a:lnSpc>
                <a:spcPct val="120000"/>
              </a:lnSpc>
            </a:pPr>
            <a:r>
              <a:rPr sz="1500" b="0">
                <a:solidFill>
                  <a:srgbClr val="000000"/>
                </a:solidFill>
                <a:latin typeface="Malgun Gothic Semilight"/>
                <a:ea typeface="Malgun Gothic Semilight"/>
                <a:cs typeface="Malgun Gothic Semilight"/>
              </a:rPr>
              <a:t>MC를 다시 돌리지 않고</a:t>
            </a:r>
          </a:p>
          <a:p>
            <a:pPr algn="ctr">
              <a:lnSpc>
                <a:spcPct val="120000"/>
              </a:lnSpc>
            </a:pPr>
            <a:r>
              <a:rPr sz="1500" b="0">
                <a:solidFill>
                  <a:srgbClr val="000000"/>
                </a:solidFill>
                <a:latin typeface="Malgun Gothic Semilight"/>
                <a:ea typeface="Malgun Gothic Semilight"/>
                <a:cs typeface="Malgun Gothic Semilight"/>
              </a:rPr>
              <a:t>임의 조건의 Vmin을</a:t>
            </a:r>
          </a:p>
          <a:p>
            <a:pPr algn="ctr">
              <a:lnSpc>
                <a:spcPct val="120000"/>
              </a:lnSpc>
            </a:pPr>
            <a:r>
              <a:rPr sz="1500" b="0">
                <a:solidFill>
                  <a:srgbClr val="000000"/>
                </a:solidFill>
                <a:latin typeface="Malgun Gothic Semilight"/>
                <a:ea typeface="Malgun Gothic Semilight"/>
                <a:cs typeface="Malgun Gothic Semilight"/>
              </a:rPr>
              <a:t>mV 수준으로 예측</a:t>
            </a:r>
          </a:p>
        </p:txBody>
      </p:sp>
      <p:sp>
        <p:nvSpPr>
          <p:cNvPr id="11" name="TextBox 10"/>
          <p:cNvSpPr txBox="1"/>
          <p:nvPr/>
        </p:nvSpPr>
        <p:spPr>
          <a:xfrm>
            <a:off x="463296" y="4937760"/>
            <a:ext cx="2474976" cy="240030"/>
          </a:xfrm>
          <a:prstGeom prst="rect">
            <a:avLst/>
          </a:prstGeom>
          <a:noFill/>
        </p:spPr>
        <p:txBody>
          <a:bodyPr wrap="square" lIns="0" rIns="0" tIns="0" bIns="0" anchor="t">
            <a:noAutofit/>
          </a:bodyPr>
          <a:lstStyle/>
          <a:p>
            <a:pPr algn="ctr">
              <a:lnSpc>
                <a:spcPct val="110000"/>
              </a:lnSpc>
            </a:pPr>
            <a:r>
              <a:rPr sz="1200" b="0">
                <a:solidFill>
                  <a:srgbClr val="7F7F7F"/>
                </a:solidFill>
                <a:latin typeface="Malgun Gothic Semilight"/>
                <a:ea typeface="Malgun Gothic Semilight"/>
                <a:cs typeface="Malgun Gothic Semilight"/>
              </a:rPr>
              <a:t>답하는 도구</a:t>
            </a:r>
          </a:p>
        </p:txBody>
      </p:sp>
      <p:sp>
        <p:nvSpPr>
          <p:cNvPr id="12" name="TextBox 11"/>
          <p:cNvSpPr txBox="1"/>
          <p:nvPr/>
        </p:nvSpPr>
        <p:spPr>
          <a:xfrm>
            <a:off x="463296" y="5246370"/>
            <a:ext cx="2474976" cy="342900"/>
          </a:xfrm>
          <a:prstGeom prst="rect">
            <a:avLst/>
          </a:prstGeom>
          <a:noFill/>
        </p:spPr>
        <p:txBody>
          <a:bodyPr wrap="square" lIns="0" rIns="0" tIns="0" bIns="0" anchor="t">
            <a:noAutofit/>
          </a:bodyPr>
          <a:lstStyle/>
          <a:p>
            <a:pPr algn="ctr">
              <a:lnSpc>
                <a:spcPct val="110000"/>
              </a:lnSpc>
            </a:pPr>
            <a:r>
              <a:rPr sz="1800" b="1">
                <a:solidFill>
                  <a:srgbClr val="1428A0"/>
                </a:solidFill>
                <a:latin typeface="맑은 고딕"/>
                <a:ea typeface="맑은 고딕"/>
                <a:cs typeface="맑은 고딕"/>
              </a:rPr>
              <a:t>GP surrogate</a:t>
            </a:r>
          </a:p>
        </p:txBody>
      </p:sp>
      <p:sp>
        <p:nvSpPr>
          <p:cNvPr id="13" name="Rectangle 12"/>
          <p:cNvSpPr/>
          <p:nvPr/>
        </p:nvSpPr>
        <p:spPr>
          <a:xfrm>
            <a:off x="3389376" y="1083564"/>
            <a:ext cx="2474976" cy="836676"/>
          </a:xfrm>
          <a:prstGeom prst="rect">
            <a:avLst/>
          </a:prstGeom>
          <a:solidFill>
            <a:srgbClr val="5B72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89376" y="1083564"/>
            <a:ext cx="2474976" cy="836676"/>
          </a:xfrm>
          <a:prstGeom prst="rect">
            <a:avLst/>
          </a:prstGeom>
          <a:noFill/>
        </p:spPr>
        <p:txBody>
          <a:bodyPr wrap="square" lIns="0" rIns="0" tIns="0" bIns="0" anchor="ctr">
            <a:noAutofit/>
          </a:bodyPr>
          <a:lstStyle/>
          <a:p>
            <a:pPr algn="ctr">
              <a:lnSpc>
                <a:spcPct val="110000"/>
              </a:lnSpc>
            </a:pPr>
            <a:r>
              <a:rPr sz="2200" b="1">
                <a:solidFill>
                  <a:srgbClr val="FFFFFF"/>
                </a:solidFill>
                <a:latin typeface="맑은 고딕"/>
                <a:ea typeface="맑은 고딕"/>
                <a:cs typeface="맑은 고딕"/>
              </a:rPr>
              <a:t>② 커버리지</a:t>
            </a:r>
          </a:p>
        </p:txBody>
      </p:sp>
      <p:sp>
        <p:nvSpPr>
          <p:cNvPr id="15" name="TextBox 14"/>
          <p:cNvSpPr txBox="1"/>
          <p:nvPr/>
        </p:nvSpPr>
        <p:spPr>
          <a:xfrm>
            <a:off x="3486912" y="2194560"/>
            <a:ext cx="2279904" cy="891540"/>
          </a:xfrm>
          <a:prstGeom prst="rect">
            <a:avLst/>
          </a:prstGeom>
          <a:noFill/>
        </p:spPr>
        <p:txBody>
          <a:bodyPr wrap="square" lIns="0" rIns="0" tIns="0" bIns="0" anchor="t">
            <a:noAutofit/>
          </a:bodyPr>
          <a:lstStyle/>
          <a:p>
            <a:pPr algn="ctr">
              <a:lnSpc>
                <a:spcPct val="115000"/>
              </a:lnSpc>
            </a:pPr>
            <a:r>
              <a:rPr sz="2000" b="1">
                <a:solidFill>
                  <a:srgbClr val="5B728D"/>
                </a:solidFill>
                <a:latin typeface="맑은 고딕"/>
                <a:ea typeface="맑은 고딕"/>
                <a:cs typeface="맑은 고딕"/>
              </a:rPr>
              <a:t>어느 공정 축이</a:t>
            </a:r>
          </a:p>
          <a:p>
            <a:pPr algn="ctr">
              <a:lnSpc>
                <a:spcPct val="115000"/>
              </a:lnSpc>
            </a:pPr>
            <a:r>
              <a:rPr sz="2000" b="1">
                <a:solidFill>
                  <a:srgbClr val="5B728D"/>
                </a:solidFill>
                <a:latin typeface="맑은 고딕"/>
                <a:ea typeface="맑은 고딕"/>
                <a:cs typeface="맑은 고딕"/>
              </a:rPr>
              <a:t>Vmin을 흔드나?</a:t>
            </a:r>
          </a:p>
        </p:txBody>
      </p:sp>
      <p:sp>
        <p:nvSpPr>
          <p:cNvPr id="16" name="TextBox 15"/>
          <p:cNvSpPr txBox="1"/>
          <p:nvPr/>
        </p:nvSpPr>
        <p:spPr>
          <a:xfrm>
            <a:off x="3535680" y="3429000"/>
            <a:ext cx="2182368" cy="1097280"/>
          </a:xfrm>
          <a:prstGeom prst="rect">
            <a:avLst/>
          </a:prstGeom>
          <a:noFill/>
        </p:spPr>
        <p:txBody>
          <a:bodyPr wrap="square" lIns="0" rIns="0" tIns="0" bIns="0" anchor="t">
            <a:noAutofit/>
          </a:bodyPr>
          <a:lstStyle/>
          <a:p>
            <a:pPr algn="ctr">
              <a:lnSpc>
                <a:spcPct val="120000"/>
              </a:lnSpc>
            </a:pPr>
            <a:r>
              <a:rPr sz="1500" b="0">
                <a:solidFill>
                  <a:srgbClr val="000000"/>
                </a:solidFill>
                <a:latin typeface="Malgun Gothic Semilight"/>
                <a:ea typeface="Malgun Gothic Semilight"/>
                <a:cs typeface="Malgun Gothic Semilight"/>
              </a:rPr>
              <a:t>corner 밖까지</a:t>
            </a:r>
          </a:p>
          <a:p>
            <a:pPr algn="ctr">
              <a:lnSpc>
                <a:spcPct val="120000"/>
              </a:lnSpc>
            </a:pPr>
            <a:r>
              <a:rPr sz="1500" b="0">
                <a:solidFill>
                  <a:srgbClr val="000000"/>
                </a:solidFill>
                <a:latin typeface="Malgun Gothic Semilight"/>
                <a:ea typeface="Malgun Gothic Semilight"/>
                <a:cs typeface="Malgun Gothic Semilight"/>
              </a:rPr>
              <a:t>9개 축 전체의 기여를</a:t>
            </a:r>
          </a:p>
          <a:p>
            <a:pPr algn="ctr">
              <a:lnSpc>
                <a:spcPct val="120000"/>
              </a:lnSpc>
            </a:pPr>
            <a:r>
              <a:rPr sz="1500" b="0">
                <a:solidFill>
                  <a:srgbClr val="000000"/>
                </a:solidFill>
                <a:latin typeface="Malgun Gothic Semilight"/>
                <a:ea typeface="Malgun Gothic Semilight"/>
                <a:cs typeface="Malgun Gothic Semilight"/>
              </a:rPr>
              <a:t>정량화</a:t>
            </a:r>
          </a:p>
        </p:txBody>
      </p:sp>
      <p:sp>
        <p:nvSpPr>
          <p:cNvPr id="17" name="TextBox 16"/>
          <p:cNvSpPr txBox="1"/>
          <p:nvPr/>
        </p:nvSpPr>
        <p:spPr>
          <a:xfrm>
            <a:off x="3389376" y="4937760"/>
            <a:ext cx="2474976" cy="240030"/>
          </a:xfrm>
          <a:prstGeom prst="rect">
            <a:avLst/>
          </a:prstGeom>
          <a:noFill/>
        </p:spPr>
        <p:txBody>
          <a:bodyPr wrap="square" lIns="0" rIns="0" tIns="0" bIns="0" anchor="t">
            <a:noAutofit/>
          </a:bodyPr>
          <a:lstStyle/>
          <a:p>
            <a:pPr algn="ctr">
              <a:lnSpc>
                <a:spcPct val="110000"/>
              </a:lnSpc>
            </a:pPr>
            <a:r>
              <a:rPr sz="1200" b="0">
                <a:solidFill>
                  <a:srgbClr val="7F7F7F"/>
                </a:solidFill>
                <a:latin typeface="Malgun Gothic Semilight"/>
                <a:ea typeface="Malgun Gothic Semilight"/>
                <a:cs typeface="Malgun Gothic Semilight"/>
              </a:rPr>
              <a:t>답하는 도구</a:t>
            </a:r>
          </a:p>
        </p:txBody>
      </p:sp>
      <p:sp>
        <p:nvSpPr>
          <p:cNvPr id="18" name="TextBox 17"/>
          <p:cNvSpPr txBox="1"/>
          <p:nvPr/>
        </p:nvSpPr>
        <p:spPr>
          <a:xfrm>
            <a:off x="3389376" y="5246370"/>
            <a:ext cx="2474976" cy="342900"/>
          </a:xfrm>
          <a:prstGeom prst="rect">
            <a:avLst/>
          </a:prstGeom>
          <a:noFill/>
        </p:spPr>
        <p:txBody>
          <a:bodyPr wrap="square" lIns="0" rIns="0" tIns="0" bIns="0" anchor="t">
            <a:noAutofit/>
          </a:bodyPr>
          <a:lstStyle/>
          <a:p>
            <a:pPr algn="ctr">
              <a:lnSpc>
                <a:spcPct val="110000"/>
              </a:lnSpc>
            </a:pPr>
            <a:r>
              <a:rPr sz="1800" b="1">
                <a:solidFill>
                  <a:srgbClr val="5B728D"/>
                </a:solidFill>
                <a:latin typeface="맑은 고딕"/>
                <a:ea typeface="맑은 고딕"/>
                <a:cs typeface="맑은 고딕"/>
              </a:rPr>
              <a:t>Sobol 민감도</a:t>
            </a:r>
          </a:p>
        </p:txBody>
      </p:sp>
      <p:sp>
        <p:nvSpPr>
          <p:cNvPr id="19" name="Rectangle 18"/>
          <p:cNvSpPr/>
          <p:nvPr/>
        </p:nvSpPr>
        <p:spPr>
          <a:xfrm>
            <a:off x="3135757" y="1083564"/>
            <a:ext cx="31750" cy="5301234"/>
          </a:xfrm>
          <a:prstGeom prst="rect">
            <a:avLst/>
          </a:prstGeom>
          <a:solidFill>
            <a:srgbClr val="E7E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15456" y="1083564"/>
            <a:ext cx="2474976" cy="836676"/>
          </a:xfrm>
          <a:prstGeom prst="rect">
            <a:avLst/>
          </a:prstGeom>
          <a:solidFill>
            <a:srgbClr val="3E7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15456" y="1083564"/>
            <a:ext cx="2474976" cy="836676"/>
          </a:xfrm>
          <a:prstGeom prst="rect">
            <a:avLst/>
          </a:prstGeom>
          <a:noFill/>
        </p:spPr>
        <p:txBody>
          <a:bodyPr wrap="square" lIns="0" rIns="0" tIns="0" bIns="0" anchor="ctr">
            <a:noAutofit/>
          </a:bodyPr>
          <a:lstStyle/>
          <a:p>
            <a:pPr algn="ctr">
              <a:lnSpc>
                <a:spcPct val="110000"/>
              </a:lnSpc>
            </a:pPr>
            <a:r>
              <a:rPr sz="2200" b="1">
                <a:solidFill>
                  <a:srgbClr val="FFFFFF"/>
                </a:solidFill>
                <a:latin typeface="맑은 고딕"/>
                <a:ea typeface="맑은 고딕"/>
                <a:cs typeface="맑은 고딕"/>
              </a:rPr>
              <a:t>③ 가역성</a:t>
            </a:r>
          </a:p>
        </p:txBody>
      </p:sp>
      <p:sp>
        <p:nvSpPr>
          <p:cNvPr id="22" name="TextBox 21"/>
          <p:cNvSpPr txBox="1"/>
          <p:nvPr/>
        </p:nvSpPr>
        <p:spPr>
          <a:xfrm>
            <a:off x="6412992" y="2194560"/>
            <a:ext cx="2279904" cy="891540"/>
          </a:xfrm>
          <a:prstGeom prst="rect">
            <a:avLst/>
          </a:prstGeom>
          <a:noFill/>
        </p:spPr>
        <p:txBody>
          <a:bodyPr wrap="square" lIns="0" rIns="0" tIns="0" bIns="0" anchor="t">
            <a:noAutofit/>
          </a:bodyPr>
          <a:lstStyle/>
          <a:p>
            <a:pPr algn="ctr">
              <a:lnSpc>
                <a:spcPct val="115000"/>
              </a:lnSpc>
            </a:pPr>
            <a:r>
              <a:rPr sz="2000" b="1">
                <a:solidFill>
                  <a:srgbClr val="3E7EDE"/>
                </a:solidFill>
                <a:latin typeface="맑은 고딕"/>
                <a:ea typeface="맑은 고딕"/>
                <a:cs typeface="맑은 고딕"/>
              </a:rPr>
              <a:t>목표를 맞추려면</a:t>
            </a:r>
          </a:p>
          <a:p>
            <a:pPr algn="ctr">
              <a:lnSpc>
                <a:spcPct val="115000"/>
              </a:lnSpc>
            </a:pPr>
            <a:r>
              <a:rPr sz="2000" b="1">
                <a:solidFill>
                  <a:srgbClr val="3E7EDE"/>
                </a:solidFill>
                <a:latin typeface="맑은 고딕"/>
                <a:ea typeface="맑은 고딕"/>
                <a:cs typeface="맑은 고딕"/>
              </a:rPr>
              <a:t>무엇을 얼마나?</a:t>
            </a:r>
          </a:p>
        </p:txBody>
      </p:sp>
      <p:sp>
        <p:nvSpPr>
          <p:cNvPr id="23" name="TextBox 22"/>
          <p:cNvSpPr txBox="1"/>
          <p:nvPr/>
        </p:nvSpPr>
        <p:spPr>
          <a:xfrm>
            <a:off x="6461760" y="3429000"/>
            <a:ext cx="2182368" cy="1097280"/>
          </a:xfrm>
          <a:prstGeom prst="rect">
            <a:avLst/>
          </a:prstGeom>
          <a:noFill/>
        </p:spPr>
        <p:txBody>
          <a:bodyPr wrap="square" lIns="0" rIns="0" tIns="0" bIns="0" anchor="t">
            <a:noAutofit/>
          </a:bodyPr>
          <a:lstStyle/>
          <a:p>
            <a:pPr algn="ctr">
              <a:lnSpc>
                <a:spcPct val="120000"/>
              </a:lnSpc>
            </a:pPr>
            <a:r>
              <a:rPr sz="1500" b="0">
                <a:solidFill>
                  <a:srgbClr val="000000"/>
                </a:solidFill>
                <a:latin typeface="Malgun Gothic Semilight"/>
                <a:ea typeface="Malgun Gothic Semilight"/>
                <a:cs typeface="Malgun Gothic Semilight"/>
              </a:rPr>
              <a:t>목표 Vmin에서</a:t>
            </a:r>
          </a:p>
          <a:p>
            <a:pPr algn="ctr">
              <a:lnSpc>
                <a:spcPct val="120000"/>
              </a:lnSpc>
            </a:pPr>
            <a:r>
              <a:rPr sz="1500" b="0">
                <a:solidFill>
                  <a:srgbClr val="000000"/>
                </a:solidFill>
                <a:latin typeface="Malgun Gothic Semilight"/>
                <a:ea typeface="Malgun Gothic Semilight"/>
                <a:cs typeface="Malgun Gothic Semilight"/>
              </a:rPr>
              <a:t>공정 허용폭을</a:t>
            </a:r>
          </a:p>
          <a:p>
            <a:pPr algn="ctr">
              <a:lnSpc>
                <a:spcPct val="120000"/>
              </a:lnSpc>
            </a:pPr>
            <a:r>
              <a:rPr sz="1500" b="0">
                <a:solidFill>
                  <a:srgbClr val="000000"/>
                </a:solidFill>
                <a:latin typeface="Malgun Gothic Semilight"/>
                <a:ea typeface="Malgun Gothic Semilight"/>
                <a:cs typeface="Malgun Gothic Semilight"/>
              </a:rPr>
              <a:t>거꾸로 계산</a:t>
            </a:r>
          </a:p>
        </p:txBody>
      </p:sp>
      <p:sp>
        <p:nvSpPr>
          <p:cNvPr id="24" name="TextBox 23"/>
          <p:cNvSpPr txBox="1"/>
          <p:nvPr/>
        </p:nvSpPr>
        <p:spPr>
          <a:xfrm>
            <a:off x="6315456" y="4937760"/>
            <a:ext cx="2474976" cy="240030"/>
          </a:xfrm>
          <a:prstGeom prst="rect">
            <a:avLst/>
          </a:prstGeom>
          <a:noFill/>
        </p:spPr>
        <p:txBody>
          <a:bodyPr wrap="square" lIns="0" rIns="0" tIns="0" bIns="0" anchor="t">
            <a:noAutofit/>
          </a:bodyPr>
          <a:lstStyle/>
          <a:p>
            <a:pPr algn="ctr">
              <a:lnSpc>
                <a:spcPct val="110000"/>
              </a:lnSpc>
            </a:pPr>
            <a:r>
              <a:rPr sz="1200" b="0">
                <a:solidFill>
                  <a:srgbClr val="7F7F7F"/>
                </a:solidFill>
                <a:latin typeface="Malgun Gothic Semilight"/>
                <a:ea typeface="Malgun Gothic Semilight"/>
                <a:cs typeface="Malgun Gothic Semilight"/>
              </a:rPr>
              <a:t>답하는 도구</a:t>
            </a:r>
          </a:p>
        </p:txBody>
      </p:sp>
      <p:sp>
        <p:nvSpPr>
          <p:cNvPr id="25" name="TextBox 24"/>
          <p:cNvSpPr txBox="1"/>
          <p:nvPr/>
        </p:nvSpPr>
        <p:spPr>
          <a:xfrm>
            <a:off x="6315456" y="5246370"/>
            <a:ext cx="2474976" cy="342900"/>
          </a:xfrm>
          <a:prstGeom prst="rect">
            <a:avLst/>
          </a:prstGeom>
          <a:noFill/>
        </p:spPr>
        <p:txBody>
          <a:bodyPr wrap="square" lIns="0" rIns="0" tIns="0" bIns="0" anchor="t">
            <a:noAutofit/>
          </a:bodyPr>
          <a:lstStyle/>
          <a:p>
            <a:pPr algn="ctr">
              <a:lnSpc>
                <a:spcPct val="110000"/>
              </a:lnSpc>
            </a:pPr>
            <a:r>
              <a:rPr sz="1800" b="1">
                <a:solidFill>
                  <a:srgbClr val="3E7EDE"/>
                </a:solidFill>
                <a:latin typeface="맑은 고딕"/>
                <a:ea typeface="맑은 고딕"/>
                <a:cs typeface="맑은 고딕"/>
              </a:rPr>
              <a:t>1차원 역해</a:t>
            </a:r>
          </a:p>
        </p:txBody>
      </p:sp>
      <p:sp>
        <p:nvSpPr>
          <p:cNvPr id="26" name="Rectangle 25"/>
          <p:cNvSpPr/>
          <p:nvPr/>
        </p:nvSpPr>
        <p:spPr>
          <a:xfrm>
            <a:off x="6061837" y="1083564"/>
            <a:ext cx="31750" cy="5301234"/>
          </a:xfrm>
          <a:prstGeom prst="rect">
            <a:avLst/>
          </a:prstGeom>
          <a:solidFill>
            <a:srgbClr val="E7E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229344" y="1083564"/>
            <a:ext cx="2474976" cy="8366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29344" y="1083564"/>
            <a:ext cx="2474976" cy="836676"/>
          </a:xfrm>
          <a:prstGeom prst="rect">
            <a:avLst/>
          </a:prstGeom>
          <a:noFill/>
        </p:spPr>
        <p:txBody>
          <a:bodyPr wrap="square" lIns="0" rIns="0" tIns="0" bIns="0" anchor="ctr">
            <a:noAutofit/>
          </a:bodyPr>
          <a:lstStyle/>
          <a:p>
            <a:pPr algn="ctr">
              <a:lnSpc>
                <a:spcPct val="110000"/>
              </a:lnSpc>
            </a:pPr>
            <a:r>
              <a:rPr sz="2200" b="1">
                <a:solidFill>
                  <a:srgbClr val="FFFFFF"/>
                </a:solidFill>
                <a:latin typeface="맑은 고딕"/>
                <a:ea typeface="맑은 고딕"/>
                <a:cs typeface="맑은 고딕"/>
              </a:rPr>
              <a:t>④ 비용</a:t>
            </a:r>
          </a:p>
        </p:txBody>
      </p:sp>
      <p:sp>
        <p:nvSpPr>
          <p:cNvPr id="29" name="TextBox 28"/>
          <p:cNvSpPr txBox="1"/>
          <p:nvPr/>
        </p:nvSpPr>
        <p:spPr>
          <a:xfrm>
            <a:off x="9326880" y="2194560"/>
            <a:ext cx="2279904" cy="891540"/>
          </a:xfrm>
          <a:prstGeom prst="rect">
            <a:avLst/>
          </a:prstGeom>
          <a:noFill/>
        </p:spPr>
        <p:txBody>
          <a:bodyPr wrap="square" lIns="0" rIns="0" tIns="0" bIns="0" anchor="t">
            <a:noAutofit/>
          </a:bodyPr>
          <a:lstStyle/>
          <a:p>
            <a:pPr algn="ctr">
              <a:lnSpc>
                <a:spcPct val="115000"/>
              </a:lnSpc>
            </a:pPr>
            <a:r>
              <a:rPr sz="2000" b="1">
                <a:solidFill>
                  <a:srgbClr val="000000"/>
                </a:solidFill>
                <a:latin typeface="맑은 고딕"/>
                <a:ea typeface="맑은 고딕"/>
                <a:cs typeface="맑은 고딕"/>
              </a:rPr>
              <a:t>simulation을</a:t>
            </a:r>
          </a:p>
          <a:p>
            <a:pPr algn="ctr">
              <a:lnSpc>
                <a:spcPct val="115000"/>
              </a:lnSpc>
            </a:pPr>
            <a:r>
              <a:rPr sz="2000" b="1">
                <a:solidFill>
                  <a:srgbClr val="000000"/>
                </a:solidFill>
                <a:latin typeface="맑은 고딕"/>
                <a:ea typeface="맑은 고딕"/>
                <a:cs typeface="맑은 고딕"/>
              </a:rPr>
              <a:t>얼마나 줄이나?</a:t>
            </a:r>
          </a:p>
        </p:txBody>
      </p:sp>
      <p:sp>
        <p:nvSpPr>
          <p:cNvPr id="30" name="TextBox 29"/>
          <p:cNvSpPr txBox="1"/>
          <p:nvPr/>
        </p:nvSpPr>
        <p:spPr>
          <a:xfrm>
            <a:off x="9375648" y="3429000"/>
            <a:ext cx="2182368" cy="1097280"/>
          </a:xfrm>
          <a:prstGeom prst="rect">
            <a:avLst/>
          </a:prstGeom>
          <a:noFill/>
        </p:spPr>
        <p:txBody>
          <a:bodyPr wrap="square" lIns="0" rIns="0" tIns="0" bIns="0" anchor="t">
            <a:noAutofit/>
          </a:bodyPr>
          <a:lstStyle/>
          <a:p>
            <a:pPr algn="ctr">
              <a:lnSpc>
                <a:spcPct val="120000"/>
              </a:lnSpc>
            </a:pPr>
            <a:r>
              <a:rPr sz="1500" b="0">
                <a:solidFill>
                  <a:srgbClr val="000000"/>
                </a:solidFill>
                <a:latin typeface="Malgun Gothic Semilight"/>
                <a:ea typeface="Malgun Gothic Semilight"/>
                <a:cs typeface="Malgun Gothic Semilight"/>
              </a:rPr>
              <a:t>학습 budget과</a:t>
            </a:r>
          </a:p>
          <a:p>
            <a:pPr algn="ctr">
              <a:lnSpc>
                <a:spcPct val="120000"/>
              </a:lnSpc>
            </a:pPr>
            <a:r>
              <a:rPr sz="1500" b="0">
                <a:solidFill>
                  <a:srgbClr val="000000"/>
                </a:solidFill>
                <a:latin typeface="Malgun Gothic Semilight"/>
                <a:ea typeface="Malgun Gothic Semilight"/>
                <a:cs typeface="Malgun Gothic Semilight"/>
              </a:rPr>
              <a:t>정확도의 교환비를</a:t>
            </a:r>
          </a:p>
          <a:p>
            <a:pPr algn="ctr">
              <a:lnSpc>
                <a:spcPct val="120000"/>
              </a:lnSpc>
            </a:pPr>
            <a:r>
              <a:rPr sz="1500" b="0">
                <a:solidFill>
                  <a:srgbClr val="000000"/>
                </a:solidFill>
                <a:latin typeface="Malgun Gothic Semilight"/>
                <a:ea typeface="Malgun Gothic Semilight"/>
                <a:cs typeface="Malgun Gothic Semilight"/>
              </a:rPr>
              <a:t>측정</a:t>
            </a:r>
          </a:p>
        </p:txBody>
      </p:sp>
      <p:sp>
        <p:nvSpPr>
          <p:cNvPr id="31" name="TextBox 30"/>
          <p:cNvSpPr txBox="1"/>
          <p:nvPr/>
        </p:nvSpPr>
        <p:spPr>
          <a:xfrm>
            <a:off x="9229344" y="4937760"/>
            <a:ext cx="2474976" cy="240030"/>
          </a:xfrm>
          <a:prstGeom prst="rect">
            <a:avLst/>
          </a:prstGeom>
          <a:noFill/>
        </p:spPr>
        <p:txBody>
          <a:bodyPr wrap="square" lIns="0" rIns="0" tIns="0" bIns="0" anchor="t">
            <a:noAutofit/>
          </a:bodyPr>
          <a:lstStyle/>
          <a:p>
            <a:pPr algn="ctr">
              <a:lnSpc>
                <a:spcPct val="110000"/>
              </a:lnSpc>
            </a:pPr>
            <a:r>
              <a:rPr sz="1200" b="0">
                <a:solidFill>
                  <a:srgbClr val="7F7F7F"/>
                </a:solidFill>
                <a:latin typeface="Malgun Gothic Semilight"/>
                <a:ea typeface="Malgun Gothic Semilight"/>
                <a:cs typeface="Malgun Gothic Semilight"/>
              </a:rPr>
              <a:t>답하는 도구</a:t>
            </a:r>
          </a:p>
        </p:txBody>
      </p:sp>
      <p:sp>
        <p:nvSpPr>
          <p:cNvPr id="32" name="TextBox 31"/>
          <p:cNvSpPr txBox="1"/>
          <p:nvPr/>
        </p:nvSpPr>
        <p:spPr>
          <a:xfrm>
            <a:off x="9229344" y="5246370"/>
            <a:ext cx="2474976" cy="342900"/>
          </a:xfrm>
          <a:prstGeom prst="rect">
            <a:avLst/>
          </a:prstGeom>
          <a:noFill/>
        </p:spPr>
        <p:txBody>
          <a:bodyPr wrap="square" lIns="0" rIns="0" tIns="0" bIns="0" anchor="t">
            <a:noAutofit/>
          </a:bodyPr>
          <a:lstStyle/>
          <a:p>
            <a:pPr algn="ctr">
              <a:lnSpc>
                <a:spcPct val="110000"/>
              </a:lnSpc>
            </a:pPr>
            <a:r>
              <a:rPr sz="1800" b="1">
                <a:solidFill>
                  <a:srgbClr val="000000"/>
                </a:solidFill>
                <a:latin typeface="맑은 고딕"/>
                <a:ea typeface="맑은 고딕"/>
                <a:cs typeface="맑은 고딕"/>
              </a:rPr>
              <a:t>budget 절감 실험</a:t>
            </a:r>
          </a:p>
        </p:txBody>
      </p:sp>
      <p:sp>
        <p:nvSpPr>
          <p:cNvPr id="33" name="Rectangle 32"/>
          <p:cNvSpPr/>
          <p:nvPr/>
        </p:nvSpPr>
        <p:spPr>
          <a:xfrm>
            <a:off x="8975725" y="1083564"/>
            <a:ext cx="31750" cy="5301234"/>
          </a:xfrm>
          <a:prstGeom prst="rect">
            <a:avLst/>
          </a:prstGeom>
          <a:solidFill>
            <a:srgbClr val="E7E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75488" y="233172"/>
            <a:ext cx="11253216" cy="541782"/>
          </a:xfrm>
          <a:prstGeom prst="rect">
            <a:avLst/>
          </a:prstGeom>
          <a:noFill/>
        </p:spPr>
        <p:txBody>
          <a:bodyPr wrap="square" lIns="0" rIns="0" tIns="0" bIns="0" anchor="ctr">
            <a:noAutofit/>
          </a:bodyPr>
          <a:lstStyle/>
          <a:p>
            <a:pPr algn="l">
              <a:lnSpc>
                <a:spcPct val="110000"/>
              </a:lnSpc>
            </a:pPr>
            <a:r>
              <a:rPr sz="3000" b="1">
                <a:solidFill>
                  <a:srgbClr val="000000"/>
                </a:solidFill>
                <a:latin typeface="맑은 고딕"/>
                <a:ea typeface="맑은 고딕"/>
                <a:cs typeface="맑은 고딕"/>
              </a:rPr>
              <a:t>구현: Vmin 대신 margin의 평균 μ와 산포 σ를 학습한다</a:t>
            </a:r>
          </a:p>
        </p:txBody>
      </p:sp>
      <p:sp>
        <p:nvSpPr>
          <p:cNvPr id="3" name="Rectangle 2"/>
          <p:cNvSpPr/>
          <p:nvPr/>
        </p:nvSpPr>
        <p:spPr>
          <a:xfrm>
            <a:off x="463296" y="887984"/>
            <a:ext cx="11265408" cy="48260"/>
          </a:xfrm>
          <a:prstGeom prst="rect">
            <a:avLst/>
          </a:prstGeom>
          <a:solidFill>
            <a:srgbClr val="E7E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6720" y="6480810"/>
            <a:ext cx="182880" cy="205740"/>
          </a:xfrm>
          <a:prstGeom prst="rect">
            <a:avLst/>
          </a:prstGeom>
          <a:noFill/>
        </p:spPr>
        <p:txBody>
          <a:bodyPr wrap="square" lIns="0" rIns="0" tIns="0" bIns="0" anchor="t">
            <a:noAutofit/>
          </a:bodyPr>
          <a:lstStyle/>
          <a:p>
            <a:pPr algn="l">
              <a:lnSpc>
                <a:spcPct val="110000"/>
              </a:lnSpc>
            </a:pPr>
            <a:r>
              <a:rPr sz="1000" b="1">
                <a:solidFill>
                  <a:srgbClr val="44566A"/>
                </a:solidFill>
                <a:latin typeface="맑은 고딕"/>
                <a:ea typeface="맑은 고딕"/>
                <a:cs typeface="맑은 고딕"/>
              </a:rPr>
              <a:t>4</a:t>
            </a:r>
          </a:p>
        </p:txBody>
      </p:sp>
      <p:sp>
        <p:nvSpPr>
          <p:cNvPr id="5" name="TextBox 4"/>
          <p:cNvSpPr txBox="1"/>
          <p:nvPr/>
        </p:nvSpPr>
        <p:spPr>
          <a:xfrm>
            <a:off x="670560" y="6494526"/>
            <a:ext cx="9022080" cy="205740"/>
          </a:xfrm>
          <a:prstGeom prst="rect">
            <a:avLst/>
          </a:prstGeom>
          <a:noFill/>
        </p:spPr>
        <p:txBody>
          <a:bodyPr wrap="square" lIns="0" rIns="0" tIns="0" bIns="0" anchor="t">
            <a:noAutofit/>
          </a:bodyPr>
          <a:lstStyle/>
          <a:p>
            <a:pPr algn="l">
              <a:lnSpc>
                <a:spcPct val="110000"/>
              </a:lnSpc>
            </a:pPr>
            <a:r>
              <a:rPr sz="900" b="0">
                <a:solidFill>
                  <a:srgbClr val="4C5759"/>
                </a:solidFill>
                <a:latin typeface="Malgun Gothic Semilight"/>
                <a:ea typeface="Malgun Gothic Semilight"/>
                <a:cs typeface="Malgun Gothic Semilight"/>
              </a:rPr>
              <a:t>k: array 크기와 목표 fail 확률이 정하는 tail 배율 · read(125 °C)와 write(−40 °C)를 각각 학습</a:t>
            </a:r>
          </a:p>
        </p:txBody>
      </p:sp>
      <p:sp>
        <p:nvSpPr>
          <p:cNvPr id="6" name="TextBox 5"/>
          <p:cNvSpPr txBox="1"/>
          <p:nvPr/>
        </p:nvSpPr>
        <p:spPr>
          <a:xfrm>
            <a:off x="9265920" y="6487668"/>
            <a:ext cx="2462784" cy="205740"/>
          </a:xfrm>
          <a:prstGeom prst="rect">
            <a:avLst/>
          </a:prstGeom>
          <a:noFill/>
        </p:spPr>
        <p:txBody>
          <a:bodyPr wrap="square" lIns="0" rIns="0" tIns="0" bIns="0" anchor="t">
            <a:noAutofit/>
          </a:bodyPr>
          <a:lstStyle/>
          <a:p>
            <a:pPr algn="r">
              <a:lnSpc>
                <a:spcPct val="110000"/>
              </a:lnSpc>
            </a:pPr>
            <a:r>
              <a:rPr sz="900" b="0">
                <a:solidFill>
                  <a:srgbClr val="7F7F7F"/>
                </a:solidFill>
                <a:latin typeface="Malgun Gothic Semilight"/>
                <a:ea typeface="Malgun Gothic Semilight"/>
                <a:cs typeface="Malgun Gothic Semilight"/>
              </a:rPr>
              <a:t>SRAM Vmin surrogate</a:t>
            </a:r>
          </a:p>
        </p:txBody>
      </p:sp>
      <p:sp>
        <p:nvSpPr>
          <p:cNvPr id="7" name="TextBox 6"/>
          <p:cNvSpPr txBox="1"/>
          <p:nvPr/>
        </p:nvSpPr>
        <p:spPr>
          <a:xfrm>
            <a:off x="438912" y="980694"/>
            <a:ext cx="2831592" cy="294894"/>
          </a:xfrm>
          <a:prstGeom prst="rect">
            <a:avLst/>
          </a:prstGeom>
          <a:noFill/>
        </p:spPr>
        <p:txBody>
          <a:bodyPr wrap="square" lIns="0" rIns="0" tIns="0" bIns="0" anchor="t">
            <a:noAutofit/>
          </a:bodyPr>
          <a:lstStyle/>
          <a:p>
            <a:pPr algn="ctr">
              <a:lnSpc>
                <a:spcPct val="110000"/>
              </a:lnSpc>
            </a:pPr>
            <a:r>
              <a:rPr sz="1800" b="1">
                <a:solidFill>
                  <a:srgbClr val="1428A0"/>
                </a:solidFill>
                <a:latin typeface="맑은 고딕"/>
                <a:ea typeface="맑은 고딕"/>
                <a:cs typeface="맑은 고딕"/>
              </a:rPr>
              <a:t>입력</a:t>
            </a:r>
          </a:p>
        </p:txBody>
      </p:sp>
      <p:sp>
        <p:nvSpPr>
          <p:cNvPr id="8" name="Pentagon 7"/>
          <p:cNvSpPr/>
          <p:nvPr/>
        </p:nvSpPr>
        <p:spPr>
          <a:xfrm>
            <a:off x="438912" y="1364742"/>
            <a:ext cx="2977896" cy="720090"/>
          </a:xfrm>
          <a:prstGeom prst="homePlat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6448" y="1364742"/>
            <a:ext cx="2441448" cy="720090"/>
          </a:xfrm>
          <a:prstGeom prst="rect">
            <a:avLst/>
          </a:prstGeom>
          <a:noFill/>
        </p:spPr>
        <p:txBody>
          <a:bodyPr wrap="square" lIns="0" rIns="0" tIns="0" bIns="0" anchor="ctr">
            <a:noAutofit/>
          </a:bodyPr>
          <a:lstStyle/>
          <a:p>
            <a:pPr algn="ctr">
              <a:lnSpc>
                <a:spcPct val="100000"/>
              </a:lnSpc>
            </a:pPr>
            <a:r>
              <a:rPr sz="1400" b="1">
                <a:solidFill>
                  <a:srgbClr val="FFFFFF"/>
                </a:solidFill>
                <a:latin typeface="맑은 고딕"/>
                <a:ea typeface="맑은 고딕"/>
                <a:cs typeface="맑은 고딕"/>
              </a:rPr>
              <a:t>9개 공정 축 + VDD</a:t>
            </a:r>
          </a:p>
          <a:p>
            <a:pPr algn="ctr">
              <a:lnSpc>
                <a:spcPct val="100000"/>
              </a:lnSpc>
            </a:pPr>
            <a:r>
              <a:rPr sz="1400" b="1">
                <a:solidFill>
                  <a:srgbClr val="FFFFFF"/>
                </a:solidFill>
                <a:latin typeface="맑은 고딕"/>
                <a:ea typeface="맑은 고딕"/>
                <a:cs typeface="맑은 고딕"/>
              </a:rPr>
              <a:t>HSPICE MC 1,700 조건</a:t>
            </a:r>
          </a:p>
        </p:txBody>
      </p:sp>
      <p:sp>
        <p:nvSpPr>
          <p:cNvPr id="10" name="TextBox 9"/>
          <p:cNvSpPr txBox="1"/>
          <p:nvPr/>
        </p:nvSpPr>
        <p:spPr>
          <a:xfrm>
            <a:off x="3270504" y="980694"/>
            <a:ext cx="2831592" cy="294894"/>
          </a:xfrm>
          <a:prstGeom prst="rect">
            <a:avLst/>
          </a:prstGeom>
          <a:noFill/>
        </p:spPr>
        <p:txBody>
          <a:bodyPr wrap="square" lIns="0" rIns="0" tIns="0" bIns="0" anchor="t">
            <a:noAutofit/>
          </a:bodyPr>
          <a:lstStyle/>
          <a:p>
            <a:pPr algn="ctr">
              <a:lnSpc>
                <a:spcPct val="110000"/>
              </a:lnSpc>
            </a:pPr>
            <a:r>
              <a:rPr sz="1800" b="1">
                <a:solidFill>
                  <a:srgbClr val="2C47C0"/>
                </a:solidFill>
                <a:latin typeface="맑은 고딕"/>
                <a:ea typeface="맑은 고딕"/>
                <a:cs typeface="맑은 고딕"/>
              </a:rPr>
              <a:t>학습 ①</a:t>
            </a:r>
          </a:p>
        </p:txBody>
      </p:sp>
      <p:sp>
        <p:nvSpPr>
          <p:cNvPr id="11" name="Chevron 10"/>
          <p:cNvSpPr/>
          <p:nvPr/>
        </p:nvSpPr>
        <p:spPr>
          <a:xfrm>
            <a:off x="3270504" y="1364742"/>
            <a:ext cx="2977896" cy="720090"/>
          </a:xfrm>
          <a:prstGeom prst="chevron">
            <a:avLst/>
          </a:prstGeom>
          <a:solidFill>
            <a:srgbClr val="2C47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53384" y="1364742"/>
            <a:ext cx="2441448" cy="720090"/>
          </a:xfrm>
          <a:prstGeom prst="rect">
            <a:avLst/>
          </a:prstGeom>
          <a:noFill/>
        </p:spPr>
        <p:txBody>
          <a:bodyPr wrap="square" lIns="0" rIns="0" tIns="0" bIns="0" anchor="ctr">
            <a:noAutofit/>
          </a:bodyPr>
          <a:lstStyle/>
          <a:p>
            <a:pPr algn="ctr">
              <a:lnSpc>
                <a:spcPct val="100000"/>
              </a:lnSpc>
            </a:pPr>
            <a:r>
              <a:rPr sz="1400" b="1">
                <a:solidFill>
                  <a:srgbClr val="FFFFFF"/>
                </a:solidFill>
                <a:latin typeface="맑은 고딕"/>
                <a:ea typeface="맑은 고딕"/>
                <a:cs typeface="맑은 고딕"/>
              </a:rPr>
              <a:t>GP: margin 평균 μ</a:t>
            </a:r>
          </a:p>
        </p:txBody>
      </p:sp>
      <p:sp>
        <p:nvSpPr>
          <p:cNvPr id="13" name="TextBox 12"/>
          <p:cNvSpPr txBox="1"/>
          <p:nvPr/>
        </p:nvSpPr>
        <p:spPr>
          <a:xfrm>
            <a:off x="6102096" y="980694"/>
            <a:ext cx="2831592" cy="294894"/>
          </a:xfrm>
          <a:prstGeom prst="rect">
            <a:avLst/>
          </a:prstGeom>
          <a:noFill/>
        </p:spPr>
        <p:txBody>
          <a:bodyPr wrap="square" lIns="0" rIns="0" tIns="0" bIns="0" anchor="t">
            <a:noAutofit/>
          </a:bodyPr>
          <a:lstStyle/>
          <a:p>
            <a:pPr algn="ctr">
              <a:lnSpc>
                <a:spcPct val="110000"/>
              </a:lnSpc>
            </a:pPr>
            <a:r>
              <a:rPr sz="1800" b="1">
                <a:solidFill>
                  <a:srgbClr val="4F65E9"/>
                </a:solidFill>
                <a:latin typeface="맑은 고딕"/>
                <a:ea typeface="맑은 고딕"/>
                <a:cs typeface="맑은 고딕"/>
              </a:rPr>
              <a:t>학습 ②</a:t>
            </a:r>
          </a:p>
        </p:txBody>
      </p:sp>
      <p:sp>
        <p:nvSpPr>
          <p:cNvPr id="14" name="Chevron 13"/>
          <p:cNvSpPr/>
          <p:nvPr/>
        </p:nvSpPr>
        <p:spPr>
          <a:xfrm>
            <a:off x="6102096" y="1364742"/>
            <a:ext cx="2977896" cy="720090"/>
          </a:xfrm>
          <a:prstGeom prst="chevron">
            <a:avLst/>
          </a:prstGeom>
          <a:solidFill>
            <a:srgbClr val="4F6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84976" y="1364742"/>
            <a:ext cx="2441448" cy="720090"/>
          </a:xfrm>
          <a:prstGeom prst="rect">
            <a:avLst/>
          </a:prstGeom>
          <a:noFill/>
        </p:spPr>
        <p:txBody>
          <a:bodyPr wrap="square" lIns="0" rIns="0" tIns="0" bIns="0" anchor="ctr">
            <a:noAutofit/>
          </a:bodyPr>
          <a:lstStyle/>
          <a:p>
            <a:pPr algn="ctr">
              <a:lnSpc>
                <a:spcPct val="100000"/>
              </a:lnSpc>
            </a:pPr>
            <a:r>
              <a:rPr sz="1400" b="1">
                <a:solidFill>
                  <a:srgbClr val="FFFFFF"/>
                </a:solidFill>
                <a:latin typeface="맑은 고딕"/>
                <a:ea typeface="맑은 고딕"/>
                <a:cs typeface="맑은 고딕"/>
              </a:rPr>
              <a:t>GP: margin 산포 log σ</a:t>
            </a:r>
          </a:p>
        </p:txBody>
      </p:sp>
      <p:sp>
        <p:nvSpPr>
          <p:cNvPr id="16" name="TextBox 15"/>
          <p:cNvSpPr txBox="1"/>
          <p:nvPr/>
        </p:nvSpPr>
        <p:spPr>
          <a:xfrm>
            <a:off x="8933688" y="980694"/>
            <a:ext cx="2831592" cy="294894"/>
          </a:xfrm>
          <a:prstGeom prst="rect">
            <a:avLst/>
          </a:prstGeom>
          <a:noFill/>
        </p:spPr>
        <p:txBody>
          <a:bodyPr wrap="square" lIns="0" rIns="0" tIns="0" bIns="0" anchor="t">
            <a:noAutofit/>
          </a:bodyPr>
          <a:lstStyle/>
          <a:p>
            <a:pPr algn="ctr">
              <a:lnSpc>
                <a:spcPct val="110000"/>
              </a:lnSpc>
            </a:pPr>
            <a:r>
              <a:rPr sz="1800" b="1">
                <a:solidFill>
                  <a:srgbClr val="3E7EDE"/>
                </a:solidFill>
                <a:latin typeface="맑은 고딕"/>
                <a:ea typeface="맑은 고딕"/>
                <a:cs typeface="맑은 고딕"/>
              </a:rPr>
              <a:t>해석식</a:t>
            </a:r>
          </a:p>
        </p:txBody>
      </p:sp>
      <p:sp>
        <p:nvSpPr>
          <p:cNvPr id="17" name="Chevron 16"/>
          <p:cNvSpPr/>
          <p:nvPr/>
        </p:nvSpPr>
        <p:spPr>
          <a:xfrm>
            <a:off x="8933688" y="1364742"/>
            <a:ext cx="2831592" cy="720090"/>
          </a:xfrm>
          <a:prstGeom prst="chevron">
            <a:avLst/>
          </a:prstGeom>
          <a:solidFill>
            <a:srgbClr val="3E7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16568" y="1364742"/>
            <a:ext cx="2441448" cy="720090"/>
          </a:xfrm>
          <a:prstGeom prst="rect">
            <a:avLst/>
          </a:prstGeom>
          <a:noFill/>
        </p:spPr>
        <p:txBody>
          <a:bodyPr wrap="square" lIns="0" rIns="0" tIns="0" bIns="0" anchor="ctr">
            <a:noAutofit/>
          </a:bodyPr>
          <a:lstStyle/>
          <a:p>
            <a:pPr algn="ctr">
              <a:lnSpc>
                <a:spcPct val="100000"/>
              </a:lnSpc>
            </a:pPr>
            <a:r>
              <a:rPr sz="1400" b="1">
                <a:solidFill>
                  <a:srgbClr val="FFFFFF"/>
                </a:solidFill>
                <a:latin typeface="맑은 고딕"/>
                <a:ea typeface="맑은 고딕"/>
                <a:cs typeface="맑은 고딕"/>
              </a:rPr>
              <a:t>Vmin = 최저 VDD</a:t>
            </a:r>
          </a:p>
          <a:p>
            <a:pPr algn="ctr">
              <a:lnSpc>
                <a:spcPct val="100000"/>
              </a:lnSpc>
            </a:pPr>
            <a:r>
              <a:rPr sz="1400" b="1">
                <a:solidFill>
                  <a:srgbClr val="FFFFFF"/>
                </a:solidFill>
                <a:latin typeface="맑은 고딕"/>
                <a:ea typeface="맑은 고딕"/>
                <a:cs typeface="맑은 고딕"/>
              </a:rPr>
              <a:t>s.t.  μ − k·σ ≥ 0</a:t>
            </a:r>
          </a:p>
        </p:txBody>
      </p:sp>
      <p:sp>
        <p:nvSpPr>
          <p:cNvPr id="19" name="Rectangle 18"/>
          <p:cNvSpPr/>
          <p:nvPr/>
        </p:nvSpPr>
        <p:spPr>
          <a:xfrm>
            <a:off x="438912" y="2283714"/>
            <a:ext cx="5413248" cy="51435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0560" y="2283714"/>
            <a:ext cx="5120640" cy="514350"/>
          </a:xfrm>
          <a:prstGeom prst="rect">
            <a:avLst/>
          </a:prstGeom>
          <a:noFill/>
        </p:spPr>
        <p:txBody>
          <a:bodyPr wrap="square" lIns="0" rIns="0" tIns="0" bIns="0" anchor="ctr">
            <a:noAutofit/>
          </a:bodyPr>
          <a:lstStyle/>
          <a:p>
            <a:pPr algn="l">
              <a:lnSpc>
                <a:spcPct val="110000"/>
              </a:lnSpc>
            </a:pPr>
            <a:r>
              <a:rPr sz="2000" b="1">
                <a:solidFill>
                  <a:srgbClr val="FFFFFF"/>
                </a:solidFill>
                <a:latin typeface="맑은 고딕"/>
                <a:ea typeface="맑은 고딕"/>
                <a:cs typeface="맑은 고딕"/>
              </a:rPr>
              <a:t>왜 Vmin을 바로 맞추지 않나</a:t>
            </a:r>
          </a:p>
        </p:txBody>
      </p:sp>
      <p:sp>
        <p:nvSpPr>
          <p:cNvPr id="21" name="Rectangle 20"/>
          <p:cNvSpPr/>
          <p:nvPr/>
        </p:nvSpPr>
        <p:spPr>
          <a:xfrm>
            <a:off x="6315456" y="2283714"/>
            <a:ext cx="5413248" cy="514350"/>
          </a:xfrm>
          <a:prstGeom prst="rect">
            <a:avLst/>
          </a:prstGeom>
          <a:solidFill>
            <a:srgbClr val="3E7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47104" y="2283714"/>
            <a:ext cx="5120640" cy="514350"/>
          </a:xfrm>
          <a:prstGeom prst="rect">
            <a:avLst/>
          </a:prstGeom>
          <a:noFill/>
        </p:spPr>
        <p:txBody>
          <a:bodyPr wrap="square" lIns="0" rIns="0" tIns="0" bIns="0" anchor="ctr">
            <a:noAutofit/>
          </a:bodyPr>
          <a:lstStyle/>
          <a:p>
            <a:pPr algn="l">
              <a:lnSpc>
                <a:spcPct val="110000"/>
              </a:lnSpc>
            </a:pPr>
            <a:r>
              <a:rPr sz="2000" b="1">
                <a:solidFill>
                  <a:srgbClr val="FFFFFF"/>
                </a:solidFill>
                <a:latin typeface="맑은 고딕"/>
                <a:ea typeface="맑은 고딕"/>
                <a:cs typeface="맑은 고딕"/>
              </a:rPr>
              <a:t>입력: 9개 공정 축 (3 종류 × 3 위치)</a:t>
            </a:r>
          </a:p>
        </p:txBody>
      </p:sp>
      <p:sp>
        <p:nvSpPr>
          <p:cNvPr id="23" name="TextBox 22"/>
          <p:cNvSpPr txBox="1"/>
          <p:nvPr/>
        </p:nvSpPr>
        <p:spPr>
          <a:xfrm>
            <a:off x="475488" y="2983230"/>
            <a:ext cx="5364480" cy="857250"/>
          </a:xfrm>
          <a:prstGeom prst="rect">
            <a:avLst/>
          </a:prstGeom>
          <a:noFill/>
        </p:spPr>
        <p:txBody>
          <a:bodyPr wrap="square" lIns="0" rIns="0" tIns="0" bIns="0" anchor="ctr">
            <a:noAutofit/>
          </a:bodyPr>
          <a:lstStyle/>
          <a:p>
            <a:pPr algn="l">
              <a:lnSpc>
                <a:spcPct val="115000"/>
              </a:lnSpc>
            </a:pPr>
            <a:r>
              <a:rPr sz="1600" b="1">
                <a:solidFill>
                  <a:srgbClr val="1428A0"/>
                </a:solidFill>
                <a:latin typeface="맑은 고딕"/>
                <a:ea typeface="맑은 고딕"/>
                <a:cs typeface="맑은 고딕"/>
              </a:rPr>
              <a:t>원인 분리</a:t>
            </a:r>
            <a:r>
              <a:rPr sz="1600" b="0">
                <a:solidFill>
                  <a:srgbClr val="000000"/>
                </a:solidFill>
                <a:latin typeface="Malgun Gothic Semilight"/>
                <a:ea typeface="Malgun Gothic Semilight"/>
                <a:cs typeface="Malgun Gothic Semilight"/>
              </a:rPr>
              <a:t> — 중심 이동(μ)과 산포 증가(σ)를 따로 본다</a:t>
            </a:r>
          </a:p>
        </p:txBody>
      </p:sp>
      <p:sp>
        <p:nvSpPr>
          <p:cNvPr id="24" name="TextBox 23"/>
          <p:cNvSpPr txBox="1"/>
          <p:nvPr/>
        </p:nvSpPr>
        <p:spPr>
          <a:xfrm>
            <a:off x="6547104" y="2983230"/>
            <a:ext cx="2255520" cy="857250"/>
          </a:xfrm>
          <a:prstGeom prst="rect">
            <a:avLst/>
          </a:prstGeom>
          <a:noFill/>
        </p:spPr>
        <p:txBody>
          <a:bodyPr wrap="square" lIns="0" rIns="0" tIns="0" bIns="0" anchor="ctr">
            <a:noAutofit/>
          </a:bodyPr>
          <a:lstStyle/>
          <a:p>
            <a:pPr algn="l">
              <a:lnSpc>
                <a:spcPct val="110000"/>
              </a:lnSpc>
            </a:pPr>
            <a:r>
              <a:rPr sz="1600" b="1">
                <a:solidFill>
                  <a:srgbClr val="3E7EDE"/>
                </a:solidFill>
                <a:latin typeface="맑은 고딕"/>
                <a:ea typeface="맑은 고딕"/>
                <a:cs typeface="맑은 고딕"/>
              </a:rPr>
              <a:t>Vth shift (mV)</a:t>
            </a:r>
          </a:p>
        </p:txBody>
      </p:sp>
      <p:sp>
        <p:nvSpPr>
          <p:cNvPr id="25" name="TextBox 24"/>
          <p:cNvSpPr txBox="1"/>
          <p:nvPr/>
        </p:nvSpPr>
        <p:spPr>
          <a:xfrm>
            <a:off x="8839200" y="2983230"/>
            <a:ext cx="2889504" cy="857250"/>
          </a:xfrm>
          <a:prstGeom prst="rect">
            <a:avLst/>
          </a:prstGeom>
          <a:noFill/>
        </p:spPr>
        <p:txBody>
          <a:bodyPr wrap="square" lIns="0" rIns="0" tIns="0" bIns="0" anchor="ctr">
            <a:noAutofit/>
          </a:bodyPr>
          <a:lstStyle/>
          <a:p>
            <a:pPr algn="l">
              <a:lnSpc>
                <a:spcPct val="110000"/>
              </a:lnSpc>
            </a:pPr>
            <a:r>
              <a:rPr sz="1500" b="0">
                <a:solidFill>
                  <a:srgbClr val="000000"/>
                </a:solidFill>
                <a:latin typeface="Malgun Gothic Semilight"/>
                <a:ea typeface="Malgun Gothic Semilight"/>
                <a:cs typeface="Malgun Gothic Semilight"/>
              </a:rPr>
              <a:t>NMOS 공통 · PG–PD skew · PMOS</a:t>
            </a:r>
          </a:p>
        </p:txBody>
      </p:sp>
      <p:sp>
        <p:nvSpPr>
          <p:cNvPr id="26" name="Rectangle 25"/>
          <p:cNvSpPr/>
          <p:nvPr/>
        </p:nvSpPr>
        <p:spPr>
          <a:xfrm>
            <a:off x="463296" y="3924427"/>
            <a:ext cx="11265408" cy="24130"/>
          </a:xfrm>
          <a:prstGeom prst="rect">
            <a:avLst/>
          </a:prstGeom>
          <a:solidFill>
            <a:srgbClr val="E7E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5488" y="4025646"/>
            <a:ext cx="5364480" cy="857250"/>
          </a:xfrm>
          <a:prstGeom prst="rect">
            <a:avLst/>
          </a:prstGeom>
          <a:noFill/>
        </p:spPr>
        <p:txBody>
          <a:bodyPr wrap="square" lIns="0" rIns="0" tIns="0" bIns="0" anchor="ctr">
            <a:noAutofit/>
          </a:bodyPr>
          <a:lstStyle/>
          <a:p>
            <a:pPr algn="l">
              <a:lnSpc>
                <a:spcPct val="115000"/>
              </a:lnSpc>
            </a:pPr>
            <a:r>
              <a:rPr sz="1600" b="1">
                <a:solidFill>
                  <a:srgbClr val="1428A0"/>
                </a:solidFill>
                <a:latin typeface="맑은 고딕"/>
                <a:ea typeface="맑은 고딕"/>
                <a:cs typeface="맑은 고딕"/>
              </a:rPr>
              <a:t>안정적인 역해</a:t>
            </a:r>
            <a:r>
              <a:rPr sz="1600" b="0">
                <a:solidFill>
                  <a:srgbClr val="000000"/>
                </a:solidFill>
                <a:latin typeface="Malgun Gothic Semilight"/>
                <a:ea typeface="Malgun Gothic Semilight"/>
                <a:cs typeface="Malgun Gothic Semilight"/>
              </a:rPr>
              <a:t> — yield 식이 VDD에 단조 → 1차원 이분 탐색</a:t>
            </a:r>
          </a:p>
        </p:txBody>
      </p:sp>
      <p:sp>
        <p:nvSpPr>
          <p:cNvPr id="28" name="TextBox 27"/>
          <p:cNvSpPr txBox="1"/>
          <p:nvPr/>
        </p:nvSpPr>
        <p:spPr>
          <a:xfrm>
            <a:off x="6547104" y="4025646"/>
            <a:ext cx="2255520" cy="857250"/>
          </a:xfrm>
          <a:prstGeom prst="rect">
            <a:avLst/>
          </a:prstGeom>
          <a:noFill/>
        </p:spPr>
        <p:txBody>
          <a:bodyPr wrap="square" lIns="0" rIns="0" tIns="0" bIns="0" anchor="ctr">
            <a:noAutofit/>
          </a:bodyPr>
          <a:lstStyle/>
          <a:p>
            <a:pPr algn="l">
              <a:lnSpc>
                <a:spcPct val="110000"/>
              </a:lnSpc>
            </a:pPr>
            <a:r>
              <a:rPr sz="1600" b="1">
                <a:solidFill>
                  <a:srgbClr val="3E7EDE"/>
                </a:solidFill>
                <a:latin typeface="맑은 고딕"/>
                <a:ea typeface="맑은 고딕"/>
                <a:cs typeface="맑은 고딕"/>
              </a:rPr>
              <a:t>local-σ 배율 (mismatch)</a:t>
            </a:r>
          </a:p>
        </p:txBody>
      </p:sp>
      <p:sp>
        <p:nvSpPr>
          <p:cNvPr id="29" name="TextBox 28"/>
          <p:cNvSpPr txBox="1"/>
          <p:nvPr/>
        </p:nvSpPr>
        <p:spPr>
          <a:xfrm>
            <a:off x="8839200" y="4025646"/>
            <a:ext cx="2889504" cy="857250"/>
          </a:xfrm>
          <a:prstGeom prst="rect">
            <a:avLst/>
          </a:prstGeom>
          <a:noFill/>
        </p:spPr>
        <p:txBody>
          <a:bodyPr wrap="square" lIns="0" rIns="0" tIns="0" bIns="0" anchor="ctr">
            <a:noAutofit/>
          </a:bodyPr>
          <a:lstStyle/>
          <a:p>
            <a:pPr algn="l">
              <a:lnSpc>
                <a:spcPct val="110000"/>
              </a:lnSpc>
            </a:pPr>
            <a:r>
              <a:rPr sz="1500" b="0">
                <a:solidFill>
                  <a:srgbClr val="000000"/>
                </a:solidFill>
                <a:latin typeface="Malgun Gothic Semilight"/>
                <a:ea typeface="Malgun Gothic Semilight"/>
                <a:cs typeface="Malgun Gothic Semilight"/>
              </a:rPr>
              <a:t>NMOS 공통 · PG–PD skew · PMOS</a:t>
            </a:r>
          </a:p>
        </p:txBody>
      </p:sp>
      <p:sp>
        <p:nvSpPr>
          <p:cNvPr id="30" name="Rectangle 29"/>
          <p:cNvSpPr/>
          <p:nvPr/>
        </p:nvSpPr>
        <p:spPr>
          <a:xfrm>
            <a:off x="463296" y="4966843"/>
            <a:ext cx="11265408" cy="24130"/>
          </a:xfrm>
          <a:prstGeom prst="rect">
            <a:avLst/>
          </a:prstGeom>
          <a:solidFill>
            <a:srgbClr val="E7E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5488" y="5068062"/>
            <a:ext cx="5364480" cy="857250"/>
          </a:xfrm>
          <a:prstGeom prst="rect">
            <a:avLst/>
          </a:prstGeom>
          <a:noFill/>
        </p:spPr>
        <p:txBody>
          <a:bodyPr wrap="square" lIns="0" rIns="0" tIns="0" bIns="0" anchor="ctr">
            <a:noAutofit/>
          </a:bodyPr>
          <a:lstStyle/>
          <a:p>
            <a:pPr algn="l">
              <a:lnSpc>
                <a:spcPct val="115000"/>
              </a:lnSpc>
            </a:pPr>
            <a:r>
              <a:rPr sz="1600" b="1">
                <a:solidFill>
                  <a:srgbClr val="1428A0"/>
                </a:solidFill>
                <a:latin typeface="맑은 고딕"/>
                <a:ea typeface="맑은 고딕"/>
                <a:cs typeface="맑은 고딕"/>
              </a:rPr>
              <a:t>σ가 정확도를 좌우</a:t>
            </a:r>
            <a:r>
              <a:rPr sz="1600" b="0">
                <a:solidFill>
                  <a:srgbClr val="000000"/>
                </a:solidFill>
                <a:latin typeface="Malgun Gothic Semilight"/>
                <a:ea typeface="Malgun Gothic Semilight"/>
                <a:cs typeface="Malgun Gothic Semilight"/>
              </a:rPr>
              <a:t> — log σ 위 full-ARD kernel</a:t>
            </a:r>
          </a:p>
        </p:txBody>
      </p:sp>
      <p:sp>
        <p:nvSpPr>
          <p:cNvPr id="32" name="TextBox 31"/>
          <p:cNvSpPr txBox="1"/>
          <p:nvPr/>
        </p:nvSpPr>
        <p:spPr>
          <a:xfrm>
            <a:off x="6547104" y="5068062"/>
            <a:ext cx="2255520" cy="857250"/>
          </a:xfrm>
          <a:prstGeom prst="rect">
            <a:avLst/>
          </a:prstGeom>
          <a:noFill/>
        </p:spPr>
        <p:txBody>
          <a:bodyPr wrap="square" lIns="0" rIns="0" tIns="0" bIns="0" anchor="ctr">
            <a:noAutofit/>
          </a:bodyPr>
          <a:lstStyle/>
          <a:p>
            <a:pPr algn="l">
              <a:lnSpc>
                <a:spcPct val="110000"/>
              </a:lnSpc>
            </a:pPr>
            <a:r>
              <a:rPr sz="1600" b="1">
                <a:solidFill>
                  <a:srgbClr val="3E7EDE"/>
                </a:solidFill>
                <a:latin typeface="맑은 고딕"/>
                <a:ea typeface="맑은 고딕"/>
                <a:cs typeface="맑은 고딕"/>
              </a:rPr>
              <a:t>mobility 배율</a:t>
            </a:r>
          </a:p>
        </p:txBody>
      </p:sp>
      <p:sp>
        <p:nvSpPr>
          <p:cNvPr id="33" name="TextBox 32"/>
          <p:cNvSpPr txBox="1"/>
          <p:nvPr/>
        </p:nvSpPr>
        <p:spPr>
          <a:xfrm>
            <a:off x="8839200" y="5068062"/>
            <a:ext cx="2889504" cy="857250"/>
          </a:xfrm>
          <a:prstGeom prst="rect">
            <a:avLst/>
          </a:prstGeom>
          <a:noFill/>
        </p:spPr>
        <p:txBody>
          <a:bodyPr wrap="square" lIns="0" rIns="0" tIns="0" bIns="0" anchor="ctr">
            <a:noAutofit/>
          </a:bodyPr>
          <a:lstStyle/>
          <a:p>
            <a:pPr algn="l">
              <a:lnSpc>
                <a:spcPct val="110000"/>
              </a:lnSpc>
            </a:pPr>
            <a:r>
              <a:rPr sz="1500" b="0">
                <a:solidFill>
                  <a:srgbClr val="000000"/>
                </a:solidFill>
                <a:latin typeface="Malgun Gothic Semilight"/>
                <a:ea typeface="Malgun Gothic Semilight"/>
                <a:cs typeface="Malgun Gothic Semilight"/>
              </a:rPr>
              <a:t>NMOS 공통 · PG–PD skew · PMOS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75488" y="233172"/>
            <a:ext cx="11253216" cy="541782"/>
          </a:xfrm>
          <a:prstGeom prst="rect">
            <a:avLst/>
          </a:prstGeom>
          <a:noFill/>
        </p:spPr>
        <p:txBody>
          <a:bodyPr wrap="square" lIns="0" rIns="0" tIns="0" bIns="0" anchor="ctr">
            <a:noAutofit/>
          </a:bodyPr>
          <a:lstStyle/>
          <a:p>
            <a:pPr algn="l">
              <a:lnSpc>
                <a:spcPct val="110000"/>
              </a:lnSpc>
            </a:pPr>
            <a:r>
              <a:rPr sz="3000" b="1">
                <a:solidFill>
                  <a:srgbClr val="000000"/>
                </a:solidFill>
                <a:latin typeface="맑은 고딕"/>
                <a:ea typeface="맑은 고딕"/>
                <a:cs typeface="맑은 고딕"/>
              </a:rPr>
              <a:t>학습에 없던 조건에서도 Vmin 오차는 수 mV</a:t>
            </a:r>
          </a:p>
        </p:txBody>
      </p:sp>
      <p:sp>
        <p:nvSpPr>
          <p:cNvPr id="3" name="Rectangle 2"/>
          <p:cNvSpPr/>
          <p:nvPr/>
        </p:nvSpPr>
        <p:spPr>
          <a:xfrm>
            <a:off x="463296" y="887984"/>
            <a:ext cx="11265408" cy="48260"/>
          </a:xfrm>
          <a:prstGeom prst="rect">
            <a:avLst/>
          </a:prstGeom>
          <a:solidFill>
            <a:srgbClr val="E7E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6720" y="6480810"/>
            <a:ext cx="182880" cy="205740"/>
          </a:xfrm>
          <a:prstGeom prst="rect">
            <a:avLst/>
          </a:prstGeom>
          <a:noFill/>
        </p:spPr>
        <p:txBody>
          <a:bodyPr wrap="square" lIns="0" rIns="0" tIns="0" bIns="0" anchor="t">
            <a:noAutofit/>
          </a:bodyPr>
          <a:lstStyle/>
          <a:p>
            <a:pPr algn="l">
              <a:lnSpc>
                <a:spcPct val="110000"/>
              </a:lnSpc>
            </a:pPr>
            <a:r>
              <a:rPr sz="1000" b="1">
                <a:solidFill>
                  <a:srgbClr val="44566A"/>
                </a:solidFill>
                <a:latin typeface="맑은 고딕"/>
                <a:ea typeface="맑은 고딕"/>
                <a:cs typeface="맑은 고딕"/>
              </a:rPr>
              <a:t>5</a:t>
            </a:r>
          </a:p>
        </p:txBody>
      </p:sp>
      <p:sp>
        <p:nvSpPr>
          <p:cNvPr id="5" name="TextBox 4"/>
          <p:cNvSpPr txBox="1"/>
          <p:nvPr/>
        </p:nvSpPr>
        <p:spPr>
          <a:xfrm>
            <a:off x="670560" y="6494526"/>
            <a:ext cx="9022080" cy="205740"/>
          </a:xfrm>
          <a:prstGeom prst="rect">
            <a:avLst/>
          </a:prstGeom>
          <a:noFill/>
        </p:spPr>
        <p:txBody>
          <a:bodyPr wrap="square" lIns="0" rIns="0" tIns="0" bIns="0" anchor="t">
            <a:noAutofit/>
          </a:bodyPr>
          <a:lstStyle/>
          <a:p>
            <a:pPr algn="l">
              <a:lnSpc>
                <a:spcPct val="110000"/>
              </a:lnSpc>
            </a:pPr>
            <a:r>
              <a:rPr sz="900" b="0">
                <a:solidFill>
                  <a:srgbClr val="4C5759"/>
                </a:solidFill>
                <a:latin typeface="Malgun Gothic Semilight"/>
                <a:ea typeface="Malgun Gothic Semilight"/>
                <a:cs typeface="Malgun Gothic Semilight"/>
              </a:rPr>
              <a:t>기준값 = 독립 HSPICE MC (silicon 실측 아님) · hold-out 300 조건 중 판정 가능한 read 245 / write 228 조건</a:t>
            </a:r>
          </a:p>
        </p:txBody>
      </p:sp>
      <p:sp>
        <p:nvSpPr>
          <p:cNvPr id="6" name="TextBox 5"/>
          <p:cNvSpPr txBox="1"/>
          <p:nvPr/>
        </p:nvSpPr>
        <p:spPr>
          <a:xfrm>
            <a:off x="9265920" y="6487668"/>
            <a:ext cx="2462784" cy="205740"/>
          </a:xfrm>
          <a:prstGeom prst="rect">
            <a:avLst/>
          </a:prstGeom>
          <a:noFill/>
        </p:spPr>
        <p:txBody>
          <a:bodyPr wrap="square" lIns="0" rIns="0" tIns="0" bIns="0" anchor="t">
            <a:noAutofit/>
          </a:bodyPr>
          <a:lstStyle/>
          <a:p>
            <a:pPr algn="r">
              <a:lnSpc>
                <a:spcPct val="110000"/>
              </a:lnSpc>
            </a:pPr>
            <a:r>
              <a:rPr sz="900" b="0">
                <a:solidFill>
                  <a:srgbClr val="7F7F7F"/>
                </a:solidFill>
                <a:latin typeface="Malgun Gothic Semilight"/>
                <a:ea typeface="Malgun Gothic Semilight"/>
                <a:cs typeface="Malgun Gothic Semilight"/>
              </a:rPr>
              <a:t>SRAM Vmin surrogate</a:t>
            </a:r>
          </a:p>
        </p:txBody>
      </p:sp>
      <p:sp>
        <p:nvSpPr>
          <p:cNvPr id="7" name="TextBox 6"/>
          <p:cNvSpPr txBox="1"/>
          <p:nvPr/>
        </p:nvSpPr>
        <p:spPr>
          <a:xfrm>
            <a:off x="475488" y="1056132"/>
            <a:ext cx="11253216" cy="301752"/>
          </a:xfrm>
          <a:prstGeom prst="rect">
            <a:avLst/>
          </a:prstGeom>
          <a:noFill/>
        </p:spPr>
        <p:txBody>
          <a:bodyPr wrap="square" lIns="0" rIns="0" tIns="0" bIns="0" anchor="t">
            <a:noAutofit/>
          </a:bodyPr>
          <a:lstStyle/>
          <a:p>
            <a:pPr algn="l">
              <a:lnSpc>
                <a:spcPct val="110000"/>
              </a:lnSpc>
            </a:pPr>
            <a:r>
              <a:rPr sz="1800" b="1">
                <a:solidFill>
                  <a:srgbClr val="1428A0"/>
                </a:solidFill>
                <a:latin typeface="맑은 고딕"/>
                <a:ea typeface="맑은 고딕"/>
                <a:cs typeface="맑은 고딕"/>
              </a:rPr>
              <a:t>① 정확도 — 이 공정 조건에서 Vmin은?</a:t>
            </a:r>
          </a:p>
        </p:txBody>
      </p:sp>
      <p:pic>
        <p:nvPicPr>
          <p:cNvPr id="8" name="Picture 7" descr="fig3_forward.png"/>
          <p:cNvPicPr>
            <a:picLocks noChangeAspect="1"/>
          </p:cNvPicPr>
          <p:nvPr/>
        </p:nvPicPr>
        <p:blipFill>
          <a:blip r:embed="rId3"/>
          <a:stretch>
            <a:fillRect/>
          </a:stretch>
        </p:blipFill>
        <p:spPr>
          <a:xfrm>
            <a:off x="463296" y="1474470"/>
            <a:ext cx="7376160" cy="3053953"/>
          </a:xfrm>
          <a:prstGeom prst="rect">
            <a:avLst/>
          </a:prstGeom>
        </p:spPr>
      </p:pic>
      <p:sp>
        <p:nvSpPr>
          <p:cNvPr id="9" name="TextBox 8"/>
          <p:cNvSpPr txBox="1"/>
          <p:nvPr/>
        </p:nvSpPr>
        <p:spPr>
          <a:xfrm>
            <a:off x="475488" y="4732020"/>
            <a:ext cx="7315200" cy="548640"/>
          </a:xfrm>
          <a:prstGeom prst="rect">
            <a:avLst/>
          </a:prstGeom>
          <a:noFill/>
        </p:spPr>
        <p:txBody>
          <a:bodyPr wrap="square" lIns="0" rIns="0" tIns="0" bIns="0" anchor="t">
            <a:noAutofit/>
          </a:bodyPr>
          <a:lstStyle/>
          <a:p>
            <a:pPr algn="l">
              <a:lnSpc>
                <a:spcPct val="130000"/>
              </a:lnSpc>
            </a:pPr>
            <a:r>
              <a:rPr sz="1300" b="0">
                <a:solidFill>
                  <a:srgbClr val="7F7F7F"/>
                </a:solidFill>
                <a:latin typeface="Malgun Gothic Semilight"/>
                <a:ea typeface="Malgun Gothic Semilight"/>
                <a:cs typeface="Malgun Gothic Semilight"/>
              </a:rPr>
              <a:t>점이 대각선에 붙을수록 정확 · 회색 띠 = ±10 mV</a:t>
            </a:r>
          </a:p>
          <a:p>
            <a:pPr algn="l">
              <a:lnSpc>
                <a:spcPct val="130000"/>
              </a:lnSpc>
            </a:pPr>
            <a:r>
              <a:rPr sz="1300" b="0">
                <a:solidFill>
                  <a:srgbClr val="7F7F7F"/>
                </a:solidFill>
                <a:latin typeface="Malgun Gothic Semilight"/>
                <a:ea typeface="Malgun Gothic Semilight"/>
                <a:cs typeface="Malgun Gothic Semilight"/>
              </a:rPr>
              <a:t>왼쪽 read (SNM, 125 °C) · 오른쪽 write (Vtrip, −40 °C)</a:t>
            </a:r>
          </a:p>
        </p:txBody>
      </p:sp>
      <p:sp>
        <p:nvSpPr>
          <p:cNvPr id="10" name="TextBox 9"/>
          <p:cNvSpPr txBox="1"/>
          <p:nvPr/>
        </p:nvSpPr>
        <p:spPr>
          <a:xfrm>
            <a:off x="8229600" y="1474470"/>
            <a:ext cx="3499104" cy="274320"/>
          </a:xfrm>
          <a:prstGeom prst="rect">
            <a:avLst/>
          </a:prstGeom>
          <a:noFill/>
        </p:spPr>
        <p:txBody>
          <a:bodyPr wrap="square" lIns="0" rIns="0" tIns="0" bIns="0" anchor="t">
            <a:noAutofit/>
          </a:bodyPr>
          <a:lstStyle/>
          <a:p>
            <a:pPr algn="l">
              <a:lnSpc>
                <a:spcPct val="110000"/>
              </a:lnSpc>
            </a:pPr>
            <a:r>
              <a:rPr sz="1400" b="1">
                <a:solidFill>
                  <a:srgbClr val="000000"/>
                </a:solidFill>
                <a:latin typeface="맑은 고딕"/>
                <a:ea typeface="맑은 고딕"/>
                <a:cs typeface="맑은 고딕"/>
              </a:rPr>
              <a:t>Hold-out Vmin RMSE</a:t>
            </a:r>
          </a:p>
        </p:txBody>
      </p:sp>
      <p:sp>
        <p:nvSpPr>
          <p:cNvPr id="11" name="TextBox 10"/>
          <p:cNvSpPr txBox="1"/>
          <p:nvPr/>
        </p:nvSpPr>
        <p:spPr>
          <a:xfrm>
            <a:off x="8229600" y="1817370"/>
            <a:ext cx="1743456" cy="548640"/>
          </a:xfrm>
          <a:prstGeom prst="rect">
            <a:avLst/>
          </a:prstGeom>
          <a:noFill/>
        </p:spPr>
        <p:txBody>
          <a:bodyPr wrap="square" lIns="0" rIns="0" tIns="0" bIns="0" anchor="t">
            <a:noAutofit/>
          </a:bodyPr>
          <a:lstStyle/>
          <a:p>
            <a:pPr algn="ctr">
              <a:lnSpc>
                <a:spcPct val="110000"/>
              </a:lnSpc>
            </a:pPr>
            <a:r>
              <a:rPr sz="3000" b="1">
                <a:solidFill>
                  <a:srgbClr val="1428A0"/>
                </a:solidFill>
                <a:latin typeface="맑은 고딕"/>
                <a:ea typeface="맑은 고딕"/>
                <a:cs typeface="맑은 고딕"/>
              </a:rPr>
              <a:t>3.98</a:t>
            </a:r>
            <a:r>
              <a:rPr sz="1800">
                <a:solidFill>
                  <a:srgbClr val="1428A0"/>
                </a:solidFill>
                <a:latin typeface="Malgun Gothic Semilight"/>
                <a:ea typeface="Malgun Gothic Semilight"/>
                <a:cs typeface="Malgun Gothic Semilight"/>
              </a:rPr>
              <a:t> mV</a:t>
            </a:r>
          </a:p>
        </p:txBody>
      </p:sp>
      <p:sp>
        <p:nvSpPr>
          <p:cNvPr id="12" name="TextBox 11"/>
          <p:cNvSpPr txBox="1"/>
          <p:nvPr/>
        </p:nvSpPr>
        <p:spPr>
          <a:xfrm>
            <a:off x="8229600" y="2407158"/>
            <a:ext cx="1743456" cy="240030"/>
          </a:xfrm>
          <a:prstGeom prst="rect">
            <a:avLst/>
          </a:prstGeom>
          <a:noFill/>
        </p:spPr>
        <p:txBody>
          <a:bodyPr wrap="square" lIns="0" rIns="0" tIns="0" bIns="0" anchor="t">
            <a:noAutofit/>
          </a:bodyPr>
          <a:lstStyle/>
          <a:p>
            <a:pPr algn="ctr">
              <a:lnSpc>
                <a:spcPct val="110000"/>
              </a:lnSpc>
            </a:pPr>
            <a:r>
              <a:rPr sz="1200" b="0">
                <a:solidFill>
                  <a:srgbClr val="7F7F7F"/>
                </a:solidFill>
                <a:latin typeface="Malgun Gothic Semilight"/>
                <a:ea typeface="Malgun Gothic Semilight"/>
                <a:cs typeface="Malgun Gothic Semilight"/>
              </a:rPr>
              <a:t>Read</a:t>
            </a:r>
          </a:p>
        </p:txBody>
      </p:sp>
      <p:sp>
        <p:nvSpPr>
          <p:cNvPr id="13" name="TextBox 12"/>
          <p:cNvSpPr txBox="1"/>
          <p:nvPr/>
        </p:nvSpPr>
        <p:spPr>
          <a:xfrm>
            <a:off x="9985248" y="1817370"/>
            <a:ext cx="1743456" cy="548640"/>
          </a:xfrm>
          <a:prstGeom prst="rect">
            <a:avLst/>
          </a:prstGeom>
          <a:noFill/>
        </p:spPr>
        <p:txBody>
          <a:bodyPr wrap="square" lIns="0" rIns="0" tIns="0" bIns="0" anchor="t">
            <a:noAutofit/>
          </a:bodyPr>
          <a:lstStyle/>
          <a:p>
            <a:pPr algn="ctr">
              <a:lnSpc>
                <a:spcPct val="110000"/>
              </a:lnSpc>
            </a:pPr>
            <a:r>
              <a:rPr sz="3000" b="1">
                <a:solidFill>
                  <a:srgbClr val="1428A0"/>
                </a:solidFill>
                <a:latin typeface="맑은 고딕"/>
                <a:ea typeface="맑은 고딕"/>
                <a:cs typeface="맑은 고딕"/>
              </a:rPr>
              <a:t>5.65</a:t>
            </a:r>
            <a:r>
              <a:rPr sz="1800">
                <a:solidFill>
                  <a:srgbClr val="1428A0"/>
                </a:solidFill>
                <a:latin typeface="Malgun Gothic Semilight"/>
                <a:ea typeface="Malgun Gothic Semilight"/>
                <a:cs typeface="Malgun Gothic Semilight"/>
              </a:rPr>
              <a:t> mV</a:t>
            </a:r>
          </a:p>
        </p:txBody>
      </p:sp>
      <p:sp>
        <p:nvSpPr>
          <p:cNvPr id="14" name="TextBox 13"/>
          <p:cNvSpPr txBox="1"/>
          <p:nvPr/>
        </p:nvSpPr>
        <p:spPr>
          <a:xfrm>
            <a:off x="9985248" y="2407158"/>
            <a:ext cx="1743456" cy="240030"/>
          </a:xfrm>
          <a:prstGeom prst="rect">
            <a:avLst/>
          </a:prstGeom>
          <a:noFill/>
        </p:spPr>
        <p:txBody>
          <a:bodyPr wrap="square" lIns="0" rIns="0" tIns="0" bIns="0" anchor="t">
            <a:noAutofit/>
          </a:bodyPr>
          <a:lstStyle/>
          <a:p>
            <a:pPr algn="ctr">
              <a:lnSpc>
                <a:spcPct val="110000"/>
              </a:lnSpc>
            </a:pPr>
            <a:r>
              <a:rPr sz="1200" b="0">
                <a:solidFill>
                  <a:srgbClr val="7F7F7F"/>
                </a:solidFill>
                <a:latin typeface="Malgun Gothic Semilight"/>
                <a:ea typeface="Malgun Gothic Semilight"/>
                <a:cs typeface="Malgun Gothic Semilight"/>
              </a:rPr>
              <a:t>Write</a:t>
            </a:r>
          </a:p>
        </p:txBody>
      </p:sp>
      <p:sp>
        <p:nvSpPr>
          <p:cNvPr id="15" name="Rectangle 14"/>
          <p:cNvSpPr/>
          <p:nvPr/>
        </p:nvSpPr>
        <p:spPr>
          <a:xfrm>
            <a:off x="9974389" y="1851660"/>
            <a:ext cx="9525" cy="68580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600" y="2868295"/>
            <a:ext cx="3499104" cy="24130"/>
          </a:xfrm>
          <a:prstGeom prst="rect">
            <a:avLst/>
          </a:prstGeom>
          <a:solidFill>
            <a:srgbClr val="E7E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0" y="3017520"/>
            <a:ext cx="3499104" cy="274320"/>
          </a:xfrm>
          <a:prstGeom prst="rect">
            <a:avLst/>
          </a:prstGeom>
          <a:noFill/>
        </p:spPr>
        <p:txBody>
          <a:bodyPr wrap="square" lIns="0" rIns="0" tIns="0" bIns="0" anchor="t">
            <a:noAutofit/>
          </a:bodyPr>
          <a:lstStyle/>
          <a:p>
            <a:pPr algn="l">
              <a:lnSpc>
                <a:spcPct val="110000"/>
              </a:lnSpc>
            </a:pPr>
            <a:r>
              <a:rPr sz="1400" b="1">
                <a:solidFill>
                  <a:srgbClr val="000000"/>
                </a:solidFill>
                <a:latin typeface="맑은 고딕"/>
                <a:ea typeface="맑은 고딕"/>
                <a:cs typeface="맑은 고딕"/>
              </a:rPr>
              <a:t>미학습 PDK corner 4개 RMSE</a:t>
            </a:r>
          </a:p>
        </p:txBody>
      </p:sp>
      <p:sp>
        <p:nvSpPr>
          <p:cNvPr id="18" name="TextBox 17"/>
          <p:cNvSpPr txBox="1"/>
          <p:nvPr/>
        </p:nvSpPr>
        <p:spPr>
          <a:xfrm>
            <a:off x="8229600" y="3360420"/>
            <a:ext cx="1743456" cy="548640"/>
          </a:xfrm>
          <a:prstGeom prst="rect">
            <a:avLst/>
          </a:prstGeom>
          <a:noFill/>
        </p:spPr>
        <p:txBody>
          <a:bodyPr wrap="square" lIns="0" rIns="0" tIns="0" bIns="0" anchor="t">
            <a:noAutofit/>
          </a:bodyPr>
          <a:lstStyle/>
          <a:p>
            <a:pPr algn="ctr">
              <a:lnSpc>
                <a:spcPct val="110000"/>
              </a:lnSpc>
            </a:pPr>
            <a:r>
              <a:rPr sz="3000" b="1">
                <a:solidFill>
                  <a:srgbClr val="1428A0"/>
                </a:solidFill>
                <a:latin typeface="맑은 고딕"/>
                <a:ea typeface="맑은 고딕"/>
                <a:cs typeface="맑은 고딕"/>
              </a:rPr>
              <a:t>8.5</a:t>
            </a:r>
            <a:r>
              <a:rPr sz="1800">
                <a:solidFill>
                  <a:srgbClr val="1428A0"/>
                </a:solidFill>
                <a:latin typeface="Malgun Gothic Semilight"/>
                <a:ea typeface="Malgun Gothic Semilight"/>
                <a:cs typeface="Malgun Gothic Semilight"/>
              </a:rPr>
              <a:t> mV</a:t>
            </a:r>
          </a:p>
        </p:txBody>
      </p:sp>
      <p:sp>
        <p:nvSpPr>
          <p:cNvPr id="19" name="TextBox 18"/>
          <p:cNvSpPr txBox="1"/>
          <p:nvPr/>
        </p:nvSpPr>
        <p:spPr>
          <a:xfrm>
            <a:off x="8229600" y="3950208"/>
            <a:ext cx="1743456" cy="240030"/>
          </a:xfrm>
          <a:prstGeom prst="rect">
            <a:avLst/>
          </a:prstGeom>
          <a:noFill/>
        </p:spPr>
        <p:txBody>
          <a:bodyPr wrap="square" lIns="0" rIns="0" tIns="0" bIns="0" anchor="t">
            <a:noAutofit/>
          </a:bodyPr>
          <a:lstStyle/>
          <a:p>
            <a:pPr algn="ctr">
              <a:lnSpc>
                <a:spcPct val="110000"/>
              </a:lnSpc>
            </a:pPr>
            <a:r>
              <a:rPr sz="1200" b="0">
                <a:solidFill>
                  <a:srgbClr val="7F7F7F"/>
                </a:solidFill>
                <a:latin typeface="Malgun Gothic Semilight"/>
                <a:ea typeface="Malgun Gothic Semilight"/>
                <a:cs typeface="Malgun Gothic Semilight"/>
              </a:rPr>
              <a:t>Read</a:t>
            </a:r>
          </a:p>
        </p:txBody>
      </p:sp>
      <p:sp>
        <p:nvSpPr>
          <p:cNvPr id="20" name="TextBox 19"/>
          <p:cNvSpPr txBox="1"/>
          <p:nvPr/>
        </p:nvSpPr>
        <p:spPr>
          <a:xfrm>
            <a:off x="9985248" y="3360420"/>
            <a:ext cx="1743456" cy="548640"/>
          </a:xfrm>
          <a:prstGeom prst="rect">
            <a:avLst/>
          </a:prstGeom>
          <a:noFill/>
        </p:spPr>
        <p:txBody>
          <a:bodyPr wrap="square" lIns="0" rIns="0" tIns="0" bIns="0" anchor="t">
            <a:noAutofit/>
          </a:bodyPr>
          <a:lstStyle/>
          <a:p>
            <a:pPr algn="ctr">
              <a:lnSpc>
                <a:spcPct val="110000"/>
              </a:lnSpc>
            </a:pPr>
            <a:r>
              <a:rPr sz="3000" b="1">
                <a:solidFill>
                  <a:srgbClr val="1428A0"/>
                </a:solidFill>
                <a:latin typeface="맑은 고딕"/>
                <a:ea typeface="맑은 고딕"/>
                <a:cs typeface="맑은 고딕"/>
              </a:rPr>
              <a:t>5.8</a:t>
            </a:r>
            <a:r>
              <a:rPr sz="1800">
                <a:solidFill>
                  <a:srgbClr val="1428A0"/>
                </a:solidFill>
                <a:latin typeface="Malgun Gothic Semilight"/>
                <a:ea typeface="Malgun Gothic Semilight"/>
                <a:cs typeface="Malgun Gothic Semilight"/>
              </a:rPr>
              <a:t> mV</a:t>
            </a:r>
          </a:p>
        </p:txBody>
      </p:sp>
      <p:sp>
        <p:nvSpPr>
          <p:cNvPr id="21" name="TextBox 20"/>
          <p:cNvSpPr txBox="1"/>
          <p:nvPr/>
        </p:nvSpPr>
        <p:spPr>
          <a:xfrm>
            <a:off x="9985248" y="3950208"/>
            <a:ext cx="1743456" cy="240030"/>
          </a:xfrm>
          <a:prstGeom prst="rect">
            <a:avLst/>
          </a:prstGeom>
          <a:noFill/>
        </p:spPr>
        <p:txBody>
          <a:bodyPr wrap="square" lIns="0" rIns="0" tIns="0" bIns="0" anchor="t">
            <a:noAutofit/>
          </a:bodyPr>
          <a:lstStyle/>
          <a:p>
            <a:pPr algn="ctr">
              <a:lnSpc>
                <a:spcPct val="110000"/>
              </a:lnSpc>
            </a:pPr>
            <a:r>
              <a:rPr sz="1200" b="0">
                <a:solidFill>
                  <a:srgbClr val="7F7F7F"/>
                </a:solidFill>
                <a:latin typeface="Malgun Gothic Semilight"/>
                <a:ea typeface="Malgun Gothic Semilight"/>
                <a:cs typeface="Malgun Gothic Semilight"/>
              </a:rPr>
              <a:t>Write</a:t>
            </a:r>
          </a:p>
        </p:txBody>
      </p:sp>
      <p:sp>
        <p:nvSpPr>
          <p:cNvPr id="22" name="Rectangle 21"/>
          <p:cNvSpPr/>
          <p:nvPr/>
        </p:nvSpPr>
        <p:spPr>
          <a:xfrm>
            <a:off x="9974389" y="3394710"/>
            <a:ext cx="9525" cy="68580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29600" y="4411345"/>
            <a:ext cx="3499104" cy="24130"/>
          </a:xfrm>
          <a:prstGeom prst="rect">
            <a:avLst/>
          </a:prstGeom>
          <a:solidFill>
            <a:srgbClr val="E7E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560570"/>
            <a:ext cx="3499104" cy="274320"/>
          </a:xfrm>
          <a:prstGeom prst="rect">
            <a:avLst/>
          </a:prstGeom>
          <a:noFill/>
        </p:spPr>
        <p:txBody>
          <a:bodyPr wrap="square" lIns="0" rIns="0" tIns="0" bIns="0" anchor="t">
            <a:noAutofit/>
          </a:bodyPr>
          <a:lstStyle/>
          <a:p>
            <a:pPr algn="l">
              <a:lnSpc>
                <a:spcPct val="110000"/>
              </a:lnSpc>
            </a:pPr>
            <a:r>
              <a:rPr sz="1400" b="1">
                <a:solidFill>
                  <a:srgbClr val="000000"/>
                </a:solidFill>
                <a:latin typeface="맑은 고딕"/>
                <a:ea typeface="맑은 고딕"/>
                <a:cs typeface="맑은 고딕"/>
              </a:rPr>
              <a:t>최악 corner 식별</a:t>
            </a:r>
          </a:p>
        </p:txBody>
      </p:sp>
      <p:sp>
        <p:nvSpPr>
          <p:cNvPr id="25" name="TextBox 24"/>
          <p:cNvSpPr txBox="1"/>
          <p:nvPr/>
        </p:nvSpPr>
        <p:spPr>
          <a:xfrm>
            <a:off x="8229600" y="4903470"/>
            <a:ext cx="1743456" cy="548640"/>
          </a:xfrm>
          <a:prstGeom prst="rect">
            <a:avLst/>
          </a:prstGeom>
          <a:noFill/>
        </p:spPr>
        <p:txBody>
          <a:bodyPr wrap="square" lIns="0" rIns="0" tIns="0" bIns="0" anchor="t">
            <a:noAutofit/>
          </a:bodyPr>
          <a:lstStyle/>
          <a:p>
            <a:pPr algn="ctr">
              <a:lnSpc>
                <a:spcPct val="110000"/>
              </a:lnSpc>
            </a:pPr>
            <a:r>
              <a:rPr sz="2400" b="1">
                <a:solidFill>
                  <a:srgbClr val="1428A0"/>
                </a:solidFill>
                <a:latin typeface="맑은 고딕"/>
                <a:ea typeface="맑은 고딕"/>
                <a:cs typeface="맑은 고딕"/>
              </a:rPr>
              <a:t>FSG ✓</a:t>
            </a:r>
            <a:r>
              <a:rPr sz="1800">
                <a:solidFill>
                  <a:srgbClr val="1428A0"/>
                </a:solidFill>
                <a:latin typeface="Malgun Gothic Semilight"/>
                <a:ea typeface="Malgun Gothic Semilight"/>
                <a:cs typeface="Malgun Gothic Semilight"/>
              </a:rPr>
              <a:t> </a:t>
            </a:r>
          </a:p>
        </p:txBody>
      </p:sp>
      <p:sp>
        <p:nvSpPr>
          <p:cNvPr id="26" name="TextBox 25"/>
          <p:cNvSpPr txBox="1"/>
          <p:nvPr/>
        </p:nvSpPr>
        <p:spPr>
          <a:xfrm>
            <a:off x="8229600" y="5493258"/>
            <a:ext cx="1743456" cy="240030"/>
          </a:xfrm>
          <a:prstGeom prst="rect">
            <a:avLst/>
          </a:prstGeom>
          <a:noFill/>
        </p:spPr>
        <p:txBody>
          <a:bodyPr wrap="square" lIns="0" rIns="0" tIns="0" bIns="0" anchor="t">
            <a:noAutofit/>
          </a:bodyPr>
          <a:lstStyle/>
          <a:p>
            <a:pPr algn="ctr">
              <a:lnSpc>
                <a:spcPct val="110000"/>
              </a:lnSpc>
            </a:pPr>
            <a:r>
              <a:rPr sz="1200" b="0">
                <a:solidFill>
                  <a:srgbClr val="7F7F7F"/>
                </a:solidFill>
                <a:latin typeface="Malgun Gothic Semilight"/>
                <a:ea typeface="Malgun Gothic Semilight"/>
                <a:cs typeface="Malgun Gothic Semilight"/>
              </a:rPr>
              <a:t>Read</a:t>
            </a:r>
          </a:p>
        </p:txBody>
      </p:sp>
      <p:sp>
        <p:nvSpPr>
          <p:cNvPr id="27" name="TextBox 26"/>
          <p:cNvSpPr txBox="1"/>
          <p:nvPr/>
        </p:nvSpPr>
        <p:spPr>
          <a:xfrm>
            <a:off x="9985248" y="4903470"/>
            <a:ext cx="1743456" cy="548640"/>
          </a:xfrm>
          <a:prstGeom prst="rect">
            <a:avLst/>
          </a:prstGeom>
          <a:noFill/>
        </p:spPr>
        <p:txBody>
          <a:bodyPr wrap="square" lIns="0" rIns="0" tIns="0" bIns="0" anchor="t">
            <a:noAutofit/>
          </a:bodyPr>
          <a:lstStyle/>
          <a:p>
            <a:pPr algn="ctr">
              <a:lnSpc>
                <a:spcPct val="110000"/>
              </a:lnSpc>
            </a:pPr>
            <a:r>
              <a:rPr sz="2400" b="1">
                <a:solidFill>
                  <a:srgbClr val="1428A0"/>
                </a:solidFill>
                <a:latin typeface="맑은 고딕"/>
                <a:ea typeface="맑은 고딕"/>
                <a:cs typeface="맑은 고딕"/>
              </a:rPr>
              <a:t>SFG ✓</a:t>
            </a:r>
            <a:r>
              <a:rPr sz="1800">
                <a:solidFill>
                  <a:srgbClr val="1428A0"/>
                </a:solidFill>
                <a:latin typeface="Malgun Gothic Semilight"/>
                <a:ea typeface="Malgun Gothic Semilight"/>
                <a:cs typeface="Malgun Gothic Semilight"/>
              </a:rPr>
              <a:t> </a:t>
            </a:r>
          </a:p>
        </p:txBody>
      </p:sp>
      <p:sp>
        <p:nvSpPr>
          <p:cNvPr id="28" name="TextBox 27"/>
          <p:cNvSpPr txBox="1"/>
          <p:nvPr/>
        </p:nvSpPr>
        <p:spPr>
          <a:xfrm>
            <a:off x="9985248" y="5493258"/>
            <a:ext cx="1743456" cy="240030"/>
          </a:xfrm>
          <a:prstGeom prst="rect">
            <a:avLst/>
          </a:prstGeom>
          <a:noFill/>
        </p:spPr>
        <p:txBody>
          <a:bodyPr wrap="square" lIns="0" rIns="0" tIns="0" bIns="0" anchor="t">
            <a:noAutofit/>
          </a:bodyPr>
          <a:lstStyle/>
          <a:p>
            <a:pPr algn="ctr">
              <a:lnSpc>
                <a:spcPct val="110000"/>
              </a:lnSpc>
            </a:pPr>
            <a:r>
              <a:rPr sz="1200" b="0">
                <a:solidFill>
                  <a:srgbClr val="7F7F7F"/>
                </a:solidFill>
                <a:latin typeface="Malgun Gothic Semilight"/>
                <a:ea typeface="Malgun Gothic Semilight"/>
                <a:cs typeface="Malgun Gothic Semilight"/>
              </a:rPr>
              <a:t>Write</a:t>
            </a:r>
          </a:p>
        </p:txBody>
      </p:sp>
      <p:sp>
        <p:nvSpPr>
          <p:cNvPr id="29" name="Rectangle 28"/>
          <p:cNvSpPr/>
          <p:nvPr/>
        </p:nvSpPr>
        <p:spPr>
          <a:xfrm>
            <a:off x="9974389" y="4937760"/>
            <a:ext cx="9525" cy="68580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75488" y="233172"/>
            <a:ext cx="11253216" cy="541782"/>
          </a:xfrm>
          <a:prstGeom prst="rect">
            <a:avLst/>
          </a:prstGeom>
          <a:noFill/>
        </p:spPr>
        <p:txBody>
          <a:bodyPr wrap="square" lIns="0" rIns="0" tIns="0" bIns="0" anchor="ctr">
            <a:noAutofit/>
          </a:bodyPr>
          <a:lstStyle/>
          <a:p>
            <a:pPr algn="l">
              <a:lnSpc>
                <a:spcPct val="110000"/>
              </a:lnSpc>
            </a:pPr>
            <a:r>
              <a:rPr sz="3000" b="1">
                <a:solidFill>
                  <a:srgbClr val="000000"/>
                </a:solidFill>
                <a:latin typeface="맑은 고딕"/>
                <a:ea typeface="맑은 고딕"/>
                <a:cs typeface="맑은 고딕"/>
              </a:rPr>
              <a:t>Read margin 분산의 38 % 이상은 corner 축 밖에 있다</a:t>
            </a:r>
          </a:p>
        </p:txBody>
      </p:sp>
      <p:sp>
        <p:nvSpPr>
          <p:cNvPr id="3" name="Rectangle 2"/>
          <p:cNvSpPr/>
          <p:nvPr/>
        </p:nvSpPr>
        <p:spPr>
          <a:xfrm>
            <a:off x="463296" y="887984"/>
            <a:ext cx="11265408" cy="48260"/>
          </a:xfrm>
          <a:prstGeom prst="rect">
            <a:avLst/>
          </a:prstGeom>
          <a:solidFill>
            <a:srgbClr val="E7E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6720" y="6480810"/>
            <a:ext cx="182880" cy="205740"/>
          </a:xfrm>
          <a:prstGeom prst="rect">
            <a:avLst/>
          </a:prstGeom>
          <a:noFill/>
        </p:spPr>
        <p:txBody>
          <a:bodyPr wrap="square" lIns="0" rIns="0" tIns="0" bIns="0" anchor="t">
            <a:noAutofit/>
          </a:bodyPr>
          <a:lstStyle/>
          <a:p>
            <a:pPr algn="l">
              <a:lnSpc>
                <a:spcPct val="110000"/>
              </a:lnSpc>
            </a:pPr>
            <a:r>
              <a:rPr sz="1000" b="1">
                <a:solidFill>
                  <a:srgbClr val="44566A"/>
                </a:solidFill>
                <a:latin typeface="맑은 고딕"/>
                <a:ea typeface="맑은 고딕"/>
                <a:cs typeface="맑은 고딕"/>
              </a:rPr>
              <a:t>6</a:t>
            </a:r>
          </a:p>
        </p:txBody>
      </p:sp>
      <p:sp>
        <p:nvSpPr>
          <p:cNvPr id="5" name="TextBox 4"/>
          <p:cNvSpPr txBox="1"/>
          <p:nvPr/>
        </p:nvSpPr>
        <p:spPr>
          <a:xfrm>
            <a:off x="670560" y="6494526"/>
            <a:ext cx="9022080" cy="205740"/>
          </a:xfrm>
          <a:prstGeom prst="rect">
            <a:avLst/>
          </a:prstGeom>
          <a:noFill/>
        </p:spPr>
        <p:txBody>
          <a:bodyPr wrap="square" lIns="0" rIns="0" tIns="0" bIns="0" anchor="t">
            <a:noAutofit/>
          </a:bodyPr>
          <a:lstStyle/>
          <a:p>
            <a:pPr algn="l">
              <a:lnSpc>
                <a:spcPct val="110000"/>
              </a:lnSpc>
            </a:pPr>
            <a:r>
              <a:rPr sz="900" b="0">
                <a:solidFill>
                  <a:srgbClr val="4C5759"/>
                </a:solidFill>
                <a:latin typeface="Malgun Gothic Semilight"/>
                <a:ea typeface="Malgun Gothic Semilight"/>
                <a:cs typeface="Malgun Gothic Semilight"/>
              </a:rPr>
              <a:t>total-order Sobol 지수 ST, read margin z at VDD = 0.625 V, 9개 축 전 범위 · ST는 상호작용을 포함해 합이 1을 넘을 수 있다</a:t>
            </a:r>
          </a:p>
        </p:txBody>
      </p:sp>
      <p:sp>
        <p:nvSpPr>
          <p:cNvPr id="6" name="TextBox 5"/>
          <p:cNvSpPr txBox="1"/>
          <p:nvPr/>
        </p:nvSpPr>
        <p:spPr>
          <a:xfrm>
            <a:off x="9265920" y="6487668"/>
            <a:ext cx="2462784" cy="205740"/>
          </a:xfrm>
          <a:prstGeom prst="rect">
            <a:avLst/>
          </a:prstGeom>
          <a:noFill/>
        </p:spPr>
        <p:txBody>
          <a:bodyPr wrap="square" lIns="0" rIns="0" tIns="0" bIns="0" anchor="t">
            <a:noAutofit/>
          </a:bodyPr>
          <a:lstStyle/>
          <a:p>
            <a:pPr algn="r">
              <a:lnSpc>
                <a:spcPct val="110000"/>
              </a:lnSpc>
            </a:pPr>
            <a:r>
              <a:rPr sz="900" b="0">
                <a:solidFill>
                  <a:srgbClr val="7F7F7F"/>
                </a:solidFill>
                <a:latin typeface="Malgun Gothic Semilight"/>
                <a:ea typeface="Malgun Gothic Semilight"/>
                <a:cs typeface="Malgun Gothic Semilight"/>
              </a:rPr>
              <a:t>SRAM Vmin surrogate</a:t>
            </a:r>
          </a:p>
        </p:txBody>
      </p:sp>
      <p:sp>
        <p:nvSpPr>
          <p:cNvPr id="7" name="TextBox 6"/>
          <p:cNvSpPr txBox="1"/>
          <p:nvPr/>
        </p:nvSpPr>
        <p:spPr>
          <a:xfrm>
            <a:off x="475488" y="1056132"/>
            <a:ext cx="11253216" cy="301752"/>
          </a:xfrm>
          <a:prstGeom prst="rect">
            <a:avLst/>
          </a:prstGeom>
          <a:noFill/>
        </p:spPr>
        <p:txBody>
          <a:bodyPr wrap="square" lIns="0" rIns="0" tIns="0" bIns="0" anchor="t">
            <a:noAutofit/>
          </a:bodyPr>
          <a:lstStyle/>
          <a:p>
            <a:pPr algn="l">
              <a:lnSpc>
                <a:spcPct val="110000"/>
              </a:lnSpc>
            </a:pPr>
            <a:r>
              <a:rPr sz="1800" b="1">
                <a:solidFill>
                  <a:srgbClr val="5B728D"/>
                </a:solidFill>
                <a:latin typeface="맑은 고딕"/>
                <a:ea typeface="맑은 고딕"/>
                <a:cs typeface="맑은 고딕"/>
              </a:rPr>
              <a:t>② 커버리지 — 어느 공정 축이 Vmin을 흔드나?</a:t>
            </a:r>
          </a:p>
        </p:txBody>
      </p:sp>
      <p:graphicFrame>
        <p:nvGraphicFramePr>
          <p:cNvPr id="8" name="Chart 7"/>
          <p:cNvGraphicFramePr>
            <a:graphicFrameLocks noGrp="1"/>
          </p:cNvGraphicFramePr>
          <p:nvPr/>
        </p:nvGraphicFramePr>
        <p:xfrm>
          <a:off x="463296" y="1440180"/>
          <a:ext cx="6705600" cy="4389120"/>
        </p:xfrm>
        <a:graphic>
          <a:graphicData uri="http://schemas.openxmlformats.org/drawingml/2006/chart">
            <c:chart xmlns:c="http://schemas.openxmlformats.org/drawingml/2006/chart" r:id="rId3"/>
          </a:graphicData>
        </a:graphic>
      </p:graphicFrame>
      <p:sp>
        <p:nvSpPr>
          <p:cNvPr id="9" name="Rectangle 8"/>
          <p:cNvSpPr/>
          <p:nvPr/>
        </p:nvSpPr>
        <p:spPr>
          <a:xfrm>
            <a:off x="2438400" y="5987034"/>
            <a:ext cx="158496" cy="157734"/>
          </a:xfrm>
          <a:prstGeom prst="rect">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57856" y="5952744"/>
            <a:ext cx="1706880" cy="226314"/>
          </a:xfrm>
          <a:prstGeom prst="rect">
            <a:avLst/>
          </a:prstGeom>
          <a:noFill/>
        </p:spPr>
        <p:txBody>
          <a:bodyPr wrap="square" lIns="0" rIns="0" tIns="0" bIns="0" anchor="t">
            <a:noAutofit/>
          </a:bodyPr>
          <a:lstStyle/>
          <a:p>
            <a:pPr algn="l">
              <a:lnSpc>
                <a:spcPct val="110000"/>
              </a:lnSpc>
            </a:pPr>
            <a:r>
              <a:rPr sz="1200" b="0">
                <a:solidFill>
                  <a:srgbClr val="7F7F7F"/>
                </a:solidFill>
                <a:latin typeface="Malgun Gothic Semilight"/>
                <a:ea typeface="Malgun Gothic Semilight"/>
                <a:cs typeface="Malgun Gothic Semilight"/>
              </a:rPr>
              <a:t>corner 축</a:t>
            </a:r>
          </a:p>
        </p:txBody>
      </p:sp>
      <p:sp>
        <p:nvSpPr>
          <p:cNvPr id="11" name="Rectangle 10"/>
          <p:cNvSpPr/>
          <p:nvPr/>
        </p:nvSpPr>
        <p:spPr>
          <a:xfrm>
            <a:off x="4023360" y="5987034"/>
            <a:ext cx="158496" cy="157734"/>
          </a:xfrm>
          <a:prstGeom prst="rect">
            <a:avLst/>
          </a:prstGeom>
          <a:solidFill>
            <a:srgbClr val="5B72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42816" y="5952744"/>
            <a:ext cx="1950720" cy="226314"/>
          </a:xfrm>
          <a:prstGeom prst="rect">
            <a:avLst/>
          </a:prstGeom>
          <a:noFill/>
        </p:spPr>
        <p:txBody>
          <a:bodyPr wrap="square" lIns="0" rIns="0" tIns="0" bIns="0" anchor="t">
            <a:noAutofit/>
          </a:bodyPr>
          <a:lstStyle/>
          <a:p>
            <a:pPr algn="l">
              <a:lnSpc>
                <a:spcPct val="110000"/>
              </a:lnSpc>
            </a:pPr>
            <a:r>
              <a:rPr sz="1200" b="0">
                <a:solidFill>
                  <a:srgbClr val="5B728D"/>
                </a:solidFill>
                <a:latin typeface="Malgun Gothic Semilight"/>
                <a:ea typeface="Malgun Gothic Semilight"/>
                <a:cs typeface="Malgun Gothic Semilight"/>
              </a:rPr>
              <a:t>corner 밖 축</a:t>
            </a:r>
          </a:p>
        </p:txBody>
      </p:sp>
      <p:sp>
        <p:nvSpPr>
          <p:cNvPr id="13" name="TextBox 12"/>
          <p:cNvSpPr txBox="1"/>
          <p:nvPr/>
        </p:nvSpPr>
        <p:spPr>
          <a:xfrm>
            <a:off x="7620000" y="1440180"/>
            <a:ext cx="4108704" cy="480060"/>
          </a:xfrm>
          <a:prstGeom prst="rect">
            <a:avLst/>
          </a:prstGeom>
          <a:noFill/>
        </p:spPr>
        <p:txBody>
          <a:bodyPr wrap="square" lIns="0" rIns="0" tIns="0" bIns="0" anchor="t">
            <a:noAutofit/>
          </a:bodyPr>
          <a:lstStyle/>
          <a:p>
            <a:pPr algn="l">
              <a:lnSpc>
                <a:spcPct val="110000"/>
              </a:lnSpc>
            </a:pPr>
            <a:r>
              <a:rPr sz="2800" b="1">
                <a:solidFill>
                  <a:srgbClr val="5B728D"/>
                </a:solidFill>
                <a:latin typeface="맑은 고딕"/>
                <a:ea typeface="맑은 고딕"/>
                <a:cs typeface="맑은 고딕"/>
              </a:rPr>
              <a:t>0.272 &gt; 0.200</a:t>
            </a:r>
          </a:p>
        </p:txBody>
      </p:sp>
      <p:sp>
        <p:nvSpPr>
          <p:cNvPr id="14" name="TextBox 13"/>
          <p:cNvSpPr txBox="1"/>
          <p:nvPr/>
        </p:nvSpPr>
        <p:spPr>
          <a:xfrm>
            <a:off x="7620000" y="1920240"/>
            <a:ext cx="4108704" cy="822960"/>
          </a:xfrm>
          <a:prstGeom prst="rect">
            <a:avLst/>
          </a:prstGeom>
          <a:noFill/>
        </p:spPr>
        <p:txBody>
          <a:bodyPr wrap="square" lIns="0" rIns="0" tIns="0" bIns="0" anchor="t">
            <a:noAutofit/>
          </a:bodyPr>
          <a:lstStyle/>
          <a:p>
            <a:pPr algn="l">
              <a:lnSpc>
                <a:spcPct val="105000"/>
              </a:lnSpc>
            </a:pPr>
            <a:r>
              <a:rPr sz="1500" b="0">
                <a:solidFill>
                  <a:srgbClr val="000000"/>
                </a:solidFill>
                <a:latin typeface="Malgun Gothic Semilight"/>
                <a:ea typeface="Malgun Gothic Semilight"/>
                <a:cs typeface="Malgun Gothic Semilight"/>
              </a:rPr>
              <a:t>NMOS local mismatch(kσN)가</a:t>
            </a:r>
          </a:p>
          <a:p>
            <a:pPr algn="l">
              <a:lnSpc>
                <a:spcPct val="105000"/>
              </a:lnSpc>
            </a:pPr>
            <a:r>
              <a:rPr sz="1500" b="0">
                <a:solidFill>
                  <a:srgbClr val="000000"/>
                </a:solidFill>
                <a:latin typeface="Malgun Gothic Semilight"/>
                <a:ea typeface="Malgun Gothic Semilight"/>
                <a:cs typeface="Malgun Gothic Semilight"/>
              </a:rPr>
              <a:t>PMOS Vth corner 축(ΔVth,P)보다</a:t>
            </a:r>
          </a:p>
          <a:p>
            <a:pPr algn="l">
              <a:lnSpc>
                <a:spcPct val="105000"/>
              </a:lnSpc>
            </a:pPr>
            <a:r>
              <a:rPr sz="1500" b="0">
                <a:solidFill>
                  <a:srgbClr val="000000"/>
                </a:solidFill>
                <a:latin typeface="Malgun Gothic Semilight"/>
                <a:ea typeface="Malgun Gothic Semilight"/>
                <a:cs typeface="Malgun Gothic Semilight"/>
              </a:rPr>
              <a:t>read 분산에 </a:t>
            </a:r>
            <a:r>
              <a:rPr sz="1500" b="1">
                <a:solidFill>
                  <a:srgbClr val="5B728D"/>
                </a:solidFill>
                <a:latin typeface="맑은 고딕"/>
                <a:ea typeface="맑은 고딕"/>
                <a:cs typeface="맑은 고딕"/>
              </a:rPr>
              <a:t>더 크게</a:t>
            </a:r>
            <a:r>
              <a:rPr sz="1500" b="0">
                <a:solidFill>
                  <a:srgbClr val="000000"/>
                </a:solidFill>
                <a:latin typeface="Malgun Gothic Semilight"/>
                <a:ea typeface="Malgun Gothic Semilight"/>
                <a:cs typeface="Malgun Gothic Semilight"/>
              </a:rPr>
              <a:t> 기여</a:t>
            </a:r>
          </a:p>
        </p:txBody>
      </p:sp>
      <p:sp>
        <p:nvSpPr>
          <p:cNvPr id="15" name="Rectangle 14"/>
          <p:cNvSpPr/>
          <p:nvPr/>
        </p:nvSpPr>
        <p:spPr>
          <a:xfrm>
            <a:off x="7620000" y="2834005"/>
            <a:ext cx="4108704" cy="24130"/>
          </a:xfrm>
          <a:prstGeom prst="rect">
            <a:avLst/>
          </a:prstGeom>
          <a:solidFill>
            <a:srgbClr val="E7E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20000" y="2969514"/>
            <a:ext cx="4108704" cy="480060"/>
          </a:xfrm>
          <a:prstGeom prst="rect">
            <a:avLst/>
          </a:prstGeom>
          <a:noFill/>
        </p:spPr>
        <p:txBody>
          <a:bodyPr wrap="square" lIns="0" rIns="0" tIns="0" bIns="0" anchor="t">
            <a:noAutofit/>
          </a:bodyPr>
          <a:lstStyle/>
          <a:p>
            <a:pPr algn="l">
              <a:lnSpc>
                <a:spcPct val="110000"/>
              </a:lnSpc>
            </a:pPr>
            <a:r>
              <a:rPr sz="2800" b="1">
                <a:solidFill>
                  <a:srgbClr val="5B728D"/>
                </a:solidFill>
                <a:latin typeface="맑은 고딕"/>
                <a:ea typeface="맑은 고딕"/>
                <a:cs typeface="맑은 고딕"/>
              </a:rPr>
              <a:t>≥ 38 %</a:t>
            </a:r>
          </a:p>
        </p:txBody>
      </p:sp>
      <p:sp>
        <p:nvSpPr>
          <p:cNvPr id="17" name="TextBox 16"/>
          <p:cNvSpPr txBox="1"/>
          <p:nvPr/>
        </p:nvSpPr>
        <p:spPr>
          <a:xfrm>
            <a:off x="7620000" y="3449574"/>
            <a:ext cx="4108704" cy="822960"/>
          </a:xfrm>
          <a:prstGeom prst="rect">
            <a:avLst/>
          </a:prstGeom>
          <a:noFill/>
        </p:spPr>
        <p:txBody>
          <a:bodyPr wrap="square" lIns="0" rIns="0" tIns="0" bIns="0" anchor="t">
            <a:noAutofit/>
          </a:bodyPr>
          <a:lstStyle/>
          <a:p>
            <a:pPr algn="l">
              <a:lnSpc>
                <a:spcPct val="105000"/>
              </a:lnSpc>
            </a:pPr>
            <a:r>
              <a:rPr sz="1500" b="0">
                <a:solidFill>
                  <a:srgbClr val="000000"/>
                </a:solidFill>
                <a:latin typeface="Malgun Gothic Semilight"/>
                <a:ea typeface="Malgun Gothic Semilight"/>
                <a:cs typeface="Malgun Gothic Semilight"/>
              </a:rPr>
              <a:t>corner 두 축의 합은 </a:t>
            </a:r>
            <a:r>
              <a:rPr sz="1500" b="1">
                <a:solidFill>
                  <a:srgbClr val="5B728D"/>
                </a:solidFill>
                <a:latin typeface="맑은 고딕"/>
                <a:ea typeface="맑은 고딕"/>
                <a:cs typeface="맑은 고딕"/>
              </a:rPr>
              <a:t>0.61이 상한</a:t>
            </a:r>
          </a:p>
          <a:p>
            <a:pPr algn="l">
              <a:lnSpc>
                <a:spcPct val="105000"/>
              </a:lnSpc>
            </a:pPr>
            <a:r>
              <a:rPr sz="1500" b="0">
                <a:solidFill>
                  <a:srgbClr val="000000"/>
                </a:solidFill>
                <a:latin typeface="Malgun Gothic Semilight"/>
                <a:ea typeface="Malgun Gothic Semilight"/>
                <a:cs typeface="Malgun Gothic Semilight"/>
              </a:rPr>
              <a:t>→ 나머지 7개 축이 분산의 </a:t>
            </a:r>
            <a:r>
              <a:rPr sz="1500" b="1">
                <a:solidFill>
                  <a:srgbClr val="5B728D"/>
                </a:solidFill>
                <a:latin typeface="맑은 고딕"/>
                <a:ea typeface="맑은 고딕"/>
                <a:cs typeface="맑은 고딕"/>
              </a:rPr>
              <a:t>최소 38 %</a:t>
            </a:r>
          </a:p>
        </p:txBody>
      </p:sp>
      <p:sp>
        <p:nvSpPr>
          <p:cNvPr id="18" name="Rectangle 17"/>
          <p:cNvSpPr/>
          <p:nvPr/>
        </p:nvSpPr>
        <p:spPr>
          <a:xfrm>
            <a:off x="7620000" y="4363339"/>
            <a:ext cx="4108704" cy="24130"/>
          </a:xfrm>
          <a:prstGeom prst="rect">
            <a:avLst/>
          </a:prstGeom>
          <a:solidFill>
            <a:srgbClr val="E7E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20000" y="4498848"/>
            <a:ext cx="4108704" cy="480060"/>
          </a:xfrm>
          <a:prstGeom prst="rect">
            <a:avLst/>
          </a:prstGeom>
          <a:noFill/>
        </p:spPr>
        <p:txBody>
          <a:bodyPr wrap="square" lIns="0" rIns="0" tIns="0" bIns="0" anchor="t">
            <a:noAutofit/>
          </a:bodyPr>
          <a:lstStyle/>
          <a:p>
            <a:pPr algn="l">
              <a:lnSpc>
                <a:spcPct val="110000"/>
              </a:lnSpc>
            </a:pPr>
            <a:r>
              <a:rPr sz="2400" b="1">
                <a:solidFill>
                  <a:srgbClr val="5B728D"/>
                </a:solidFill>
                <a:latin typeface="맑은 고딕"/>
                <a:ea typeface="맑은 고딕"/>
                <a:cs typeface="맑은 고딕"/>
              </a:rPr>
              <a:t>→ DTCO</a:t>
            </a:r>
          </a:p>
        </p:txBody>
      </p:sp>
      <p:sp>
        <p:nvSpPr>
          <p:cNvPr id="20" name="TextBox 19"/>
          <p:cNvSpPr txBox="1"/>
          <p:nvPr/>
        </p:nvSpPr>
        <p:spPr>
          <a:xfrm>
            <a:off x="7620000" y="4978908"/>
            <a:ext cx="4108704" cy="822960"/>
          </a:xfrm>
          <a:prstGeom prst="rect">
            <a:avLst/>
          </a:prstGeom>
          <a:noFill/>
        </p:spPr>
        <p:txBody>
          <a:bodyPr wrap="square" lIns="0" rIns="0" tIns="0" bIns="0" anchor="t">
            <a:noAutofit/>
          </a:bodyPr>
          <a:lstStyle/>
          <a:p>
            <a:pPr algn="l">
              <a:lnSpc>
                <a:spcPct val="105000"/>
              </a:lnSpc>
            </a:pPr>
            <a:r>
              <a:rPr sz="1500" b="0">
                <a:solidFill>
                  <a:srgbClr val="000000"/>
                </a:solidFill>
                <a:latin typeface="Malgun Gothic Semilight"/>
                <a:ea typeface="Malgun Gothic Semilight"/>
                <a:cs typeface="Malgun Gothic Semilight"/>
              </a:rPr>
              <a:t>corner만 보면 Vmin을 </a:t>
            </a:r>
            <a:r>
              <a:rPr sz="1500" b="1">
                <a:solidFill>
                  <a:srgbClr val="5B728D"/>
                </a:solidFill>
                <a:latin typeface="맑은 고딕"/>
                <a:ea typeface="맑은 고딕"/>
                <a:cs typeface="맑은 고딕"/>
              </a:rPr>
              <a:t>낙관적</a:t>
            </a:r>
            <a:r>
              <a:rPr sz="1500" b="0">
                <a:solidFill>
                  <a:srgbClr val="000000"/>
                </a:solidFill>
                <a:latin typeface="Malgun Gothic Semilight"/>
                <a:ea typeface="Malgun Gothic Semilight"/>
                <a:cs typeface="Malgun Gothic Semilight"/>
              </a:rPr>
              <a:t>으로 잡는다</a:t>
            </a:r>
          </a:p>
          <a:p>
            <a:pPr algn="l">
              <a:lnSpc>
                <a:spcPct val="105000"/>
              </a:lnSpc>
            </a:pPr>
            <a:r>
              <a:rPr sz="1500" b="0">
                <a:solidFill>
                  <a:srgbClr val="000000"/>
                </a:solidFill>
                <a:latin typeface="Malgun Gothic Semilight"/>
                <a:ea typeface="Malgun Gothic Semilight"/>
                <a:cs typeface="Malgun Gothic Semilight"/>
              </a:rPr>
              <a:t>개선 우선순위는 </a:t>
            </a:r>
            <a:r>
              <a:rPr sz="1500" b="1">
                <a:solidFill>
                  <a:srgbClr val="5B728D"/>
                </a:solidFill>
                <a:latin typeface="맑은 고딕"/>
                <a:ea typeface="맑은 고딕"/>
                <a:cs typeface="맑은 고딕"/>
              </a:rPr>
              <a:t>분산 기여 순</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75488" y="233172"/>
            <a:ext cx="11253216" cy="541782"/>
          </a:xfrm>
          <a:prstGeom prst="rect">
            <a:avLst/>
          </a:prstGeom>
          <a:noFill/>
        </p:spPr>
        <p:txBody>
          <a:bodyPr wrap="square" lIns="0" rIns="0" tIns="0" bIns="0" anchor="ctr">
            <a:noAutofit/>
          </a:bodyPr>
          <a:lstStyle/>
          <a:p>
            <a:pPr algn="l">
              <a:lnSpc>
                <a:spcPct val="110000"/>
              </a:lnSpc>
            </a:pPr>
            <a:r>
              <a:rPr sz="3000" b="1">
                <a:solidFill>
                  <a:srgbClr val="000000"/>
                </a:solidFill>
                <a:latin typeface="맑은 고딕"/>
                <a:ea typeface="맑은 고딕"/>
                <a:cs typeface="맑은 고딕"/>
              </a:rPr>
              <a:t>Vmin 목표를 50 mV 낮추려면 무엇을 얼마나 바꿔야 하나</a:t>
            </a:r>
          </a:p>
        </p:txBody>
      </p:sp>
      <p:sp>
        <p:nvSpPr>
          <p:cNvPr id="3" name="Rectangle 2"/>
          <p:cNvSpPr/>
          <p:nvPr/>
        </p:nvSpPr>
        <p:spPr>
          <a:xfrm>
            <a:off x="463296" y="887984"/>
            <a:ext cx="11265408" cy="48260"/>
          </a:xfrm>
          <a:prstGeom prst="rect">
            <a:avLst/>
          </a:prstGeom>
          <a:solidFill>
            <a:srgbClr val="E7E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6720" y="6480810"/>
            <a:ext cx="182880" cy="205740"/>
          </a:xfrm>
          <a:prstGeom prst="rect">
            <a:avLst/>
          </a:prstGeom>
          <a:noFill/>
        </p:spPr>
        <p:txBody>
          <a:bodyPr wrap="square" lIns="0" rIns="0" tIns="0" bIns="0" anchor="t">
            <a:noAutofit/>
          </a:bodyPr>
          <a:lstStyle/>
          <a:p>
            <a:pPr algn="l">
              <a:lnSpc>
                <a:spcPct val="110000"/>
              </a:lnSpc>
            </a:pPr>
            <a:r>
              <a:rPr sz="1000" b="1">
                <a:solidFill>
                  <a:srgbClr val="44566A"/>
                </a:solidFill>
                <a:latin typeface="맑은 고딕"/>
                <a:ea typeface="맑은 고딕"/>
                <a:cs typeface="맑은 고딕"/>
              </a:rPr>
              <a:t>7</a:t>
            </a:r>
          </a:p>
        </p:txBody>
      </p:sp>
      <p:sp>
        <p:nvSpPr>
          <p:cNvPr id="5" name="TextBox 4"/>
          <p:cNvSpPr txBox="1"/>
          <p:nvPr/>
        </p:nvSpPr>
        <p:spPr>
          <a:xfrm>
            <a:off x="670560" y="6494526"/>
            <a:ext cx="9022080" cy="205740"/>
          </a:xfrm>
          <a:prstGeom prst="rect">
            <a:avLst/>
          </a:prstGeom>
          <a:noFill/>
        </p:spPr>
        <p:txBody>
          <a:bodyPr wrap="square" lIns="0" rIns="0" tIns="0" bIns="0" anchor="t">
            <a:noAutofit/>
          </a:bodyPr>
          <a:lstStyle/>
          <a:p>
            <a:pPr algn="l">
              <a:lnSpc>
                <a:spcPct val="110000"/>
              </a:lnSpc>
            </a:pPr>
            <a:r>
              <a:rPr sz="900" b="0">
                <a:solidFill>
                  <a:srgbClr val="4C5759"/>
                </a:solidFill>
                <a:latin typeface="Malgun Gothic Semilight"/>
                <a:ea typeface="Malgun Gothic Semilight"/>
                <a:cs typeface="Malgun Gothic Semilight"/>
              </a:rPr>
              <a:t>나머지 축을 고정한 조건부 1차원 이분 탐색 · 필요 수준은 read(FSG)·write(SFG) 한계 corner가 모두 0.575 V를 통과하는 값</a:t>
            </a:r>
          </a:p>
        </p:txBody>
      </p:sp>
      <p:sp>
        <p:nvSpPr>
          <p:cNvPr id="6" name="TextBox 5"/>
          <p:cNvSpPr txBox="1"/>
          <p:nvPr/>
        </p:nvSpPr>
        <p:spPr>
          <a:xfrm>
            <a:off x="9265920" y="6487668"/>
            <a:ext cx="2462784" cy="205740"/>
          </a:xfrm>
          <a:prstGeom prst="rect">
            <a:avLst/>
          </a:prstGeom>
          <a:noFill/>
        </p:spPr>
        <p:txBody>
          <a:bodyPr wrap="square" lIns="0" rIns="0" tIns="0" bIns="0" anchor="t">
            <a:noAutofit/>
          </a:bodyPr>
          <a:lstStyle/>
          <a:p>
            <a:pPr algn="r">
              <a:lnSpc>
                <a:spcPct val="110000"/>
              </a:lnSpc>
            </a:pPr>
            <a:r>
              <a:rPr sz="900" b="0">
                <a:solidFill>
                  <a:srgbClr val="7F7F7F"/>
                </a:solidFill>
                <a:latin typeface="Malgun Gothic Semilight"/>
                <a:ea typeface="Malgun Gothic Semilight"/>
                <a:cs typeface="Malgun Gothic Semilight"/>
              </a:rPr>
              <a:t>SRAM Vmin surrogate</a:t>
            </a:r>
          </a:p>
        </p:txBody>
      </p:sp>
      <p:sp>
        <p:nvSpPr>
          <p:cNvPr id="7" name="TextBox 6"/>
          <p:cNvSpPr txBox="1"/>
          <p:nvPr/>
        </p:nvSpPr>
        <p:spPr>
          <a:xfrm>
            <a:off x="475488" y="1056132"/>
            <a:ext cx="11253216" cy="301752"/>
          </a:xfrm>
          <a:prstGeom prst="rect">
            <a:avLst/>
          </a:prstGeom>
          <a:noFill/>
        </p:spPr>
        <p:txBody>
          <a:bodyPr wrap="square" lIns="0" rIns="0" tIns="0" bIns="0" anchor="t">
            <a:noAutofit/>
          </a:bodyPr>
          <a:lstStyle/>
          <a:p>
            <a:pPr algn="l">
              <a:lnSpc>
                <a:spcPct val="110000"/>
              </a:lnSpc>
            </a:pPr>
            <a:r>
              <a:rPr sz="1800" b="1">
                <a:solidFill>
                  <a:srgbClr val="3E7EDE"/>
                </a:solidFill>
                <a:latin typeface="맑은 고딕"/>
                <a:ea typeface="맑은 고딕"/>
                <a:cs typeface="맑은 고딕"/>
              </a:rPr>
              <a:t>③ 가역성 — 목표 Vmin → 공정 사양</a:t>
            </a:r>
          </a:p>
        </p:txBody>
      </p:sp>
      <p:pic>
        <p:nvPicPr>
          <p:cNvPr id="8" name="Picture 7" descr="fig5_inverse.png"/>
          <p:cNvPicPr>
            <a:picLocks noChangeAspect="1"/>
          </p:cNvPicPr>
          <p:nvPr/>
        </p:nvPicPr>
        <p:blipFill>
          <a:blip r:embed="rId3"/>
          <a:stretch>
            <a:fillRect/>
          </a:stretch>
        </p:blipFill>
        <p:spPr>
          <a:xfrm>
            <a:off x="463296" y="1440180"/>
            <a:ext cx="4994800" cy="4251960"/>
          </a:xfrm>
          <a:prstGeom prst="rect">
            <a:avLst/>
          </a:prstGeom>
        </p:spPr>
      </p:pic>
      <p:sp>
        <p:nvSpPr>
          <p:cNvPr id="9" name="TextBox 8"/>
          <p:cNvSpPr txBox="1"/>
          <p:nvPr/>
        </p:nvSpPr>
        <p:spPr>
          <a:xfrm>
            <a:off x="475488" y="5781294"/>
            <a:ext cx="4998720" cy="342900"/>
          </a:xfrm>
          <a:prstGeom prst="rect">
            <a:avLst/>
          </a:prstGeom>
          <a:noFill/>
        </p:spPr>
        <p:txBody>
          <a:bodyPr wrap="square" lIns="0" rIns="0" tIns="0" bIns="0" anchor="t">
            <a:noAutofit/>
          </a:bodyPr>
          <a:lstStyle/>
          <a:p>
            <a:pPr algn="l">
              <a:lnSpc>
                <a:spcPct val="110000"/>
              </a:lnSpc>
            </a:pPr>
            <a:r>
              <a:rPr sz="1100" b="0">
                <a:solidFill>
                  <a:srgbClr val="7F7F7F"/>
                </a:solidFill>
                <a:latin typeface="Malgun Gothic Semilight"/>
                <a:ea typeface="Malgun Gothic Semilight"/>
                <a:cs typeface="Malgun Gothic Semilight"/>
              </a:rPr>
              <a:t>셀 Vmin = max(read, write) · 빨강 점선 = read 경계, 노랑 = write 경계 (0.625 V)</a:t>
            </a:r>
          </a:p>
        </p:txBody>
      </p:sp>
      <p:sp>
        <p:nvSpPr>
          <p:cNvPr id="10" name="TextBox 9"/>
          <p:cNvSpPr txBox="1"/>
          <p:nvPr/>
        </p:nvSpPr>
        <p:spPr>
          <a:xfrm>
            <a:off x="5974080" y="1440180"/>
            <a:ext cx="5754624" cy="617220"/>
          </a:xfrm>
          <a:prstGeom prst="rect">
            <a:avLst/>
          </a:prstGeom>
          <a:noFill/>
        </p:spPr>
        <p:txBody>
          <a:bodyPr wrap="square" lIns="0" rIns="0" tIns="0" bIns="0" anchor="t">
            <a:noAutofit/>
          </a:bodyPr>
          <a:lstStyle/>
          <a:p>
            <a:pPr algn="l">
              <a:lnSpc>
                <a:spcPct val="120000"/>
              </a:lnSpc>
            </a:pPr>
            <a:r>
              <a:rPr sz="1600" b="0">
                <a:solidFill>
                  <a:srgbClr val="000000"/>
                </a:solidFill>
                <a:latin typeface="Malgun Gothic Semilight"/>
                <a:ea typeface="Malgun Gothic Semilight"/>
                <a:cs typeface="Malgun Gothic Semilight"/>
              </a:rPr>
              <a:t>현재 0.625 V → 목표 </a:t>
            </a:r>
            <a:r>
              <a:rPr sz="1600" b="1">
                <a:solidFill>
                  <a:srgbClr val="3E7EDE"/>
                </a:solidFill>
                <a:latin typeface="맑은 고딕"/>
                <a:ea typeface="맑은 고딕"/>
                <a:cs typeface="맑은 고딕"/>
              </a:rPr>
              <a:t>0.575 V</a:t>
            </a:r>
            <a:r>
              <a:rPr sz="1600" b="0">
                <a:solidFill>
                  <a:srgbClr val="000000"/>
                </a:solidFill>
                <a:latin typeface="Malgun Gothic Semilight"/>
                <a:ea typeface="Malgun Gothic Semilight"/>
                <a:cs typeface="Malgun Gothic Semilight"/>
              </a:rPr>
              <a:t>: read 한계 FSG가 </a:t>
            </a:r>
            <a:r>
              <a:rPr sz="1600" b="1">
                <a:solidFill>
                  <a:srgbClr val="3E7EDE"/>
                </a:solidFill>
                <a:latin typeface="맑은 고딕"/>
                <a:ea typeface="맑은 고딕"/>
                <a:cs typeface="맑은 고딕"/>
              </a:rPr>
              <a:t>+21.1 mV</a:t>
            </a:r>
            <a:r>
              <a:rPr sz="1600" b="0">
                <a:solidFill>
                  <a:srgbClr val="000000"/>
                </a:solidFill>
                <a:latin typeface="Malgun Gothic Semilight"/>
                <a:ea typeface="Malgun Gothic Semilight"/>
                <a:cs typeface="Malgun Gothic Semilight"/>
              </a:rPr>
              <a:t>, write 한계 SFG가 </a:t>
            </a:r>
            <a:r>
              <a:rPr sz="1600" b="1">
                <a:solidFill>
                  <a:srgbClr val="3E7EDE"/>
                </a:solidFill>
                <a:latin typeface="맑은 고딕"/>
                <a:ea typeface="맑은 고딕"/>
                <a:cs typeface="맑은 고딕"/>
              </a:rPr>
              <a:t>+18.3 mV</a:t>
            </a:r>
            <a:r>
              <a:rPr sz="1600" b="0">
                <a:solidFill>
                  <a:srgbClr val="000000"/>
                </a:solidFill>
                <a:latin typeface="Malgun Gothic Semilight"/>
                <a:ea typeface="Malgun Gothic Semilight"/>
                <a:cs typeface="Malgun Gothic Semilight"/>
              </a:rPr>
              <a:t> 초과</a:t>
            </a:r>
          </a:p>
        </p:txBody>
      </p:sp>
      <p:sp>
        <p:nvSpPr>
          <p:cNvPr id="11" name="Rectangle 10"/>
          <p:cNvSpPr/>
          <p:nvPr/>
        </p:nvSpPr>
        <p:spPr>
          <a:xfrm>
            <a:off x="5974080" y="2194560"/>
            <a:ext cx="1889760" cy="850392"/>
          </a:xfrm>
          <a:prstGeom prst="rect">
            <a:avLst/>
          </a:prstGeom>
          <a:solidFill>
            <a:srgbClr val="3E7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35040" y="2194560"/>
            <a:ext cx="1767840" cy="850392"/>
          </a:xfrm>
          <a:prstGeom prst="rect">
            <a:avLst/>
          </a:prstGeom>
          <a:noFill/>
        </p:spPr>
        <p:txBody>
          <a:bodyPr wrap="square" lIns="0" rIns="0" tIns="0" bIns="0" anchor="ctr">
            <a:noAutofit/>
          </a:bodyPr>
          <a:lstStyle/>
          <a:p>
            <a:pPr algn="ctr">
              <a:lnSpc>
                <a:spcPct val="100000"/>
              </a:lnSpc>
            </a:pPr>
            <a:r>
              <a:rPr sz="1400" b="1">
                <a:solidFill>
                  <a:srgbClr val="FFFFFF"/>
                </a:solidFill>
                <a:latin typeface="맑은 고딕"/>
                <a:ea typeface="맑은 고딕"/>
                <a:cs typeface="맑은 고딕"/>
              </a:rPr>
              <a:t>NMOS local-σ</a:t>
            </a:r>
          </a:p>
        </p:txBody>
      </p:sp>
      <p:sp>
        <p:nvSpPr>
          <p:cNvPr id="13" name="TextBox 12"/>
          <p:cNvSpPr txBox="1"/>
          <p:nvPr/>
        </p:nvSpPr>
        <p:spPr>
          <a:xfrm>
            <a:off x="8168640" y="2318004"/>
            <a:ext cx="3535680" cy="342900"/>
          </a:xfrm>
          <a:prstGeom prst="rect">
            <a:avLst/>
          </a:prstGeom>
          <a:noFill/>
        </p:spPr>
        <p:txBody>
          <a:bodyPr wrap="square" lIns="0" rIns="0" tIns="0" bIns="0" anchor="t">
            <a:noAutofit/>
          </a:bodyPr>
          <a:lstStyle/>
          <a:p>
            <a:pPr algn="l">
              <a:lnSpc>
                <a:spcPct val="110000"/>
              </a:lnSpc>
            </a:pPr>
            <a:r>
              <a:rPr sz="2000" b="1">
                <a:solidFill>
                  <a:srgbClr val="3E7EDE"/>
                </a:solidFill>
                <a:latin typeface="맑은 고딕"/>
                <a:ea typeface="맑은 고딕"/>
                <a:cs typeface="맑은 고딕"/>
              </a:rPr>
              <a:t>σ −10.9 %</a:t>
            </a:r>
          </a:p>
        </p:txBody>
      </p:sp>
      <p:sp>
        <p:nvSpPr>
          <p:cNvPr id="14" name="TextBox 13"/>
          <p:cNvSpPr txBox="1"/>
          <p:nvPr/>
        </p:nvSpPr>
        <p:spPr>
          <a:xfrm>
            <a:off x="8168640" y="2695194"/>
            <a:ext cx="3535680" cy="274320"/>
          </a:xfrm>
          <a:prstGeom prst="rect">
            <a:avLst/>
          </a:prstGeom>
          <a:noFill/>
        </p:spPr>
        <p:txBody>
          <a:bodyPr wrap="square" lIns="0" rIns="0" tIns="0" bIns="0" anchor="t">
            <a:noAutofit/>
          </a:bodyPr>
          <a:lstStyle/>
          <a:p>
            <a:pPr algn="l">
              <a:lnSpc>
                <a:spcPct val="110000"/>
              </a:lnSpc>
            </a:pPr>
            <a:r>
              <a:rPr sz="1300" b="0">
                <a:solidFill>
                  <a:srgbClr val="7F7F7F"/>
                </a:solidFill>
                <a:latin typeface="Malgun Gothic Semilight"/>
                <a:ea typeface="Malgun Gothic Semilight"/>
                <a:cs typeface="Malgun Gothic Semilight"/>
              </a:rPr>
              <a:t>단일 수단 중 가장 작은 요구</a:t>
            </a:r>
          </a:p>
        </p:txBody>
      </p:sp>
      <p:sp>
        <p:nvSpPr>
          <p:cNvPr id="15" name="Rectangle 14"/>
          <p:cNvSpPr/>
          <p:nvPr/>
        </p:nvSpPr>
        <p:spPr>
          <a:xfrm>
            <a:off x="5974080" y="3044952"/>
            <a:ext cx="1889760" cy="850392"/>
          </a:xfrm>
          <a:prstGeom prst="rect">
            <a:avLst/>
          </a:prstGeom>
          <a:solidFill>
            <a:srgbClr val="3E7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35040" y="3044952"/>
            <a:ext cx="1767840" cy="850392"/>
          </a:xfrm>
          <a:prstGeom prst="rect">
            <a:avLst/>
          </a:prstGeom>
          <a:noFill/>
        </p:spPr>
        <p:txBody>
          <a:bodyPr wrap="square" lIns="0" rIns="0" tIns="0" bIns="0" anchor="ctr">
            <a:noAutofit/>
          </a:bodyPr>
          <a:lstStyle/>
          <a:p>
            <a:pPr algn="ctr">
              <a:lnSpc>
                <a:spcPct val="100000"/>
              </a:lnSpc>
            </a:pPr>
            <a:r>
              <a:rPr sz="1400" b="1">
                <a:solidFill>
                  <a:srgbClr val="FFFFFF"/>
                </a:solidFill>
                <a:latin typeface="맑은 고딕"/>
                <a:ea typeface="맑은 고딕"/>
                <a:cs typeface="맑은 고딕"/>
              </a:rPr>
              <a:t>NMOS + PMOS</a:t>
            </a:r>
          </a:p>
          <a:p>
            <a:pPr algn="ctr">
              <a:lnSpc>
                <a:spcPct val="100000"/>
              </a:lnSpc>
            </a:pPr>
            <a:r>
              <a:rPr sz="1400" b="1">
                <a:solidFill>
                  <a:srgbClr val="FFFFFF"/>
                </a:solidFill>
                <a:latin typeface="맑은 고딕"/>
                <a:ea typeface="맑은 고딕"/>
                <a:cs typeface="맑은 고딕"/>
              </a:rPr>
              <a:t>local-σ</a:t>
            </a:r>
          </a:p>
        </p:txBody>
      </p:sp>
      <p:sp>
        <p:nvSpPr>
          <p:cNvPr id="17" name="TextBox 16"/>
          <p:cNvSpPr txBox="1"/>
          <p:nvPr/>
        </p:nvSpPr>
        <p:spPr>
          <a:xfrm>
            <a:off x="8168640" y="3168396"/>
            <a:ext cx="3535680" cy="342900"/>
          </a:xfrm>
          <a:prstGeom prst="rect">
            <a:avLst/>
          </a:prstGeom>
          <a:noFill/>
        </p:spPr>
        <p:txBody>
          <a:bodyPr wrap="square" lIns="0" rIns="0" tIns="0" bIns="0" anchor="t">
            <a:noAutofit/>
          </a:bodyPr>
          <a:lstStyle/>
          <a:p>
            <a:pPr algn="l">
              <a:lnSpc>
                <a:spcPct val="110000"/>
              </a:lnSpc>
            </a:pPr>
            <a:r>
              <a:rPr sz="2000" b="1">
                <a:solidFill>
                  <a:srgbClr val="3E7EDE"/>
                </a:solidFill>
                <a:latin typeface="맑은 고딕"/>
                <a:ea typeface="맑은 고딕"/>
                <a:cs typeface="맑은 고딕"/>
              </a:rPr>
              <a:t>각 σ −7.8 %</a:t>
            </a:r>
          </a:p>
        </p:txBody>
      </p:sp>
      <p:sp>
        <p:nvSpPr>
          <p:cNvPr id="18" name="TextBox 17"/>
          <p:cNvSpPr txBox="1"/>
          <p:nvPr/>
        </p:nvSpPr>
        <p:spPr>
          <a:xfrm>
            <a:off x="8168640" y="3545586"/>
            <a:ext cx="3535680" cy="274320"/>
          </a:xfrm>
          <a:prstGeom prst="rect">
            <a:avLst/>
          </a:prstGeom>
          <a:noFill/>
        </p:spPr>
        <p:txBody>
          <a:bodyPr wrap="square" lIns="0" rIns="0" tIns="0" bIns="0" anchor="t">
            <a:noAutofit/>
          </a:bodyPr>
          <a:lstStyle/>
          <a:p>
            <a:pPr algn="l">
              <a:lnSpc>
                <a:spcPct val="110000"/>
              </a:lnSpc>
            </a:pPr>
            <a:r>
              <a:rPr sz="1300" b="0">
                <a:solidFill>
                  <a:srgbClr val="7F7F7F"/>
                </a:solidFill>
                <a:latin typeface="Malgun Gothic Semilight"/>
                <a:ea typeface="Malgun Gothic Semilight"/>
                <a:cs typeface="Malgun Gothic Semilight"/>
              </a:rPr>
              <a:t>부담을 두 축에 나눈다</a:t>
            </a:r>
          </a:p>
        </p:txBody>
      </p:sp>
      <p:sp>
        <p:nvSpPr>
          <p:cNvPr id="19" name="Rectangle 18"/>
          <p:cNvSpPr/>
          <p:nvPr/>
        </p:nvSpPr>
        <p:spPr>
          <a:xfrm>
            <a:off x="5974080" y="3013202"/>
            <a:ext cx="1889760" cy="6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863840" y="3032887"/>
            <a:ext cx="3864864" cy="24130"/>
          </a:xfrm>
          <a:prstGeom prst="rect">
            <a:avLst/>
          </a:prstGeom>
          <a:solidFill>
            <a:srgbClr val="E7E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974080" y="3895344"/>
            <a:ext cx="1889760" cy="850392"/>
          </a:xfrm>
          <a:prstGeom prst="rect">
            <a:avLst/>
          </a:prstGeom>
          <a:solidFill>
            <a:srgbClr val="3E7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35040" y="3895344"/>
            <a:ext cx="1767840" cy="850392"/>
          </a:xfrm>
          <a:prstGeom prst="rect">
            <a:avLst/>
          </a:prstGeom>
          <a:noFill/>
        </p:spPr>
        <p:txBody>
          <a:bodyPr wrap="square" lIns="0" rIns="0" tIns="0" bIns="0" anchor="ctr">
            <a:noAutofit/>
          </a:bodyPr>
          <a:lstStyle/>
          <a:p>
            <a:pPr algn="ctr">
              <a:lnSpc>
                <a:spcPct val="100000"/>
              </a:lnSpc>
            </a:pPr>
            <a:r>
              <a:rPr sz="1400" b="1">
                <a:solidFill>
                  <a:srgbClr val="FFFFFF"/>
                </a:solidFill>
                <a:latin typeface="맑은 고딕"/>
                <a:ea typeface="맑은 고딕"/>
                <a:cs typeface="맑은 고딕"/>
              </a:rPr>
              <a:t>Global Vth</a:t>
            </a:r>
          </a:p>
          <a:p>
            <a:pPr algn="ctr">
              <a:lnSpc>
                <a:spcPct val="100000"/>
              </a:lnSpc>
            </a:pPr>
            <a:r>
              <a:rPr sz="1400" b="1">
                <a:solidFill>
                  <a:srgbClr val="FFFFFF"/>
                </a:solidFill>
                <a:latin typeface="맑은 고딕"/>
                <a:ea typeface="맑은 고딕"/>
                <a:cs typeface="맑은 고딕"/>
              </a:rPr>
              <a:t>corner</a:t>
            </a:r>
          </a:p>
        </p:txBody>
      </p:sp>
      <p:sp>
        <p:nvSpPr>
          <p:cNvPr id="23" name="TextBox 22"/>
          <p:cNvSpPr txBox="1"/>
          <p:nvPr/>
        </p:nvSpPr>
        <p:spPr>
          <a:xfrm>
            <a:off x="8168640" y="4018788"/>
            <a:ext cx="3535680" cy="342900"/>
          </a:xfrm>
          <a:prstGeom prst="rect">
            <a:avLst/>
          </a:prstGeom>
          <a:noFill/>
        </p:spPr>
        <p:txBody>
          <a:bodyPr wrap="square" lIns="0" rIns="0" tIns="0" bIns="0" anchor="t">
            <a:noAutofit/>
          </a:bodyPr>
          <a:lstStyle/>
          <a:p>
            <a:pPr algn="l">
              <a:lnSpc>
                <a:spcPct val="110000"/>
              </a:lnSpc>
            </a:pPr>
            <a:r>
              <a:rPr sz="2000" b="1">
                <a:solidFill>
                  <a:srgbClr val="3E7EDE"/>
                </a:solidFill>
                <a:latin typeface="맑은 고딕"/>
                <a:ea typeface="맑은 고딕"/>
                <a:cs typeface="맑은 고딕"/>
              </a:rPr>
              <a:t>PDK offset −47 %</a:t>
            </a:r>
          </a:p>
        </p:txBody>
      </p:sp>
      <p:sp>
        <p:nvSpPr>
          <p:cNvPr id="24" name="TextBox 23"/>
          <p:cNvSpPr txBox="1"/>
          <p:nvPr/>
        </p:nvSpPr>
        <p:spPr>
          <a:xfrm>
            <a:off x="8168640" y="4395978"/>
            <a:ext cx="3535680" cy="274320"/>
          </a:xfrm>
          <a:prstGeom prst="rect">
            <a:avLst/>
          </a:prstGeom>
          <a:noFill/>
        </p:spPr>
        <p:txBody>
          <a:bodyPr wrap="square" lIns="0" rIns="0" tIns="0" bIns="0" anchor="t">
            <a:noAutofit/>
          </a:bodyPr>
          <a:lstStyle/>
          <a:p>
            <a:pPr algn="l">
              <a:lnSpc>
                <a:spcPct val="110000"/>
              </a:lnSpc>
            </a:pPr>
            <a:r>
              <a:rPr sz="1300" b="0">
                <a:solidFill>
                  <a:srgbClr val="7F7F7F"/>
                </a:solidFill>
                <a:latin typeface="Malgun Gothic Semilight"/>
                <a:ea typeface="Malgun Gothic Semilight"/>
                <a:cs typeface="Malgun Gothic Semilight"/>
              </a:rPr>
              <a:t>corner 폭을 절반 가까이 좁혀야</a:t>
            </a:r>
          </a:p>
        </p:txBody>
      </p:sp>
      <p:sp>
        <p:nvSpPr>
          <p:cNvPr id="25" name="Rectangle 24"/>
          <p:cNvSpPr/>
          <p:nvPr/>
        </p:nvSpPr>
        <p:spPr>
          <a:xfrm>
            <a:off x="5974080" y="3863594"/>
            <a:ext cx="1889760" cy="6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863840" y="3883279"/>
            <a:ext cx="3864864" cy="24130"/>
          </a:xfrm>
          <a:prstGeom prst="rect">
            <a:avLst/>
          </a:prstGeom>
          <a:solidFill>
            <a:srgbClr val="E7E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974080" y="4745736"/>
            <a:ext cx="1889760" cy="850392"/>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035040" y="4745736"/>
            <a:ext cx="1767840" cy="850392"/>
          </a:xfrm>
          <a:prstGeom prst="rect">
            <a:avLst/>
          </a:prstGeom>
          <a:noFill/>
        </p:spPr>
        <p:txBody>
          <a:bodyPr wrap="square" lIns="0" rIns="0" tIns="0" bIns="0" anchor="ctr">
            <a:noAutofit/>
          </a:bodyPr>
          <a:lstStyle/>
          <a:p>
            <a:pPr algn="ctr">
              <a:lnSpc>
                <a:spcPct val="100000"/>
              </a:lnSpc>
            </a:pPr>
            <a:r>
              <a:rPr sz="1400" b="1">
                <a:solidFill>
                  <a:srgbClr val="FFFFFF"/>
                </a:solidFill>
                <a:latin typeface="맑은 고딕"/>
                <a:ea typeface="맑은 고딕"/>
                <a:cs typeface="맑은 고딕"/>
              </a:rPr>
              <a:t>PMOS local-σ</a:t>
            </a:r>
          </a:p>
        </p:txBody>
      </p:sp>
      <p:sp>
        <p:nvSpPr>
          <p:cNvPr id="29" name="TextBox 28"/>
          <p:cNvSpPr txBox="1"/>
          <p:nvPr/>
        </p:nvSpPr>
        <p:spPr>
          <a:xfrm>
            <a:off x="8168640" y="4869180"/>
            <a:ext cx="3535680" cy="342900"/>
          </a:xfrm>
          <a:prstGeom prst="rect">
            <a:avLst/>
          </a:prstGeom>
          <a:noFill/>
        </p:spPr>
        <p:txBody>
          <a:bodyPr wrap="square" lIns="0" rIns="0" tIns="0" bIns="0" anchor="t">
            <a:noAutofit/>
          </a:bodyPr>
          <a:lstStyle/>
          <a:p>
            <a:pPr algn="l">
              <a:lnSpc>
                <a:spcPct val="110000"/>
              </a:lnSpc>
            </a:pPr>
            <a:r>
              <a:rPr sz="2000" b="1">
                <a:solidFill>
                  <a:srgbClr val="7F7F7F"/>
                </a:solidFill>
                <a:latin typeface="맑은 고딕"/>
                <a:ea typeface="맑은 고딕"/>
                <a:cs typeface="맑은 고딕"/>
              </a:rPr>
              <a:t>−30 %에도 부족</a:t>
            </a:r>
          </a:p>
        </p:txBody>
      </p:sp>
      <p:sp>
        <p:nvSpPr>
          <p:cNvPr id="30" name="TextBox 29"/>
          <p:cNvSpPr txBox="1"/>
          <p:nvPr/>
        </p:nvSpPr>
        <p:spPr>
          <a:xfrm>
            <a:off x="8168640" y="5246370"/>
            <a:ext cx="3535680" cy="274320"/>
          </a:xfrm>
          <a:prstGeom prst="rect">
            <a:avLst/>
          </a:prstGeom>
          <a:noFill/>
        </p:spPr>
        <p:txBody>
          <a:bodyPr wrap="square" lIns="0" rIns="0" tIns="0" bIns="0" anchor="t">
            <a:noAutofit/>
          </a:bodyPr>
          <a:lstStyle/>
          <a:p>
            <a:pPr algn="l">
              <a:lnSpc>
                <a:spcPct val="110000"/>
              </a:lnSpc>
            </a:pPr>
            <a:r>
              <a:rPr sz="1300" b="0">
                <a:solidFill>
                  <a:srgbClr val="7F7F7F"/>
                </a:solidFill>
                <a:latin typeface="Malgun Gothic Semilight"/>
                <a:ea typeface="Malgun Gothic Semilight"/>
                <a:cs typeface="Malgun Gothic Semilight"/>
              </a:rPr>
              <a:t>이 축만으로는 도달하지 못한다</a:t>
            </a:r>
          </a:p>
        </p:txBody>
      </p:sp>
      <p:sp>
        <p:nvSpPr>
          <p:cNvPr id="31" name="Rectangle 30"/>
          <p:cNvSpPr/>
          <p:nvPr/>
        </p:nvSpPr>
        <p:spPr>
          <a:xfrm>
            <a:off x="5974080" y="4713986"/>
            <a:ext cx="1889760" cy="6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863840" y="4733671"/>
            <a:ext cx="3864864" cy="24130"/>
          </a:xfrm>
          <a:prstGeom prst="rect">
            <a:avLst/>
          </a:prstGeom>
          <a:solidFill>
            <a:srgbClr val="E7E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74080" y="5726430"/>
            <a:ext cx="5754624" cy="480060"/>
          </a:xfrm>
          <a:prstGeom prst="rect">
            <a:avLst/>
          </a:prstGeom>
          <a:noFill/>
        </p:spPr>
        <p:txBody>
          <a:bodyPr wrap="square" lIns="0" rIns="0" tIns="0" bIns="0" anchor="t">
            <a:noAutofit/>
          </a:bodyPr>
          <a:lstStyle/>
          <a:p>
            <a:pPr algn="l">
              <a:lnSpc>
                <a:spcPct val="120000"/>
              </a:lnSpc>
            </a:pPr>
            <a:r>
              <a:rPr sz="1400" b="0">
                <a:solidFill>
                  <a:srgbClr val="000000"/>
                </a:solidFill>
                <a:latin typeface="Malgun Gothic Semilight"/>
                <a:ea typeface="Malgun Gothic Semilight"/>
                <a:cs typeface="Malgun Gothic Semilight"/>
              </a:rPr>
              <a:t>Vth shift 역복원 RMSE </a:t>
            </a:r>
            <a:r>
              <a:rPr sz="1400" b="1">
                <a:solidFill>
                  <a:srgbClr val="3E7EDE"/>
                </a:solidFill>
                <a:latin typeface="맑은 고딕"/>
                <a:ea typeface="맑은 고딕"/>
                <a:cs typeface="맑은 고딕"/>
              </a:rPr>
              <a:t>ΔVth,N 1.46 mV · ΔVth,P 1.94 mV</a:t>
            </a:r>
            <a:r>
              <a:rPr sz="1400" b="0">
                <a:solidFill>
                  <a:srgbClr val="000000"/>
                </a:solidFill>
                <a:latin typeface="Malgun Gothic Semilight"/>
                <a:ea typeface="Malgun Gothic Semilight"/>
                <a:cs typeface="Malgun Gothic Semilight"/>
              </a:rPr>
              <a:t> — 질의마다 추가 simulation </a:t>
            </a:r>
            <a:r>
              <a:rPr sz="1400" b="1">
                <a:solidFill>
                  <a:srgbClr val="3E7EDE"/>
                </a:solidFill>
                <a:latin typeface="맑은 고딕"/>
                <a:ea typeface="맑은 고딕"/>
                <a:cs typeface="맑은 고딕"/>
              </a:rPr>
              <a:t>0회</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75488" y="233172"/>
            <a:ext cx="11253216" cy="541782"/>
          </a:xfrm>
          <a:prstGeom prst="rect">
            <a:avLst/>
          </a:prstGeom>
          <a:noFill/>
        </p:spPr>
        <p:txBody>
          <a:bodyPr wrap="square" lIns="0" rIns="0" tIns="0" bIns="0" anchor="ctr">
            <a:noAutofit/>
          </a:bodyPr>
          <a:lstStyle/>
          <a:p>
            <a:pPr algn="l">
              <a:lnSpc>
                <a:spcPct val="110000"/>
              </a:lnSpc>
            </a:pPr>
            <a:r>
              <a:rPr sz="3000" b="1">
                <a:solidFill>
                  <a:srgbClr val="000000"/>
                </a:solidFill>
                <a:latin typeface="맑은 고딕"/>
                <a:ea typeface="맑은 고딕"/>
                <a:cs typeface="맑은 고딕"/>
              </a:rPr>
              <a:t>학습 budget을 53배 줄여도 read Vmin 오차는 +3.5 mV</a:t>
            </a:r>
          </a:p>
        </p:txBody>
      </p:sp>
      <p:sp>
        <p:nvSpPr>
          <p:cNvPr id="3" name="Rectangle 2"/>
          <p:cNvSpPr/>
          <p:nvPr/>
        </p:nvSpPr>
        <p:spPr>
          <a:xfrm>
            <a:off x="463296" y="887984"/>
            <a:ext cx="11265408" cy="48260"/>
          </a:xfrm>
          <a:prstGeom prst="rect">
            <a:avLst/>
          </a:prstGeom>
          <a:solidFill>
            <a:srgbClr val="E7E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6720" y="6480810"/>
            <a:ext cx="182880" cy="205740"/>
          </a:xfrm>
          <a:prstGeom prst="rect">
            <a:avLst/>
          </a:prstGeom>
          <a:noFill/>
        </p:spPr>
        <p:txBody>
          <a:bodyPr wrap="square" lIns="0" rIns="0" tIns="0" bIns="0" anchor="t">
            <a:noAutofit/>
          </a:bodyPr>
          <a:lstStyle/>
          <a:p>
            <a:pPr algn="l">
              <a:lnSpc>
                <a:spcPct val="110000"/>
              </a:lnSpc>
            </a:pPr>
            <a:r>
              <a:rPr sz="1000" b="1">
                <a:solidFill>
                  <a:srgbClr val="44566A"/>
                </a:solidFill>
                <a:latin typeface="맑은 고딕"/>
                <a:ea typeface="맑은 고딕"/>
                <a:cs typeface="맑은 고딕"/>
              </a:rPr>
              <a:t>8</a:t>
            </a:r>
          </a:p>
        </p:txBody>
      </p:sp>
      <p:sp>
        <p:nvSpPr>
          <p:cNvPr id="5" name="TextBox 4"/>
          <p:cNvSpPr txBox="1"/>
          <p:nvPr/>
        </p:nvSpPr>
        <p:spPr>
          <a:xfrm>
            <a:off x="670560" y="6494526"/>
            <a:ext cx="9022080" cy="205740"/>
          </a:xfrm>
          <a:prstGeom prst="rect">
            <a:avLst/>
          </a:prstGeom>
          <a:noFill/>
        </p:spPr>
        <p:txBody>
          <a:bodyPr wrap="square" lIns="0" rIns="0" tIns="0" bIns="0" anchor="t">
            <a:noAutofit/>
          </a:bodyPr>
          <a:lstStyle/>
          <a:p>
            <a:pPr algn="l">
              <a:lnSpc>
                <a:spcPct val="110000"/>
              </a:lnSpc>
            </a:pPr>
            <a:r>
              <a:rPr sz="900" b="0">
                <a:solidFill>
                  <a:srgbClr val="4C5759"/>
                </a:solidFill>
                <a:latin typeface="Malgun Gothic Semilight"/>
                <a:ea typeface="Malgun Gothic Semilight"/>
                <a:cs typeface="Malgun Gothic Semilight"/>
              </a:rPr>
              <a:t>53×는 조건 수·전압 레벨·MC 표본 수로 계산한 budget 비율 (HSPICE wall-clock 실측 아님) · MC 깊이 절감은 noise emulation</a:t>
            </a:r>
          </a:p>
        </p:txBody>
      </p:sp>
      <p:sp>
        <p:nvSpPr>
          <p:cNvPr id="6" name="TextBox 5"/>
          <p:cNvSpPr txBox="1"/>
          <p:nvPr/>
        </p:nvSpPr>
        <p:spPr>
          <a:xfrm>
            <a:off x="9265920" y="6487668"/>
            <a:ext cx="2462784" cy="205740"/>
          </a:xfrm>
          <a:prstGeom prst="rect">
            <a:avLst/>
          </a:prstGeom>
          <a:noFill/>
        </p:spPr>
        <p:txBody>
          <a:bodyPr wrap="square" lIns="0" rIns="0" tIns="0" bIns="0" anchor="t">
            <a:noAutofit/>
          </a:bodyPr>
          <a:lstStyle/>
          <a:p>
            <a:pPr algn="r">
              <a:lnSpc>
                <a:spcPct val="110000"/>
              </a:lnSpc>
            </a:pPr>
            <a:r>
              <a:rPr sz="900" b="0">
                <a:solidFill>
                  <a:srgbClr val="7F7F7F"/>
                </a:solidFill>
                <a:latin typeface="Malgun Gothic Semilight"/>
                <a:ea typeface="Malgun Gothic Semilight"/>
                <a:cs typeface="Malgun Gothic Semilight"/>
              </a:rPr>
              <a:t>SRAM Vmin surrogate</a:t>
            </a:r>
          </a:p>
        </p:txBody>
      </p:sp>
      <p:sp>
        <p:nvSpPr>
          <p:cNvPr id="7" name="TextBox 6"/>
          <p:cNvSpPr txBox="1"/>
          <p:nvPr/>
        </p:nvSpPr>
        <p:spPr>
          <a:xfrm>
            <a:off x="475488" y="1056132"/>
            <a:ext cx="11253216" cy="301752"/>
          </a:xfrm>
          <a:prstGeom prst="rect">
            <a:avLst/>
          </a:prstGeom>
          <a:noFill/>
        </p:spPr>
        <p:txBody>
          <a:bodyPr wrap="square" lIns="0" rIns="0" tIns="0" bIns="0" anchor="t">
            <a:noAutofit/>
          </a:bodyPr>
          <a:lstStyle/>
          <a:p>
            <a:pPr algn="l">
              <a:lnSpc>
                <a:spcPct val="110000"/>
              </a:lnSpc>
            </a:pPr>
            <a:r>
              <a:rPr sz="1800" b="1">
                <a:solidFill>
                  <a:srgbClr val="000000"/>
                </a:solidFill>
                <a:latin typeface="맑은 고딕"/>
                <a:ea typeface="맑은 고딕"/>
                <a:cs typeface="맑은 고딕"/>
              </a:rPr>
              <a:t>④ 비용 — simulation을 얼마나 줄일 수 있나?</a:t>
            </a:r>
          </a:p>
        </p:txBody>
      </p:sp>
      <p:sp>
        <p:nvSpPr>
          <p:cNvPr id="8" name="TextBox 7"/>
          <p:cNvSpPr txBox="1"/>
          <p:nvPr/>
        </p:nvSpPr>
        <p:spPr>
          <a:xfrm>
            <a:off x="463296" y="1474470"/>
            <a:ext cx="4340352" cy="342900"/>
          </a:xfrm>
          <a:prstGeom prst="rect">
            <a:avLst/>
          </a:prstGeom>
          <a:noFill/>
        </p:spPr>
        <p:txBody>
          <a:bodyPr wrap="square" lIns="0" rIns="0" tIns="0" bIns="0" anchor="t">
            <a:noAutofit/>
          </a:bodyPr>
          <a:lstStyle/>
          <a:p>
            <a:pPr algn="l">
              <a:lnSpc>
                <a:spcPct val="110000"/>
              </a:lnSpc>
            </a:pPr>
            <a:r>
              <a:rPr sz="2000" b="1">
                <a:solidFill>
                  <a:srgbClr val="000000"/>
                </a:solidFill>
                <a:latin typeface="맑은 고딕"/>
                <a:ea typeface="맑은 고딕"/>
                <a:cs typeface="맑은 고딕"/>
              </a:rPr>
              <a:t>기준 campaign</a:t>
            </a:r>
          </a:p>
        </p:txBody>
      </p:sp>
      <p:sp>
        <p:nvSpPr>
          <p:cNvPr id="9" name="Rectangle 8"/>
          <p:cNvSpPr/>
          <p:nvPr/>
        </p:nvSpPr>
        <p:spPr>
          <a:xfrm>
            <a:off x="463296" y="1865884"/>
            <a:ext cx="4340352" cy="1270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88352" y="1474470"/>
            <a:ext cx="4340352" cy="342900"/>
          </a:xfrm>
          <a:prstGeom prst="rect">
            <a:avLst/>
          </a:prstGeom>
          <a:noFill/>
        </p:spPr>
        <p:txBody>
          <a:bodyPr wrap="square" lIns="0" rIns="0" tIns="0" bIns="0" anchor="t">
            <a:noAutofit/>
          </a:bodyPr>
          <a:lstStyle/>
          <a:p>
            <a:pPr algn="l">
              <a:lnSpc>
                <a:spcPct val="110000"/>
              </a:lnSpc>
            </a:pPr>
            <a:r>
              <a:rPr sz="2000" b="1">
                <a:solidFill>
                  <a:srgbClr val="000000"/>
                </a:solidFill>
                <a:latin typeface="맑은 고딕"/>
                <a:ea typeface="맑은 고딕"/>
                <a:cs typeface="맑은 고딕"/>
              </a:rPr>
              <a:t>절감 campaign</a:t>
            </a:r>
          </a:p>
        </p:txBody>
      </p:sp>
      <p:sp>
        <p:nvSpPr>
          <p:cNvPr id="11" name="Rectangle 10"/>
          <p:cNvSpPr/>
          <p:nvPr/>
        </p:nvSpPr>
        <p:spPr>
          <a:xfrm>
            <a:off x="7388352" y="1865884"/>
            <a:ext cx="4340352" cy="1270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3296" y="1988820"/>
            <a:ext cx="1828800" cy="514350"/>
          </a:xfrm>
          <a:prstGeom prst="rect">
            <a:avLst/>
          </a:prstGeom>
          <a:noFill/>
        </p:spPr>
        <p:txBody>
          <a:bodyPr wrap="square" lIns="0" rIns="0" tIns="0" bIns="0" anchor="ctr">
            <a:noAutofit/>
          </a:bodyPr>
          <a:lstStyle/>
          <a:p>
            <a:pPr algn="l">
              <a:lnSpc>
                <a:spcPct val="110000"/>
              </a:lnSpc>
            </a:pPr>
            <a:r>
              <a:rPr sz="1300" b="0">
                <a:solidFill>
                  <a:srgbClr val="7F7F7F"/>
                </a:solidFill>
                <a:latin typeface="Malgun Gothic Semilight"/>
                <a:ea typeface="Malgun Gothic Semilight"/>
                <a:cs typeface="Malgun Gothic Semilight"/>
              </a:rPr>
              <a:t>공정 조건 수</a:t>
            </a:r>
          </a:p>
        </p:txBody>
      </p:sp>
      <p:sp>
        <p:nvSpPr>
          <p:cNvPr id="13" name="TextBox 12"/>
          <p:cNvSpPr txBox="1"/>
          <p:nvPr/>
        </p:nvSpPr>
        <p:spPr>
          <a:xfrm>
            <a:off x="2292096" y="1988820"/>
            <a:ext cx="2511552" cy="514350"/>
          </a:xfrm>
          <a:prstGeom prst="rect">
            <a:avLst/>
          </a:prstGeom>
          <a:noFill/>
        </p:spPr>
        <p:txBody>
          <a:bodyPr wrap="square" lIns="0" rIns="0" tIns="0" bIns="0" anchor="ctr">
            <a:noAutofit/>
          </a:bodyPr>
          <a:lstStyle/>
          <a:p>
            <a:pPr algn="l">
              <a:lnSpc>
                <a:spcPct val="110000"/>
              </a:lnSpc>
            </a:pPr>
            <a:r>
              <a:rPr sz="1900" b="0">
                <a:solidFill>
                  <a:srgbClr val="000000"/>
                </a:solidFill>
                <a:latin typeface="Malgun Gothic Semilight"/>
                <a:ea typeface="Malgun Gothic Semilight"/>
                <a:cs typeface="Malgun Gothic Semilight"/>
              </a:rPr>
              <a:t>1,700</a:t>
            </a:r>
          </a:p>
        </p:txBody>
      </p:sp>
      <p:sp>
        <p:nvSpPr>
          <p:cNvPr id="14" name="Rectangle 13"/>
          <p:cNvSpPr/>
          <p:nvPr/>
        </p:nvSpPr>
        <p:spPr>
          <a:xfrm>
            <a:off x="463296" y="2539556"/>
            <a:ext cx="4340352" cy="9525"/>
          </a:xfrm>
          <a:prstGeom prst="rect">
            <a:avLst/>
          </a:prstGeom>
          <a:solidFill>
            <a:srgbClr val="E7E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88352" y="1988820"/>
            <a:ext cx="1828800" cy="514350"/>
          </a:xfrm>
          <a:prstGeom prst="rect">
            <a:avLst/>
          </a:prstGeom>
          <a:noFill/>
        </p:spPr>
        <p:txBody>
          <a:bodyPr wrap="square" lIns="0" rIns="0" tIns="0" bIns="0" anchor="ctr">
            <a:noAutofit/>
          </a:bodyPr>
          <a:lstStyle/>
          <a:p>
            <a:pPr algn="l">
              <a:lnSpc>
                <a:spcPct val="110000"/>
              </a:lnSpc>
            </a:pPr>
            <a:r>
              <a:rPr sz="1300" b="0">
                <a:solidFill>
                  <a:srgbClr val="7F7F7F"/>
                </a:solidFill>
                <a:latin typeface="Malgun Gothic Semilight"/>
                <a:ea typeface="Malgun Gothic Semilight"/>
                <a:cs typeface="Malgun Gothic Semilight"/>
              </a:rPr>
              <a:t>공정 조건 수</a:t>
            </a:r>
          </a:p>
        </p:txBody>
      </p:sp>
      <p:sp>
        <p:nvSpPr>
          <p:cNvPr id="16" name="TextBox 15"/>
          <p:cNvSpPr txBox="1"/>
          <p:nvPr/>
        </p:nvSpPr>
        <p:spPr>
          <a:xfrm>
            <a:off x="9217152" y="1988820"/>
            <a:ext cx="2511552" cy="514350"/>
          </a:xfrm>
          <a:prstGeom prst="rect">
            <a:avLst/>
          </a:prstGeom>
          <a:noFill/>
        </p:spPr>
        <p:txBody>
          <a:bodyPr wrap="square" lIns="0" rIns="0" tIns="0" bIns="0" anchor="ctr">
            <a:noAutofit/>
          </a:bodyPr>
          <a:lstStyle/>
          <a:p>
            <a:pPr algn="l">
              <a:lnSpc>
                <a:spcPct val="110000"/>
              </a:lnSpc>
            </a:pPr>
            <a:r>
              <a:rPr sz="1900" b="1">
                <a:solidFill>
                  <a:srgbClr val="000000"/>
                </a:solidFill>
                <a:latin typeface="맑은 고딕"/>
                <a:ea typeface="맑은 고딕"/>
                <a:cs typeface="맑은 고딕"/>
              </a:rPr>
              <a:t>400</a:t>
            </a:r>
          </a:p>
        </p:txBody>
      </p:sp>
      <p:sp>
        <p:nvSpPr>
          <p:cNvPr id="17" name="Rectangle 16"/>
          <p:cNvSpPr/>
          <p:nvPr/>
        </p:nvSpPr>
        <p:spPr>
          <a:xfrm>
            <a:off x="7388352" y="2539556"/>
            <a:ext cx="4340352" cy="9525"/>
          </a:xfrm>
          <a:prstGeom prst="rect">
            <a:avLst/>
          </a:prstGeom>
          <a:solidFill>
            <a:srgbClr val="E7E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296" y="2578608"/>
            <a:ext cx="1828800" cy="514350"/>
          </a:xfrm>
          <a:prstGeom prst="rect">
            <a:avLst/>
          </a:prstGeom>
          <a:noFill/>
        </p:spPr>
        <p:txBody>
          <a:bodyPr wrap="square" lIns="0" rIns="0" tIns="0" bIns="0" anchor="ctr">
            <a:noAutofit/>
          </a:bodyPr>
          <a:lstStyle/>
          <a:p>
            <a:pPr algn="l">
              <a:lnSpc>
                <a:spcPct val="110000"/>
              </a:lnSpc>
            </a:pPr>
            <a:r>
              <a:rPr sz="1300" b="0">
                <a:solidFill>
                  <a:srgbClr val="7F7F7F"/>
                </a:solidFill>
                <a:latin typeface="Malgun Gothic Semilight"/>
                <a:ea typeface="Malgun Gothic Semilight"/>
                <a:cs typeface="Malgun Gothic Semilight"/>
              </a:rPr>
              <a:t>전압 레벨</a:t>
            </a:r>
          </a:p>
        </p:txBody>
      </p:sp>
      <p:sp>
        <p:nvSpPr>
          <p:cNvPr id="19" name="TextBox 18"/>
          <p:cNvSpPr txBox="1"/>
          <p:nvPr/>
        </p:nvSpPr>
        <p:spPr>
          <a:xfrm>
            <a:off x="2292096" y="2578608"/>
            <a:ext cx="2511552" cy="514350"/>
          </a:xfrm>
          <a:prstGeom prst="rect">
            <a:avLst/>
          </a:prstGeom>
          <a:noFill/>
        </p:spPr>
        <p:txBody>
          <a:bodyPr wrap="square" lIns="0" rIns="0" tIns="0" bIns="0" anchor="ctr">
            <a:noAutofit/>
          </a:bodyPr>
          <a:lstStyle/>
          <a:p>
            <a:pPr algn="l">
              <a:lnSpc>
                <a:spcPct val="110000"/>
              </a:lnSpc>
            </a:pPr>
            <a:r>
              <a:rPr sz="1900" b="0">
                <a:solidFill>
                  <a:srgbClr val="000000"/>
                </a:solidFill>
                <a:latin typeface="Malgun Gothic Semilight"/>
                <a:ea typeface="Malgun Gothic Semilight"/>
                <a:cs typeface="Malgun Gothic Semilight"/>
              </a:rPr>
              <a:t>5</a:t>
            </a:r>
          </a:p>
        </p:txBody>
      </p:sp>
      <p:sp>
        <p:nvSpPr>
          <p:cNvPr id="20" name="Rectangle 19"/>
          <p:cNvSpPr/>
          <p:nvPr/>
        </p:nvSpPr>
        <p:spPr>
          <a:xfrm>
            <a:off x="463296" y="3129344"/>
            <a:ext cx="4340352" cy="9525"/>
          </a:xfrm>
          <a:prstGeom prst="rect">
            <a:avLst/>
          </a:prstGeom>
          <a:solidFill>
            <a:srgbClr val="E7E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88352" y="2578608"/>
            <a:ext cx="1828800" cy="514350"/>
          </a:xfrm>
          <a:prstGeom prst="rect">
            <a:avLst/>
          </a:prstGeom>
          <a:noFill/>
        </p:spPr>
        <p:txBody>
          <a:bodyPr wrap="square" lIns="0" rIns="0" tIns="0" bIns="0" anchor="ctr">
            <a:noAutofit/>
          </a:bodyPr>
          <a:lstStyle/>
          <a:p>
            <a:pPr algn="l">
              <a:lnSpc>
                <a:spcPct val="110000"/>
              </a:lnSpc>
            </a:pPr>
            <a:r>
              <a:rPr sz="1300" b="0">
                <a:solidFill>
                  <a:srgbClr val="7F7F7F"/>
                </a:solidFill>
                <a:latin typeface="Malgun Gothic Semilight"/>
                <a:ea typeface="Malgun Gothic Semilight"/>
                <a:cs typeface="Malgun Gothic Semilight"/>
              </a:rPr>
              <a:t>전압 레벨</a:t>
            </a:r>
          </a:p>
        </p:txBody>
      </p:sp>
      <p:sp>
        <p:nvSpPr>
          <p:cNvPr id="22" name="TextBox 21"/>
          <p:cNvSpPr txBox="1"/>
          <p:nvPr/>
        </p:nvSpPr>
        <p:spPr>
          <a:xfrm>
            <a:off x="9217152" y="2578608"/>
            <a:ext cx="2511552" cy="514350"/>
          </a:xfrm>
          <a:prstGeom prst="rect">
            <a:avLst/>
          </a:prstGeom>
          <a:noFill/>
        </p:spPr>
        <p:txBody>
          <a:bodyPr wrap="square" lIns="0" rIns="0" tIns="0" bIns="0" anchor="ctr">
            <a:noAutofit/>
          </a:bodyPr>
          <a:lstStyle/>
          <a:p>
            <a:pPr algn="l">
              <a:lnSpc>
                <a:spcPct val="110000"/>
              </a:lnSpc>
            </a:pPr>
            <a:r>
              <a:rPr sz="1900" b="1">
                <a:solidFill>
                  <a:srgbClr val="000000"/>
                </a:solidFill>
                <a:latin typeface="맑은 고딕"/>
                <a:ea typeface="맑은 고딕"/>
                <a:cs typeface="맑은 고딕"/>
              </a:rPr>
              <a:t>4  (0.8 V 제외)</a:t>
            </a:r>
          </a:p>
        </p:txBody>
      </p:sp>
      <p:sp>
        <p:nvSpPr>
          <p:cNvPr id="23" name="Rectangle 22"/>
          <p:cNvSpPr/>
          <p:nvPr/>
        </p:nvSpPr>
        <p:spPr>
          <a:xfrm>
            <a:off x="7388352" y="3129344"/>
            <a:ext cx="4340352" cy="9525"/>
          </a:xfrm>
          <a:prstGeom prst="rect">
            <a:avLst/>
          </a:prstGeom>
          <a:solidFill>
            <a:srgbClr val="E7E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3296" y="3168396"/>
            <a:ext cx="1828800" cy="514350"/>
          </a:xfrm>
          <a:prstGeom prst="rect">
            <a:avLst/>
          </a:prstGeom>
          <a:noFill/>
        </p:spPr>
        <p:txBody>
          <a:bodyPr wrap="square" lIns="0" rIns="0" tIns="0" bIns="0" anchor="ctr">
            <a:noAutofit/>
          </a:bodyPr>
          <a:lstStyle/>
          <a:p>
            <a:pPr algn="l">
              <a:lnSpc>
                <a:spcPct val="110000"/>
              </a:lnSpc>
            </a:pPr>
            <a:r>
              <a:rPr sz="1300" b="0">
                <a:solidFill>
                  <a:srgbClr val="7F7F7F"/>
                </a:solidFill>
                <a:latin typeface="Malgun Gothic Semilight"/>
                <a:ea typeface="Malgun Gothic Semilight"/>
                <a:cs typeface="Malgun Gothic Semilight"/>
              </a:rPr>
              <a:t>조건당 MC 표본</a:t>
            </a:r>
          </a:p>
        </p:txBody>
      </p:sp>
      <p:sp>
        <p:nvSpPr>
          <p:cNvPr id="25" name="TextBox 24"/>
          <p:cNvSpPr txBox="1"/>
          <p:nvPr/>
        </p:nvSpPr>
        <p:spPr>
          <a:xfrm>
            <a:off x="2292096" y="3168396"/>
            <a:ext cx="2511552" cy="514350"/>
          </a:xfrm>
          <a:prstGeom prst="rect">
            <a:avLst/>
          </a:prstGeom>
          <a:noFill/>
        </p:spPr>
        <p:txBody>
          <a:bodyPr wrap="square" lIns="0" rIns="0" tIns="0" bIns="0" anchor="ctr">
            <a:noAutofit/>
          </a:bodyPr>
          <a:lstStyle/>
          <a:p>
            <a:pPr algn="l">
              <a:lnSpc>
                <a:spcPct val="110000"/>
              </a:lnSpc>
            </a:pPr>
            <a:r>
              <a:rPr sz="1900" b="0">
                <a:solidFill>
                  <a:srgbClr val="000000"/>
                </a:solidFill>
                <a:latin typeface="Malgun Gothic Semilight"/>
                <a:ea typeface="Malgun Gothic Semilight"/>
                <a:cs typeface="Malgun Gothic Semilight"/>
              </a:rPr>
              <a:t>5,000</a:t>
            </a:r>
          </a:p>
        </p:txBody>
      </p:sp>
      <p:sp>
        <p:nvSpPr>
          <p:cNvPr id="26" name="Rectangle 25"/>
          <p:cNvSpPr/>
          <p:nvPr/>
        </p:nvSpPr>
        <p:spPr>
          <a:xfrm>
            <a:off x="463296" y="3719132"/>
            <a:ext cx="4340352" cy="9525"/>
          </a:xfrm>
          <a:prstGeom prst="rect">
            <a:avLst/>
          </a:prstGeom>
          <a:solidFill>
            <a:srgbClr val="E7E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88352" y="3168396"/>
            <a:ext cx="1828800" cy="514350"/>
          </a:xfrm>
          <a:prstGeom prst="rect">
            <a:avLst/>
          </a:prstGeom>
          <a:noFill/>
        </p:spPr>
        <p:txBody>
          <a:bodyPr wrap="square" lIns="0" rIns="0" tIns="0" bIns="0" anchor="ctr">
            <a:noAutofit/>
          </a:bodyPr>
          <a:lstStyle/>
          <a:p>
            <a:pPr algn="l">
              <a:lnSpc>
                <a:spcPct val="110000"/>
              </a:lnSpc>
            </a:pPr>
            <a:r>
              <a:rPr sz="1300" b="0">
                <a:solidFill>
                  <a:srgbClr val="7F7F7F"/>
                </a:solidFill>
                <a:latin typeface="Malgun Gothic Semilight"/>
                <a:ea typeface="Malgun Gothic Semilight"/>
                <a:cs typeface="Malgun Gothic Semilight"/>
              </a:rPr>
              <a:t>조건당 MC 표본</a:t>
            </a:r>
          </a:p>
        </p:txBody>
      </p:sp>
      <p:sp>
        <p:nvSpPr>
          <p:cNvPr id="28" name="TextBox 27"/>
          <p:cNvSpPr txBox="1"/>
          <p:nvPr/>
        </p:nvSpPr>
        <p:spPr>
          <a:xfrm>
            <a:off x="9217152" y="3168396"/>
            <a:ext cx="2511552" cy="514350"/>
          </a:xfrm>
          <a:prstGeom prst="rect">
            <a:avLst/>
          </a:prstGeom>
          <a:noFill/>
        </p:spPr>
        <p:txBody>
          <a:bodyPr wrap="square" lIns="0" rIns="0" tIns="0" bIns="0" anchor="ctr">
            <a:noAutofit/>
          </a:bodyPr>
          <a:lstStyle/>
          <a:p>
            <a:pPr algn="l">
              <a:lnSpc>
                <a:spcPct val="110000"/>
              </a:lnSpc>
            </a:pPr>
            <a:r>
              <a:rPr sz="1900" b="1">
                <a:solidFill>
                  <a:srgbClr val="000000"/>
                </a:solidFill>
                <a:latin typeface="맑은 고딕"/>
                <a:ea typeface="맑은 고딕"/>
                <a:cs typeface="맑은 고딕"/>
              </a:rPr>
              <a:t>500</a:t>
            </a:r>
          </a:p>
        </p:txBody>
      </p:sp>
      <p:sp>
        <p:nvSpPr>
          <p:cNvPr id="29" name="Rectangle 28"/>
          <p:cNvSpPr/>
          <p:nvPr/>
        </p:nvSpPr>
        <p:spPr>
          <a:xfrm>
            <a:off x="7388352" y="3719132"/>
            <a:ext cx="4340352" cy="9525"/>
          </a:xfrm>
          <a:prstGeom prst="rect">
            <a:avLst/>
          </a:prstGeom>
          <a:solidFill>
            <a:srgbClr val="E7E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3296" y="3758184"/>
            <a:ext cx="1828800" cy="514350"/>
          </a:xfrm>
          <a:prstGeom prst="rect">
            <a:avLst/>
          </a:prstGeom>
          <a:noFill/>
        </p:spPr>
        <p:txBody>
          <a:bodyPr wrap="square" lIns="0" rIns="0" tIns="0" bIns="0" anchor="ctr">
            <a:noAutofit/>
          </a:bodyPr>
          <a:lstStyle/>
          <a:p>
            <a:pPr algn="l">
              <a:lnSpc>
                <a:spcPct val="110000"/>
              </a:lnSpc>
            </a:pPr>
            <a:r>
              <a:rPr sz="1300" b="0">
                <a:solidFill>
                  <a:srgbClr val="7F7F7F"/>
                </a:solidFill>
                <a:latin typeface="Malgun Gothic Semilight"/>
                <a:ea typeface="Malgun Gothic Semilight"/>
                <a:cs typeface="Malgun Gothic Semilight"/>
              </a:rPr>
              <a:t>총 MC 표본</a:t>
            </a:r>
          </a:p>
        </p:txBody>
      </p:sp>
      <p:sp>
        <p:nvSpPr>
          <p:cNvPr id="31" name="TextBox 30"/>
          <p:cNvSpPr txBox="1"/>
          <p:nvPr/>
        </p:nvSpPr>
        <p:spPr>
          <a:xfrm>
            <a:off x="2292096" y="3758184"/>
            <a:ext cx="2511552" cy="514350"/>
          </a:xfrm>
          <a:prstGeom prst="rect">
            <a:avLst/>
          </a:prstGeom>
          <a:noFill/>
        </p:spPr>
        <p:txBody>
          <a:bodyPr wrap="square" lIns="0" rIns="0" tIns="0" bIns="0" anchor="ctr">
            <a:noAutofit/>
          </a:bodyPr>
          <a:lstStyle/>
          <a:p>
            <a:pPr algn="l">
              <a:lnSpc>
                <a:spcPct val="110000"/>
              </a:lnSpc>
            </a:pPr>
            <a:r>
              <a:rPr sz="1900" b="0">
                <a:solidFill>
                  <a:srgbClr val="000000"/>
                </a:solidFill>
                <a:latin typeface="Malgun Gothic Semilight"/>
                <a:ea typeface="Malgun Gothic Semilight"/>
                <a:cs typeface="Malgun Gothic Semilight"/>
              </a:rPr>
              <a:t>4,250만</a:t>
            </a:r>
          </a:p>
        </p:txBody>
      </p:sp>
      <p:sp>
        <p:nvSpPr>
          <p:cNvPr id="32" name="Rectangle 31"/>
          <p:cNvSpPr/>
          <p:nvPr/>
        </p:nvSpPr>
        <p:spPr>
          <a:xfrm>
            <a:off x="463296" y="4308920"/>
            <a:ext cx="4340352" cy="9525"/>
          </a:xfrm>
          <a:prstGeom prst="rect">
            <a:avLst/>
          </a:prstGeom>
          <a:solidFill>
            <a:srgbClr val="E7E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88352" y="3758184"/>
            <a:ext cx="1828800" cy="514350"/>
          </a:xfrm>
          <a:prstGeom prst="rect">
            <a:avLst/>
          </a:prstGeom>
          <a:noFill/>
        </p:spPr>
        <p:txBody>
          <a:bodyPr wrap="square" lIns="0" rIns="0" tIns="0" bIns="0" anchor="ctr">
            <a:noAutofit/>
          </a:bodyPr>
          <a:lstStyle/>
          <a:p>
            <a:pPr algn="l">
              <a:lnSpc>
                <a:spcPct val="110000"/>
              </a:lnSpc>
            </a:pPr>
            <a:r>
              <a:rPr sz="1300" b="0">
                <a:solidFill>
                  <a:srgbClr val="7F7F7F"/>
                </a:solidFill>
                <a:latin typeface="Malgun Gothic Semilight"/>
                <a:ea typeface="Malgun Gothic Semilight"/>
                <a:cs typeface="Malgun Gothic Semilight"/>
              </a:rPr>
              <a:t>총 MC 표본</a:t>
            </a:r>
          </a:p>
        </p:txBody>
      </p:sp>
      <p:sp>
        <p:nvSpPr>
          <p:cNvPr id="34" name="TextBox 33"/>
          <p:cNvSpPr txBox="1"/>
          <p:nvPr/>
        </p:nvSpPr>
        <p:spPr>
          <a:xfrm>
            <a:off x="9217152" y="3758184"/>
            <a:ext cx="2511552" cy="514350"/>
          </a:xfrm>
          <a:prstGeom prst="rect">
            <a:avLst/>
          </a:prstGeom>
          <a:noFill/>
        </p:spPr>
        <p:txBody>
          <a:bodyPr wrap="square" lIns="0" rIns="0" tIns="0" bIns="0" anchor="ctr">
            <a:noAutofit/>
          </a:bodyPr>
          <a:lstStyle/>
          <a:p>
            <a:pPr algn="l">
              <a:lnSpc>
                <a:spcPct val="110000"/>
              </a:lnSpc>
            </a:pPr>
            <a:r>
              <a:rPr sz="1900" b="1">
                <a:solidFill>
                  <a:srgbClr val="000000"/>
                </a:solidFill>
                <a:latin typeface="맑은 고딕"/>
                <a:ea typeface="맑은 고딕"/>
                <a:cs typeface="맑은 고딕"/>
              </a:rPr>
              <a:t>80만</a:t>
            </a:r>
          </a:p>
        </p:txBody>
      </p:sp>
      <p:sp>
        <p:nvSpPr>
          <p:cNvPr id="35" name="Rectangle 34"/>
          <p:cNvSpPr/>
          <p:nvPr/>
        </p:nvSpPr>
        <p:spPr>
          <a:xfrm>
            <a:off x="7388352" y="4308920"/>
            <a:ext cx="4340352" cy="9525"/>
          </a:xfrm>
          <a:prstGeom prst="rect">
            <a:avLst/>
          </a:prstGeom>
          <a:solidFill>
            <a:srgbClr val="E7E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63296" y="4347972"/>
            <a:ext cx="1828800" cy="514350"/>
          </a:xfrm>
          <a:prstGeom prst="rect">
            <a:avLst/>
          </a:prstGeom>
          <a:noFill/>
        </p:spPr>
        <p:txBody>
          <a:bodyPr wrap="square" lIns="0" rIns="0" tIns="0" bIns="0" anchor="ctr">
            <a:noAutofit/>
          </a:bodyPr>
          <a:lstStyle/>
          <a:p>
            <a:pPr algn="l">
              <a:lnSpc>
                <a:spcPct val="110000"/>
              </a:lnSpc>
            </a:pPr>
            <a:r>
              <a:rPr sz="1300" b="0">
                <a:solidFill>
                  <a:srgbClr val="7F7F7F"/>
                </a:solidFill>
                <a:latin typeface="Malgun Gothic Semilight"/>
                <a:ea typeface="Malgun Gothic Semilight"/>
                <a:cs typeface="Malgun Gothic Semilight"/>
              </a:rPr>
              <a:t>Read Vmin RMSE</a:t>
            </a:r>
          </a:p>
        </p:txBody>
      </p:sp>
      <p:sp>
        <p:nvSpPr>
          <p:cNvPr id="37" name="TextBox 36"/>
          <p:cNvSpPr txBox="1"/>
          <p:nvPr/>
        </p:nvSpPr>
        <p:spPr>
          <a:xfrm>
            <a:off x="2292096" y="4347972"/>
            <a:ext cx="2511552" cy="514350"/>
          </a:xfrm>
          <a:prstGeom prst="rect">
            <a:avLst/>
          </a:prstGeom>
          <a:noFill/>
        </p:spPr>
        <p:txBody>
          <a:bodyPr wrap="square" lIns="0" rIns="0" tIns="0" bIns="0" anchor="ctr">
            <a:noAutofit/>
          </a:bodyPr>
          <a:lstStyle/>
          <a:p>
            <a:pPr algn="l">
              <a:lnSpc>
                <a:spcPct val="110000"/>
              </a:lnSpc>
            </a:pPr>
            <a:r>
              <a:rPr sz="1900" b="0">
                <a:solidFill>
                  <a:srgbClr val="000000"/>
                </a:solidFill>
                <a:latin typeface="Malgun Gothic Semilight"/>
                <a:ea typeface="Malgun Gothic Semilight"/>
                <a:cs typeface="Malgun Gothic Semilight"/>
              </a:rPr>
              <a:t>3.98 mV</a:t>
            </a:r>
          </a:p>
        </p:txBody>
      </p:sp>
      <p:sp>
        <p:nvSpPr>
          <p:cNvPr id="38" name="Rectangle 37"/>
          <p:cNvSpPr/>
          <p:nvPr/>
        </p:nvSpPr>
        <p:spPr>
          <a:xfrm>
            <a:off x="463296" y="4898708"/>
            <a:ext cx="4340352" cy="9525"/>
          </a:xfrm>
          <a:prstGeom prst="rect">
            <a:avLst/>
          </a:prstGeom>
          <a:solidFill>
            <a:srgbClr val="E7E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88352" y="4347972"/>
            <a:ext cx="1828800" cy="514350"/>
          </a:xfrm>
          <a:prstGeom prst="rect">
            <a:avLst/>
          </a:prstGeom>
          <a:noFill/>
        </p:spPr>
        <p:txBody>
          <a:bodyPr wrap="square" lIns="0" rIns="0" tIns="0" bIns="0" anchor="ctr">
            <a:noAutofit/>
          </a:bodyPr>
          <a:lstStyle/>
          <a:p>
            <a:pPr algn="l">
              <a:lnSpc>
                <a:spcPct val="110000"/>
              </a:lnSpc>
            </a:pPr>
            <a:r>
              <a:rPr sz="1300" b="0">
                <a:solidFill>
                  <a:srgbClr val="7F7F7F"/>
                </a:solidFill>
                <a:latin typeface="Malgun Gothic Semilight"/>
                <a:ea typeface="Malgun Gothic Semilight"/>
                <a:cs typeface="Malgun Gothic Semilight"/>
              </a:rPr>
              <a:t>Read Vmin RMSE</a:t>
            </a:r>
          </a:p>
        </p:txBody>
      </p:sp>
      <p:sp>
        <p:nvSpPr>
          <p:cNvPr id="40" name="TextBox 39"/>
          <p:cNvSpPr txBox="1"/>
          <p:nvPr/>
        </p:nvSpPr>
        <p:spPr>
          <a:xfrm>
            <a:off x="9217152" y="4347972"/>
            <a:ext cx="2511552" cy="514350"/>
          </a:xfrm>
          <a:prstGeom prst="rect">
            <a:avLst/>
          </a:prstGeom>
          <a:noFill/>
        </p:spPr>
        <p:txBody>
          <a:bodyPr wrap="square" lIns="0" rIns="0" tIns="0" bIns="0" anchor="ctr">
            <a:noAutofit/>
          </a:bodyPr>
          <a:lstStyle/>
          <a:p>
            <a:pPr algn="l">
              <a:lnSpc>
                <a:spcPct val="110000"/>
              </a:lnSpc>
            </a:pPr>
            <a:r>
              <a:rPr sz="1900" b="1">
                <a:solidFill>
                  <a:srgbClr val="000000"/>
                </a:solidFill>
                <a:latin typeface="맑은 고딕"/>
                <a:ea typeface="맑은 고딕"/>
                <a:cs typeface="맑은 고딕"/>
              </a:rPr>
              <a:t>7.51 mV  (+3.5)</a:t>
            </a:r>
          </a:p>
        </p:txBody>
      </p:sp>
      <p:sp>
        <p:nvSpPr>
          <p:cNvPr id="41" name="Rectangle 40"/>
          <p:cNvSpPr/>
          <p:nvPr/>
        </p:nvSpPr>
        <p:spPr>
          <a:xfrm>
            <a:off x="7388352" y="4898708"/>
            <a:ext cx="4340352" cy="9525"/>
          </a:xfrm>
          <a:prstGeom prst="rect">
            <a:avLst/>
          </a:prstGeom>
          <a:solidFill>
            <a:srgbClr val="E7E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3296" y="4937760"/>
            <a:ext cx="1828800" cy="514350"/>
          </a:xfrm>
          <a:prstGeom prst="rect">
            <a:avLst/>
          </a:prstGeom>
          <a:noFill/>
        </p:spPr>
        <p:txBody>
          <a:bodyPr wrap="square" lIns="0" rIns="0" tIns="0" bIns="0" anchor="ctr">
            <a:noAutofit/>
          </a:bodyPr>
          <a:lstStyle/>
          <a:p>
            <a:pPr algn="l">
              <a:lnSpc>
                <a:spcPct val="110000"/>
              </a:lnSpc>
            </a:pPr>
            <a:r>
              <a:rPr sz="1300" b="0">
                <a:solidFill>
                  <a:srgbClr val="7F7F7F"/>
                </a:solidFill>
                <a:latin typeface="Malgun Gothic Semilight"/>
                <a:ea typeface="Malgun Gothic Semilight"/>
                <a:cs typeface="Malgun Gothic Semilight"/>
              </a:rPr>
              <a:t>Write (42.5× 절감)</a:t>
            </a:r>
          </a:p>
        </p:txBody>
      </p:sp>
      <p:sp>
        <p:nvSpPr>
          <p:cNvPr id="43" name="TextBox 42"/>
          <p:cNvSpPr txBox="1"/>
          <p:nvPr/>
        </p:nvSpPr>
        <p:spPr>
          <a:xfrm>
            <a:off x="2292096" y="4937760"/>
            <a:ext cx="2511552" cy="514350"/>
          </a:xfrm>
          <a:prstGeom prst="rect">
            <a:avLst/>
          </a:prstGeom>
          <a:noFill/>
        </p:spPr>
        <p:txBody>
          <a:bodyPr wrap="square" lIns="0" rIns="0" tIns="0" bIns="0" anchor="ctr">
            <a:noAutofit/>
          </a:bodyPr>
          <a:lstStyle/>
          <a:p>
            <a:pPr algn="l">
              <a:lnSpc>
                <a:spcPct val="110000"/>
              </a:lnSpc>
            </a:pPr>
            <a:r>
              <a:rPr sz="1900" b="0">
                <a:solidFill>
                  <a:srgbClr val="000000"/>
                </a:solidFill>
                <a:latin typeface="Malgun Gothic Semilight"/>
                <a:ea typeface="Malgun Gothic Semilight"/>
                <a:cs typeface="Malgun Gothic Semilight"/>
              </a:rPr>
              <a:t>5.65 mV</a:t>
            </a:r>
          </a:p>
        </p:txBody>
      </p:sp>
      <p:sp>
        <p:nvSpPr>
          <p:cNvPr id="44" name="Rectangle 43"/>
          <p:cNvSpPr/>
          <p:nvPr/>
        </p:nvSpPr>
        <p:spPr>
          <a:xfrm>
            <a:off x="463296" y="5488496"/>
            <a:ext cx="4340352" cy="9525"/>
          </a:xfrm>
          <a:prstGeom prst="rect">
            <a:avLst/>
          </a:prstGeom>
          <a:solidFill>
            <a:srgbClr val="E7E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388352" y="4937760"/>
            <a:ext cx="1828800" cy="514350"/>
          </a:xfrm>
          <a:prstGeom prst="rect">
            <a:avLst/>
          </a:prstGeom>
          <a:noFill/>
        </p:spPr>
        <p:txBody>
          <a:bodyPr wrap="square" lIns="0" rIns="0" tIns="0" bIns="0" anchor="ctr">
            <a:noAutofit/>
          </a:bodyPr>
          <a:lstStyle/>
          <a:p>
            <a:pPr algn="l">
              <a:lnSpc>
                <a:spcPct val="110000"/>
              </a:lnSpc>
            </a:pPr>
            <a:r>
              <a:rPr sz="1300" b="0">
                <a:solidFill>
                  <a:srgbClr val="7F7F7F"/>
                </a:solidFill>
                <a:latin typeface="Malgun Gothic Semilight"/>
                <a:ea typeface="Malgun Gothic Semilight"/>
                <a:cs typeface="Malgun Gothic Semilight"/>
              </a:rPr>
              <a:t>Write (42.5× 절감)</a:t>
            </a:r>
          </a:p>
        </p:txBody>
      </p:sp>
      <p:sp>
        <p:nvSpPr>
          <p:cNvPr id="46" name="TextBox 45"/>
          <p:cNvSpPr txBox="1"/>
          <p:nvPr/>
        </p:nvSpPr>
        <p:spPr>
          <a:xfrm>
            <a:off x="9217152" y="4937760"/>
            <a:ext cx="2511552" cy="514350"/>
          </a:xfrm>
          <a:prstGeom prst="rect">
            <a:avLst/>
          </a:prstGeom>
          <a:noFill/>
        </p:spPr>
        <p:txBody>
          <a:bodyPr wrap="square" lIns="0" rIns="0" tIns="0" bIns="0" anchor="ctr">
            <a:noAutofit/>
          </a:bodyPr>
          <a:lstStyle/>
          <a:p>
            <a:pPr algn="l">
              <a:lnSpc>
                <a:spcPct val="110000"/>
              </a:lnSpc>
            </a:pPr>
            <a:r>
              <a:rPr sz="1900" b="1">
                <a:solidFill>
                  <a:srgbClr val="000000"/>
                </a:solidFill>
                <a:latin typeface="맑은 고딕"/>
                <a:ea typeface="맑은 고딕"/>
                <a:cs typeface="맑은 고딕"/>
              </a:rPr>
              <a:t>8.46 mV  (+2.8)</a:t>
            </a:r>
          </a:p>
        </p:txBody>
      </p:sp>
      <p:sp>
        <p:nvSpPr>
          <p:cNvPr id="47" name="Rectangle 46"/>
          <p:cNvSpPr/>
          <p:nvPr/>
        </p:nvSpPr>
        <p:spPr>
          <a:xfrm>
            <a:off x="7388352" y="5488496"/>
            <a:ext cx="4340352" cy="9525"/>
          </a:xfrm>
          <a:prstGeom prst="rect">
            <a:avLst/>
          </a:prstGeom>
          <a:solidFill>
            <a:srgbClr val="E7E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ight Arrow 47"/>
          <p:cNvSpPr/>
          <p:nvPr/>
        </p:nvSpPr>
        <p:spPr>
          <a:xfrm>
            <a:off x="5096256" y="2948940"/>
            <a:ext cx="1999488" cy="891540"/>
          </a:xfrm>
          <a:prstGeom prst="rightArrow">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876800" y="2057400"/>
            <a:ext cx="2438400" cy="754380"/>
          </a:xfrm>
          <a:prstGeom prst="rect">
            <a:avLst/>
          </a:prstGeom>
          <a:noFill/>
        </p:spPr>
        <p:txBody>
          <a:bodyPr wrap="square" lIns="0" rIns="0" tIns="0" bIns="0" anchor="b">
            <a:noAutofit/>
          </a:bodyPr>
          <a:lstStyle/>
          <a:p>
            <a:pPr algn="ctr">
              <a:lnSpc>
                <a:spcPct val="110000"/>
              </a:lnSpc>
            </a:pPr>
            <a:r>
              <a:rPr sz="4400" b="1">
                <a:solidFill>
                  <a:srgbClr val="000000"/>
                </a:solidFill>
                <a:latin typeface="맑은 고딕"/>
                <a:ea typeface="맑은 고딕"/>
                <a:cs typeface="맑은 고딕"/>
              </a:rPr>
              <a:t>53×</a:t>
            </a:r>
          </a:p>
        </p:txBody>
      </p:sp>
      <p:sp>
        <p:nvSpPr>
          <p:cNvPr id="50" name="TextBox 49"/>
          <p:cNvSpPr txBox="1"/>
          <p:nvPr/>
        </p:nvSpPr>
        <p:spPr>
          <a:xfrm>
            <a:off x="4876800" y="3943350"/>
            <a:ext cx="2438400" cy="274320"/>
          </a:xfrm>
          <a:prstGeom prst="rect">
            <a:avLst/>
          </a:prstGeom>
          <a:noFill/>
        </p:spPr>
        <p:txBody>
          <a:bodyPr wrap="square" lIns="0" rIns="0" tIns="0" bIns="0" anchor="t">
            <a:noAutofit/>
          </a:bodyPr>
          <a:lstStyle/>
          <a:p>
            <a:pPr algn="ctr">
              <a:lnSpc>
                <a:spcPct val="110000"/>
              </a:lnSpc>
            </a:pPr>
            <a:r>
              <a:rPr sz="1300" b="0">
                <a:solidFill>
                  <a:srgbClr val="7F7F7F"/>
                </a:solidFill>
                <a:latin typeface="Malgun Gothic Semilight"/>
                <a:ea typeface="Malgun Gothic Semilight"/>
                <a:cs typeface="Malgun Gothic Semilight"/>
              </a:rPr>
              <a:t>read budget 절감</a:t>
            </a:r>
          </a:p>
        </p:txBody>
      </p:sp>
      <p:sp>
        <p:nvSpPr>
          <p:cNvPr id="51" name="Rectangle 50"/>
          <p:cNvSpPr/>
          <p:nvPr/>
        </p:nvSpPr>
        <p:spPr>
          <a:xfrm>
            <a:off x="463296" y="5692140"/>
            <a:ext cx="11265408" cy="548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70560" y="5692140"/>
            <a:ext cx="10850880" cy="548640"/>
          </a:xfrm>
          <a:prstGeom prst="rect">
            <a:avLst/>
          </a:prstGeom>
          <a:noFill/>
        </p:spPr>
        <p:txBody>
          <a:bodyPr wrap="square" lIns="0" rIns="0" tIns="0" bIns="0" anchor="ctr">
            <a:noAutofit/>
          </a:bodyPr>
          <a:lstStyle/>
          <a:p>
            <a:pPr algn="ctr">
              <a:lnSpc>
                <a:spcPct val="110000"/>
              </a:lnSpc>
            </a:pPr>
            <a:r>
              <a:rPr sz="1800" b="1">
                <a:solidFill>
                  <a:srgbClr val="FFFFFF"/>
                </a:solidFill>
                <a:latin typeface="맑은 고딕"/>
                <a:ea typeface="맑은 고딕"/>
                <a:cs typeface="맑은 고딕"/>
              </a:rPr>
              <a:t>학습이 끝나면 what-if · 역방향 질의는 추가 MC 0회 — 비용은 한 번만 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75488" y="233172"/>
            <a:ext cx="11253216" cy="541782"/>
          </a:xfrm>
          <a:prstGeom prst="rect">
            <a:avLst/>
          </a:prstGeom>
          <a:noFill/>
        </p:spPr>
        <p:txBody>
          <a:bodyPr wrap="square" lIns="0" rIns="0" tIns="0" bIns="0" anchor="ctr">
            <a:noAutofit/>
          </a:bodyPr>
          <a:lstStyle/>
          <a:p>
            <a:pPr algn="l">
              <a:lnSpc>
                <a:spcPct val="110000"/>
              </a:lnSpc>
            </a:pPr>
            <a:r>
              <a:rPr sz="3000" b="1">
                <a:solidFill>
                  <a:srgbClr val="000000"/>
                </a:solidFill>
                <a:latin typeface="맑은 고딕"/>
                <a:ea typeface="맑은 고딕"/>
                <a:cs typeface="맑은 고딕"/>
              </a:rPr>
              <a:t>정리: simulation campaign 한 번으로 네 질문에 답한다</a:t>
            </a:r>
          </a:p>
        </p:txBody>
      </p:sp>
      <p:sp>
        <p:nvSpPr>
          <p:cNvPr id="3" name="Rectangle 2"/>
          <p:cNvSpPr/>
          <p:nvPr/>
        </p:nvSpPr>
        <p:spPr>
          <a:xfrm>
            <a:off x="463296" y="887984"/>
            <a:ext cx="11265408" cy="48260"/>
          </a:xfrm>
          <a:prstGeom prst="rect">
            <a:avLst/>
          </a:prstGeom>
          <a:solidFill>
            <a:srgbClr val="E7E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6720" y="6480810"/>
            <a:ext cx="182880" cy="205740"/>
          </a:xfrm>
          <a:prstGeom prst="rect">
            <a:avLst/>
          </a:prstGeom>
          <a:noFill/>
        </p:spPr>
        <p:txBody>
          <a:bodyPr wrap="square" lIns="0" rIns="0" tIns="0" bIns="0" anchor="t">
            <a:noAutofit/>
          </a:bodyPr>
          <a:lstStyle/>
          <a:p>
            <a:pPr algn="l">
              <a:lnSpc>
                <a:spcPct val="110000"/>
              </a:lnSpc>
            </a:pPr>
            <a:r>
              <a:rPr sz="1000" b="1">
                <a:solidFill>
                  <a:srgbClr val="44566A"/>
                </a:solidFill>
                <a:latin typeface="맑은 고딕"/>
                <a:ea typeface="맑은 고딕"/>
                <a:cs typeface="맑은 고딕"/>
              </a:rPr>
              <a:t>9</a:t>
            </a:r>
          </a:p>
        </p:txBody>
      </p:sp>
      <p:sp>
        <p:nvSpPr>
          <p:cNvPr id="5" name="TextBox 4"/>
          <p:cNvSpPr txBox="1"/>
          <p:nvPr/>
        </p:nvSpPr>
        <p:spPr>
          <a:xfrm>
            <a:off x="9265920" y="6487668"/>
            <a:ext cx="2462784" cy="205740"/>
          </a:xfrm>
          <a:prstGeom prst="rect">
            <a:avLst/>
          </a:prstGeom>
          <a:noFill/>
        </p:spPr>
        <p:txBody>
          <a:bodyPr wrap="square" lIns="0" rIns="0" tIns="0" bIns="0" anchor="t">
            <a:noAutofit/>
          </a:bodyPr>
          <a:lstStyle/>
          <a:p>
            <a:pPr algn="r">
              <a:lnSpc>
                <a:spcPct val="110000"/>
              </a:lnSpc>
            </a:pPr>
            <a:r>
              <a:rPr sz="900" b="0">
                <a:solidFill>
                  <a:srgbClr val="7F7F7F"/>
                </a:solidFill>
                <a:latin typeface="Malgun Gothic Semilight"/>
                <a:ea typeface="Malgun Gothic Semilight"/>
                <a:cs typeface="Malgun Gothic Semilight"/>
              </a:rPr>
              <a:t>SRAM Vmin surrogate</a:t>
            </a:r>
          </a:p>
        </p:txBody>
      </p:sp>
      <p:sp>
        <p:nvSpPr>
          <p:cNvPr id="6" name="Rectangle 5"/>
          <p:cNvSpPr/>
          <p:nvPr/>
        </p:nvSpPr>
        <p:spPr>
          <a:xfrm>
            <a:off x="524256" y="1392174"/>
            <a:ext cx="195072" cy="19202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165860"/>
            <a:ext cx="10814304" cy="644652"/>
          </a:xfrm>
          <a:prstGeom prst="rect">
            <a:avLst/>
          </a:prstGeom>
          <a:noFill/>
        </p:spPr>
        <p:txBody>
          <a:bodyPr wrap="square" lIns="0" rIns="0" tIns="0" bIns="0" anchor="ctr">
            <a:noAutofit/>
          </a:bodyPr>
          <a:lstStyle/>
          <a:p>
            <a:pPr algn="l">
              <a:lnSpc>
                <a:spcPct val="110000"/>
              </a:lnSpc>
            </a:pPr>
            <a:r>
              <a:rPr sz="1900" b="0">
                <a:solidFill>
                  <a:srgbClr val="000000"/>
                </a:solidFill>
                <a:latin typeface="Malgun Gothic Semilight"/>
                <a:ea typeface="Malgun Gothic Semilight"/>
                <a:cs typeface="Malgun Gothic Semilight"/>
              </a:rPr>
              <a:t>hold-out Vmin 오차 </a:t>
            </a:r>
            <a:r>
              <a:rPr sz="1900" b="1">
                <a:solidFill>
                  <a:srgbClr val="1428A0"/>
                </a:solidFill>
                <a:latin typeface="맑은 고딕"/>
                <a:ea typeface="맑은 고딕"/>
                <a:cs typeface="맑은 고딕"/>
              </a:rPr>
              <a:t>read 3.98 mV · write 5.65 mV</a:t>
            </a:r>
            <a:r>
              <a:rPr sz="1900" b="0">
                <a:solidFill>
                  <a:srgbClr val="000000"/>
                </a:solidFill>
                <a:latin typeface="Malgun Gothic Semilight"/>
                <a:ea typeface="Malgun Gothic Semilight"/>
                <a:cs typeface="Malgun Gothic Semilight"/>
              </a:rPr>
              <a:t>, 미학습 corner에서도 </a:t>
            </a:r>
            <a:r>
              <a:rPr sz="1900" b="1">
                <a:solidFill>
                  <a:srgbClr val="1428A0"/>
                </a:solidFill>
                <a:latin typeface="맑은 고딕"/>
                <a:ea typeface="맑은 고딕"/>
                <a:cs typeface="맑은 고딕"/>
              </a:rPr>
              <a:t>최악 corner 일치</a:t>
            </a:r>
          </a:p>
        </p:txBody>
      </p:sp>
      <p:sp>
        <p:nvSpPr>
          <p:cNvPr id="8" name="Rectangle 7"/>
          <p:cNvSpPr/>
          <p:nvPr/>
        </p:nvSpPr>
        <p:spPr>
          <a:xfrm>
            <a:off x="463296" y="1908175"/>
            <a:ext cx="11265408" cy="24130"/>
          </a:xfrm>
          <a:prstGeom prst="rect">
            <a:avLst/>
          </a:prstGeom>
          <a:solidFill>
            <a:srgbClr val="E7E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24256" y="2249424"/>
            <a:ext cx="195072" cy="192024"/>
          </a:xfrm>
          <a:prstGeom prst="rect">
            <a:avLst/>
          </a:prstGeom>
          <a:solidFill>
            <a:srgbClr val="5B72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23110"/>
            <a:ext cx="10814304" cy="644652"/>
          </a:xfrm>
          <a:prstGeom prst="rect">
            <a:avLst/>
          </a:prstGeom>
          <a:noFill/>
        </p:spPr>
        <p:txBody>
          <a:bodyPr wrap="square" lIns="0" rIns="0" tIns="0" bIns="0" anchor="ctr">
            <a:noAutofit/>
          </a:bodyPr>
          <a:lstStyle/>
          <a:p>
            <a:pPr algn="l">
              <a:lnSpc>
                <a:spcPct val="110000"/>
              </a:lnSpc>
            </a:pPr>
            <a:r>
              <a:rPr sz="1900" b="1">
                <a:solidFill>
                  <a:srgbClr val="5B728D"/>
                </a:solidFill>
                <a:latin typeface="맑은 고딕"/>
                <a:ea typeface="맑은 고딕"/>
                <a:cs typeface="맑은 고딕"/>
              </a:rPr>
              <a:t>local NMOS mismatch</a:t>
            </a:r>
            <a:r>
              <a:rPr sz="1900" b="0">
                <a:solidFill>
                  <a:srgbClr val="000000"/>
                </a:solidFill>
                <a:latin typeface="Malgun Gothic Semilight"/>
                <a:ea typeface="Malgun Gothic Semilight"/>
                <a:cs typeface="Malgun Gothic Semilight"/>
              </a:rPr>
              <a:t>가 PMOS corner 축보다 크고, read 분산의 </a:t>
            </a:r>
            <a:r>
              <a:rPr sz="1900" b="1">
                <a:solidFill>
                  <a:srgbClr val="5B728D"/>
                </a:solidFill>
                <a:latin typeface="맑은 고딕"/>
                <a:ea typeface="맑은 고딕"/>
                <a:cs typeface="맑은 고딕"/>
              </a:rPr>
              <a:t>38 % 이상이 corner 밖</a:t>
            </a:r>
          </a:p>
        </p:txBody>
      </p:sp>
      <p:sp>
        <p:nvSpPr>
          <p:cNvPr id="11" name="Rectangle 10"/>
          <p:cNvSpPr/>
          <p:nvPr/>
        </p:nvSpPr>
        <p:spPr>
          <a:xfrm>
            <a:off x="463296" y="2765425"/>
            <a:ext cx="11265408" cy="24130"/>
          </a:xfrm>
          <a:prstGeom prst="rect">
            <a:avLst/>
          </a:prstGeom>
          <a:solidFill>
            <a:srgbClr val="E7E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24256" y="3106674"/>
            <a:ext cx="195072" cy="192024"/>
          </a:xfrm>
          <a:prstGeom prst="rect">
            <a:avLst/>
          </a:prstGeom>
          <a:solidFill>
            <a:srgbClr val="3E7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2880360"/>
            <a:ext cx="10814304" cy="644652"/>
          </a:xfrm>
          <a:prstGeom prst="rect">
            <a:avLst/>
          </a:prstGeom>
          <a:noFill/>
        </p:spPr>
        <p:txBody>
          <a:bodyPr wrap="square" lIns="0" rIns="0" tIns="0" bIns="0" anchor="ctr">
            <a:noAutofit/>
          </a:bodyPr>
          <a:lstStyle/>
          <a:p>
            <a:pPr algn="l">
              <a:lnSpc>
                <a:spcPct val="110000"/>
              </a:lnSpc>
            </a:pPr>
            <a:r>
              <a:rPr sz="1900" b="0">
                <a:solidFill>
                  <a:srgbClr val="000000"/>
                </a:solidFill>
                <a:latin typeface="Malgun Gothic Semilight"/>
                <a:ea typeface="Malgun Gothic Semilight"/>
                <a:cs typeface="Malgun Gothic Semilight"/>
              </a:rPr>
              <a:t>목표 Vmin에서 </a:t>
            </a:r>
            <a:r>
              <a:rPr sz="1900" b="1">
                <a:solidFill>
                  <a:srgbClr val="3E7EDE"/>
                </a:solidFill>
                <a:latin typeface="맑은 고딕"/>
                <a:ea typeface="맑은 고딕"/>
                <a:cs typeface="맑은 고딕"/>
              </a:rPr>
              <a:t>공정 사양을 역산</a:t>
            </a:r>
            <a:r>
              <a:rPr sz="1900" b="0">
                <a:solidFill>
                  <a:srgbClr val="000000"/>
                </a:solidFill>
                <a:latin typeface="Malgun Gothic Semilight"/>
                <a:ea typeface="Malgun Gothic Semilight"/>
                <a:cs typeface="Malgun Gothic Semilight"/>
              </a:rPr>
              <a:t> — 50 mV 낮추려면 </a:t>
            </a:r>
            <a:r>
              <a:rPr sz="1900" b="1">
                <a:solidFill>
                  <a:srgbClr val="3E7EDE"/>
                </a:solidFill>
                <a:latin typeface="맑은 고딕"/>
                <a:ea typeface="맑은 고딕"/>
                <a:cs typeface="맑은 고딕"/>
              </a:rPr>
              <a:t>NMOS local-σ −10.9 %</a:t>
            </a:r>
          </a:p>
        </p:txBody>
      </p:sp>
      <p:sp>
        <p:nvSpPr>
          <p:cNvPr id="14" name="Rectangle 13"/>
          <p:cNvSpPr/>
          <p:nvPr/>
        </p:nvSpPr>
        <p:spPr>
          <a:xfrm>
            <a:off x="463296" y="3622675"/>
            <a:ext cx="11265408" cy="24130"/>
          </a:xfrm>
          <a:prstGeom prst="rect">
            <a:avLst/>
          </a:prstGeom>
          <a:solidFill>
            <a:srgbClr val="E7E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24256" y="3963924"/>
            <a:ext cx="195072" cy="19202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737610"/>
            <a:ext cx="10814304" cy="644652"/>
          </a:xfrm>
          <a:prstGeom prst="rect">
            <a:avLst/>
          </a:prstGeom>
          <a:noFill/>
        </p:spPr>
        <p:txBody>
          <a:bodyPr wrap="square" lIns="0" rIns="0" tIns="0" bIns="0" anchor="ctr">
            <a:noAutofit/>
          </a:bodyPr>
          <a:lstStyle/>
          <a:p>
            <a:pPr algn="l">
              <a:lnSpc>
                <a:spcPct val="110000"/>
              </a:lnSpc>
            </a:pPr>
            <a:r>
              <a:rPr sz="1900" b="0">
                <a:solidFill>
                  <a:srgbClr val="000000"/>
                </a:solidFill>
                <a:latin typeface="Malgun Gothic Semilight"/>
                <a:ea typeface="Malgun Gothic Semilight"/>
                <a:cs typeface="Malgun Gothic Semilight"/>
              </a:rPr>
              <a:t>budget </a:t>
            </a:r>
            <a:r>
              <a:rPr sz="1900" b="1">
                <a:solidFill>
                  <a:srgbClr val="000000"/>
                </a:solidFill>
                <a:latin typeface="맑은 고딕"/>
                <a:ea typeface="맑은 고딕"/>
                <a:cs typeface="맑은 고딕"/>
              </a:rPr>
              <a:t>53배 절감에 +3.5 mV</a:t>
            </a:r>
            <a:r>
              <a:rPr sz="1900" b="0">
                <a:solidFill>
                  <a:srgbClr val="000000"/>
                </a:solidFill>
                <a:latin typeface="Malgun Gothic Semilight"/>
                <a:ea typeface="Malgun Gothic Semilight"/>
                <a:cs typeface="Malgun Gothic Semilight"/>
              </a:rPr>
              <a:t>, 학습 후 질의는 </a:t>
            </a:r>
            <a:r>
              <a:rPr sz="1900" b="1">
                <a:solidFill>
                  <a:srgbClr val="000000"/>
                </a:solidFill>
                <a:latin typeface="맑은 고딕"/>
                <a:ea typeface="맑은 고딕"/>
                <a:cs typeface="맑은 고딕"/>
              </a:rPr>
              <a:t>추가 MC 0회</a:t>
            </a:r>
          </a:p>
        </p:txBody>
      </p:sp>
      <p:sp>
        <p:nvSpPr>
          <p:cNvPr id="17" name="Rectangle 16"/>
          <p:cNvSpPr/>
          <p:nvPr/>
        </p:nvSpPr>
        <p:spPr>
          <a:xfrm>
            <a:off x="463296" y="4479925"/>
            <a:ext cx="11265408" cy="24130"/>
          </a:xfrm>
          <a:prstGeom prst="rect">
            <a:avLst/>
          </a:prstGeom>
          <a:solidFill>
            <a:srgbClr val="E7E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697730"/>
            <a:ext cx="10814304" cy="685800"/>
          </a:xfrm>
          <a:prstGeom prst="rect">
            <a:avLst/>
          </a:prstGeom>
          <a:noFill/>
        </p:spPr>
        <p:txBody>
          <a:bodyPr wrap="square" lIns="0" rIns="0" tIns="0" bIns="0" anchor="t">
            <a:noAutofit/>
          </a:bodyPr>
          <a:lstStyle/>
          <a:p>
            <a:pPr algn="l">
              <a:lnSpc>
                <a:spcPct val="130000"/>
              </a:lnSpc>
            </a:pPr>
            <a:r>
              <a:rPr sz="1400" b="1">
                <a:solidFill>
                  <a:srgbClr val="7F7F7F"/>
                </a:solidFill>
                <a:latin typeface="맑은 고딕"/>
                <a:ea typeface="맑은 고딕"/>
                <a:cs typeface="맑은 고딕"/>
              </a:rPr>
              <a:t>한계</a:t>
            </a:r>
            <a:r>
              <a:rPr sz="1400" b="0">
                <a:solidFill>
                  <a:srgbClr val="7F7F7F"/>
                </a:solidFill>
                <a:latin typeface="Malgun Gothic Semilight"/>
                <a:ea typeface="Malgun Gothic Semilight"/>
                <a:cs typeface="Malgun Gothic Semilight"/>
              </a:rPr>
              <a:t> — margin을 Gaussian으로 가정 (tail 형상 보정은 후속) · 역해는 나머지 축을 고정한 조건부 경계 · 기준값은 silicon이 아닌 HSPICE MC</a:t>
            </a:r>
          </a:p>
        </p:txBody>
      </p:sp>
      <p:sp>
        <p:nvSpPr>
          <p:cNvPr id="19" name="TextBox 18"/>
          <p:cNvSpPr txBox="1"/>
          <p:nvPr/>
        </p:nvSpPr>
        <p:spPr>
          <a:xfrm>
            <a:off x="7315200" y="5623560"/>
            <a:ext cx="4413504" cy="548640"/>
          </a:xfrm>
          <a:prstGeom prst="rect">
            <a:avLst/>
          </a:prstGeom>
          <a:noFill/>
        </p:spPr>
        <p:txBody>
          <a:bodyPr wrap="square" lIns="0" rIns="0" tIns="0" bIns="0" anchor="ctr">
            <a:noAutofit/>
          </a:bodyPr>
          <a:lstStyle/>
          <a:p>
            <a:pPr algn="r">
              <a:lnSpc>
                <a:spcPct val="110000"/>
              </a:lnSpc>
            </a:pPr>
            <a:r>
              <a:rPr sz="2800" b="1">
                <a:solidFill>
                  <a:srgbClr val="1428A0"/>
                </a:solidFill>
                <a:latin typeface="맑은 고딕"/>
                <a:ea typeface="맑은 고딕"/>
                <a:cs typeface="맑은 고딕"/>
              </a:rPr>
              <a:t>감사합니다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