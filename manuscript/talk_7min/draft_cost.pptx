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33172"/>
            <a:ext cx="11253216" cy="5417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Simulation 비용: 기존 DOE와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63296" y="887984"/>
            <a:ext cx="11265408" cy="48260"/>
          </a:xfrm>
          <a:prstGeom prst="rect">
            <a:avLst/>
          </a:prstGeom>
          <a:solidFill>
            <a:srgbClr val="E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720" y="6480810"/>
            <a:ext cx="1828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4566A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6494526"/>
            <a:ext cx="9022080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C5759"/>
                </a:solidFill>
                <a:latin typeface="Malgun Gothic Semilight"/>
                <a:ea typeface="Malgun Gothic Semilight"/>
                <a:cs typeface="Malgun Gothic Semilight"/>
              </a:rPr>
              <a:t>deck = 조건 1개 × VDD 1개의 Monte Carlo run · 조건당 Monte Carlo 횟수는 같다고 가정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920" y="6487668"/>
            <a:ext cx="2462784" cy="205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SRAM Vmin 순·역방향 추정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296" y="1097280"/>
            <a:ext cx="5266944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기존: 9D crossed DOE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296" y="1468120"/>
            <a:ext cx="5266944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296" y="1577340"/>
            <a:ext cx="1706880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2D contour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0176" y="1577340"/>
            <a:ext cx="2560320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Malgun Gothic Semilight"/>
                <a:ea typeface="Malgun Gothic Semilight"/>
                <a:cs typeface="Malgun Gothic Semilight"/>
              </a:rPr>
              <a:t>CCD 15점 × 지표 2 × VDD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496" y="1577340"/>
            <a:ext cx="999744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1A1A1A"/>
                </a:solidFill>
                <a:latin typeface="Malgun Gothic Semilight"/>
                <a:ea typeface="Malgun Gothic Semilight"/>
                <a:cs typeface="Malgun Gothic Semilight"/>
              </a:rPr>
              <a:t>150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296" y="2224088"/>
            <a:ext cx="5266944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296" y="2263140"/>
            <a:ext cx="1706880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나머지 7개 knob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0176" y="2263140"/>
            <a:ext cx="2560320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Malgun Gothic Semilight"/>
                <a:ea typeface="Malgun Gothic Semilight"/>
                <a:cs typeface="Malgun Gothic Semilight"/>
              </a:rPr>
              <a:t>3-level grid 3⁷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0496" y="2263140"/>
            <a:ext cx="999744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1A1A1A"/>
                </a:solidFill>
                <a:latin typeface="Malgun Gothic Semilight"/>
                <a:ea typeface="Malgun Gothic Semilight"/>
                <a:cs typeface="Malgun Gothic Semilight"/>
              </a:rPr>
              <a:t>× 2,187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296" y="2909888"/>
            <a:ext cx="5266944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96" y="31546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총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2096" y="3154680"/>
            <a:ext cx="343814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3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328,050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760" y="1097280"/>
            <a:ext cx="5266944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제안: GP 학습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1760" y="1468120"/>
            <a:ext cx="5266944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760" y="1577340"/>
            <a:ext cx="1706880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SNMR · BWRM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1577340"/>
            <a:ext cx="2560320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Malgun Gothic Semilight"/>
                <a:ea typeface="Malgun Gothic Semilight"/>
                <a:cs typeface="Malgun Gothic Semilight"/>
              </a:rPr>
              <a:t>조건 2,000 × 지표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960" y="1577340"/>
            <a:ext cx="999744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1A1A1A"/>
                </a:solidFill>
                <a:latin typeface="Malgun Gothic Semilight"/>
                <a:ea typeface="Malgun Gothic Semilight"/>
                <a:cs typeface="Malgun Gothic Semilight"/>
              </a:rPr>
              <a:t>4,000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2224088"/>
            <a:ext cx="5266944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760" y="2263140"/>
            <a:ext cx="1706880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VDD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2263140"/>
            <a:ext cx="2560320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1A1A"/>
                </a:solidFill>
                <a:latin typeface="Malgun Gothic Semilight"/>
                <a:ea typeface="Malgun Gothic Semilight"/>
                <a:cs typeface="Malgun Gothic Semilight"/>
              </a:rPr>
              <a:t>5개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960" y="2263140"/>
            <a:ext cx="999744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800" b="0">
                <a:solidFill>
                  <a:srgbClr val="1A1A1A"/>
                </a:solidFill>
                <a:latin typeface="Malgun Gothic Semilight"/>
                <a:ea typeface="Malgun Gothic Semilight"/>
                <a:cs typeface="Malgun Gothic Semilight"/>
              </a:rPr>
              <a:t>×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1760" y="2909888"/>
            <a:ext cx="5266944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760" y="31546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총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560" y="3154680"/>
            <a:ext cx="343814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34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20,000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1238" y="1097280"/>
            <a:ext cx="9525" cy="30175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320540"/>
            <a:ext cx="4876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1/16</a:t>
            </a:r>
            <a:r>
              <a:rPr sz="1800">
                <a:solidFill>
                  <a:srgbClr val="1428A0"/>
                </a:solidFill>
                <a:latin typeface="Malgun Gothic Semilight"/>
                <a:ea typeface="Malgun Gothic Semilight"/>
                <a:cs typeface="Malgun Gothic Semilight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910328"/>
            <a:ext cx="48768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7F7F7F"/>
                </a:solidFill>
                <a:latin typeface="Malgun Gothic Semilight"/>
                <a:ea typeface="Malgun Gothic Semilight"/>
                <a:cs typeface="Malgun Gothic Semilight"/>
              </a:rPr>
              <a:t>deck 수 (20,000 ÷ 328,050)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3296" y="5481638"/>
            <a:ext cx="11265408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296" y="5568696"/>
            <a:ext cx="11265408" cy="4800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428A0"/>
                </a:solidFill>
                <a:latin typeface="맑은 고딕"/>
                <a:ea typeface="맑은 고딕"/>
                <a:cs typeface="맑은 고딕"/>
              </a:rPr>
              <a:t>9개 knob 전체를 보는 데 필요한 simulation이 1/16로 줄어든다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