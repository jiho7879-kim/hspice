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공정 변동 하의 SRAM Vmin 순·역방향 추정을 위한 physics-guided framework를 소개하겠습니다.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제가 맡고 있는 FinFET 공정은 node를 가리지 않고 Low VDD, Low Vmin, Low leakage를 요구하는 VOC가 계속 들어오고 있습니다. 그래서 기존 cell을 개선하거나 신규 cell을 개발해야 하고, simulation 단계에서 검토할 조건도 그만큼 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SRAM cell은 pull-up, pull-down, pass-gate마다 Vth, local mismatch, mobility를 바꿀 수 있습니다. 그런데 조건 하나의 Vmin을 보려면 VDD 5개에서 Monte Carlo simulation을 5,000번씩, 모두 2만 5천 번 수행해야 합니다. 조건이 늘수록 비용도 그대로 늘어서, 실제로 시도해 볼 수 있는 조건은 몇 개뿐입니다.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Monte Carlo simulation 결과로 Vmin model을 만들었습니다. 이 model은 두 방향으로 추정할 수 있습니다. 순방향은 공정 조건을 넣으면 그 조건의 Vmin을 찾습니다. 역방향은 목표 Vmin을 넣으면 그 목표를 맞추는 공정 조건을 찾습니다. 두 방향 모두 Monte Carlo simulation을 다시 수행하지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기존에는 Vop를 sweep하면서 SNMR과 Vtrip의 중심치를 산포로 나눈 Z-score를 구하고, memory density 등으로 정해지는 target Z를 처음 만족하는 전압을 Vmin으로 찾습니다. 그래서 model도 Vmin을 직접 학습하지 않고 중심치와 산포를 학습했습니다. Vmin은 기존과 같은 방식으로 계산합니다. 이렇게 하면 target Z가 바뀌어도 다시 학습할 필요가 없고, 부드럽게 변하는 값을 학습하니 더 정확합니다.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framework를 physics-guided라고 부르는 이유는, 물리로 정해진 부분은 학습시키지 않았기 때문입니다. 먼저 Vmin 계산식입니다. 중심치를 산포로 나눈 z가 target Z를 처음 넘는 전압이 Vmin인데, target Z는 array 크기와 yield 목표로 계산한 값이고, 이 식에는 학습하는 값이 하나도 없습니다. 둘째, 이 계산은 공급 전압에 대해 단조라서, 목표 Vmin에서 공정 조건을 거꾸로 찾는 역방향 추정이 이분 탐색으로 안정적으로 풀립니다. 셋째, 데이터도 물리로 점검했습니다. 공급 전압을 올리면 margin 중심치는 커져야 하므로, 이를 어기는 값은 전사 오류로 보고 바로잡았습니다. 마지막으로 GP는 공정 조건이 조금 바뀌면 margin도 조금 바뀐다는 연속성을 전제로 하고, 산포는 Monte Carlo 오차가 일정해지는 log 축에서 학습했습니다.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입력 축은 Vth, local mismatch, mobility 세 종류를 NMOS와 PMOS에 나눠 잡았습니다. NMOS는 pull-down과 pass-gate 두 개가 있는데, 같은 NMOS라 대부분 함께 움직입니다. 그래서 기본은 둘을 함께 움직이는 공통 축으로 두고, 완전히 같지는 않으니 둘의 차이를 skew 축 하나로 허용했습니다. 범위는 Vth가 ±60 mV로 PDK corner를 모두 안에 포함하고, local mismatch와 mobility는 ±30 %로 개선 목표의 경계가 범위 안에 들어오도록 넉넉하게 잡았습니다. skew는 공통 범위의 1/4에서 1/3 정도로 작게 두었습니다. 표본은 read와 write 각각 2,000개 조건이고, 각 축은 범위 안에서 random으로 뽑되 Vmin이 나빠지는 사분면에 45 %를 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framework를 physics-guided라고 부르는 이유는, 물리로 정해진 부분은 학습시키지 않았기 때문입니다. 먼저 Vmin 계산식입니다. 중심치를 산포로 나눈 z가 target Z를 처음 넘는 전압이 Vmin인데, target Z는 array 크기와 yield 목표로 계산한 값이고, 이 식에는 학습하는 값이 하나도 없습니다. 둘째, 이 계산은 공급 전압에 대해 단조라서, 목표 Vmin에서 공정 조건을 거꾸로 찾는 역방향 추정이 이분 탐색으로 안정적으로 풀립니다. 셋째, 데이터도 물리로 점검했습니다. 공급 전압을 올리면 margin 중심치는 커져야 하므로, 이를 어기는 값은 전사 오류로 보고 바로잡았습니다. 마지막으로 GP는 공정 조건이 조금 바뀌면 margin도 조금 바뀐다는 연속성을 전제로 하고, 산포는 Monte Carlo 오차가 일정해지는 log 축에서 학습했습니다.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입력 축은 Vth, local mismatch, mobility 세 종류를 NMOS와 PMOS에 나눠 잡았습니다. NMOS는 pull-down과 pass-gate 두 개가 있는데, 같은 NMOS라 대부분 함께 움직입니다. 그래서 기본은 둘을 함께 움직이는 공통 축으로 두고, 완전히 같지는 않으니 둘의 차이를 skew 축 하나로 허용했습니다. 범위는 Vth가 ±60 mV로 PDK corner를 모두 안에 포함하고, local mismatch와 mobility는 ±30 %로 개선 목표의 경계가 범위 안에 들어오도록 넉넉하게 잡았습니다. skew는 공통 범위의 1/4에서 1/3 정도로 작게 두었습니다. 표본은 read와 write 각각 2,000개 조건이고, 각 축은 범위 안에서 random으로 뽑되 Vmin이 나빠지는 사분면에 45 %를 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model은 GP와 ARD로 만들었습니다. 아파트 시세에 비유하면, 우리 집 시세는 근처에서 비슷한 집이 얼마에 팔렸는지 보고 짐작합니다. GP도 Monte Carlo simulation을 수행한 조건으로, 수행하지 않은 조건을 추정합니다. 또 역까지 거리는 조금만 달라도 시세가 크게 바뀌지만 층수는 몇 층 달라도 비슷합니다. ARD는 이렇게 knob마다 영향을 주는 정도를 따로 배웁니다.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비교 기준은 silicon이 아니라, 같은 조건에서 수행한 기존 Monte Carlo simulation입니다. 학습에 쓰지 않은 조건에서 두 결과를 비교하니 Vmin 오차는 read 3.98 mV, write 5.65 mV였습니다. 학습에서 뺀 PDK corner에서도 Read worst와 Write worst를 맞게 찾았습니다.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VOC에 적용해 보겠습니다. Vmin을 0.625 V에서 0.575 V로 50 mV 낮춰 달라는 요청이었고, 현재 공정으로는 read가 21 mV, write가 18 mV 모자랍니다. 둘 다 맞춰야 하니 cell Vmin은 둘 중 나쁜 쪽으로 봤습니다.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나머지 조건은 그대로 두고, knob을 하나씩 바꿀 때 목표에 닿으려면 얼마나 바꿔야 하는지 역방향으로 추정했습니다. 막대가 짧을수록 효과적인 knob입니다. NMOS local mismatch는 10.9 %를 줄이면 되고, NMOS와 PMOS를 함께 줄이면 각각 7.8 %면 됩니다. 반면 Vth와 mobility는 어느 것도 목표에 닿지 못했습니다. read가 좋아지면 write가 나빠지기 때문입니다. read와 write를 함께 낮추는 건 local mismatch뿐이었습니다.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가로축은 NMOS Vth, 세로축은 PMOS Vth이고, 색칠한 영역이 read와 write 모두 0.575 V를 만족하는 곳입니다. 지금은 Read worst와 Write worst가 영역 밖에 있지만, NMOS local mismatch를 10.9 % 줄이면 영역이 넓어져 둘 다 경계 안으로 들어옵니다. 이 결과를 얻는 데 Monte Carlo simulation은 한 번도 더 하지 않았습니다.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920240"/>
            <a:ext cx="10728960" cy="1234440"/>
          </a:xfrm>
          <a:prstGeom prst="rect">
            <a:avLst/>
          </a:prstGeom>
          <a:noFill/>
        </p:spPr>
        <p:txBody>
          <a:bodyPr wrap="square" lIns="0" rIns="0" tIns="0" bIns="0" anchor="ctr">
            <a:noAutofit/>
          </a:bodyPr>
          <a:lstStyle/>
          <a:p>
            <a:pPr algn="ctr">
              <a:lnSpc>
                <a:spcPct val="115000"/>
              </a:lnSpc>
            </a:pPr>
            <a:r>
              <a:rPr sz="3400" b="1">
                <a:solidFill>
                  <a:srgbClr val="1A1A1A"/>
                </a:solidFill>
                <a:latin typeface="맑은 고딕"/>
                <a:ea typeface="맑은 고딕"/>
                <a:cs typeface="맑은 고딕"/>
              </a:rPr>
              <a:t>공정 변동 하의 SRAM Vmin 순·역방향 추정을 위한</a:t>
            </a:r>
          </a:p>
          <a:p>
            <a:pPr algn="ctr">
              <a:lnSpc>
                <a:spcPct val="115000"/>
              </a:lnSpc>
            </a:pPr>
            <a:r>
              <a:rPr sz="3400" b="1">
                <a:solidFill>
                  <a:srgbClr val="1A1A1A"/>
                </a:solidFill>
                <a:latin typeface="맑은 고딕"/>
                <a:ea typeface="맑은 고딕"/>
                <a:cs typeface="맑은 고딕"/>
              </a:rPr>
              <a:t>physics-guided framework</a:t>
            </a:r>
          </a:p>
        </p:txBody>
      </p:sp>
      <p:sp>
        <p:nvSpPr>
          <p:cNvPr id="3" name="Rectangle 2"/>
          <p:cNvSpPr/>
          <p:nvPr/>
        </p:nvSpPr>
        <p:spPr>
          <a:xfrm>
            <a:off x="5364480" y="3385185"/>
            <a:ext cx="1463040" cy="19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5360" y="3634740"/>
            <a:ext cx="10241280" cy="548640"/>
          </a:xfrm>
          <a:prstGeom prst="rect">
            <a:avLst/>
          </a:prstGeom>
          <a:noFill/>
        </p:spPr>
        <p:txBody>
          <a:bodyPr wrap="square" lIns="0" rIns="0" tIns="0" bIns="0" anchor="t">
            <a:noAutofit/>
          </a:bodyPr>
          <a:lstStyle/>
          <a:p>
            <a:pPr algn="ctr">
              <a:lnSpc>
                <a:spcPct val="110000"/>
              </a:lnSpc>
            </a:pPr>
            <a:r>
              <a:rPr sz="1500" b="0">
                <a:solidFill>
                  <a:srgbClr val="7F7F7F"/>
                </a:solidFill>
                <a:latin typeface="Malgun Gothic Semilight"/>
                <a:ea typeface="Malgun Gothic Semilight"/>
                <a:cs typeface="Malgun Gothic Semilight"/>
              </a:rPr>
              <a:t>A Physics-Guided Framework for Forward and Inverse SRAM Vmin Estimation Under Process Variation</a:t>
            </a:r>
          </a:p>
        </p:txBody>
      </p:sp>
      <p:sp>
        <p:nvSpPr>
          <p:cNvPr id="5" name="TextBox 4"/>
          <p:cNvSpPr txBox="1"/>
          <p:nvPr/>
        </p:nvSpPr>
        <p:spPr>
          <a:xfrm>
            <a:off x="609600" y="5349240"/>
            <a:ext cx="10972800" cy="274320"/>
          </a:xfrm>
          <a:prstGeom prst="rect">
            <a:avLst/>
          </a:prstGeom>
          <a:noFill/>
        </p:spPr>
        <p:txBody>
          <a:bodyPr wrap="square" lIns="0" rIns="0" tIns="0" bIns="0" anchor="t">
            <a:noAutofit/>
          </a:bodyPr>
          <a:lstStyle/>
          <a:p>
            <a:pPr algn="ctr">
              <a:lnSpc>
                <a:spcPct val="110000"/>
              </a:lnSpc>
            </a:pPr>
            <a:r>
              <a:rPr sz="1700" b="0">
                <a:solidFill>
                  <a:srgbClr val="1A1A1A"/>
                </a:solidFill>
                <a:latin typeface="Malgun Gothic Semilight"/>
                <a:ea typeface="Malgun Gothic Semilight"/>
                <a:cs typeface="Malgun Gothic Semilight"/>
              </a:rPr>
              <a:t>[발표자]  ·  [소속]</a:t>
            </a:r>
          </a:p>
        </p:txBody>
      </p:sp>
      <p:sp>
        <p:nvSpPr>
          <p:cNvPr id="6" name="TextBox 5"/>
          <p:cNvSpPr txBox="1"/>
          <p:nvPr/>
        </p:nvSpPr>
        <p:spPr>
          <a:xfrm>
            <a:off x="609600" y="5760720"/>
            <a:ext cx="10972800" cy="240030"/>
          </a:xfrm>
          <a:prstGeom prst="rect">
            <a:avLst/>
          </a:prstGeom>
          <a:noFill/>
        </p:spPr>
        <p:txBody>
          <a:bodyPr wrap="square" lIns="0" rIns="0" tIns="0" bIns="0" anchor="t">
            <a:noAutofit/>
          </a:bodyPr>
          <a:lstStyle/>
          <a:p>
            <a:pPr algn="ctr">
              <a:lnSpc>
                <a:spcPct val="110000"/>
              </a:lnSpc>
            </a:pPr>
            <a:r>
              <a:rPr sz="1300" b="0">
                <a:solidFill>
                  <a:srgbClr val="7F7F7F"/>
                </a:solidFill>
                <a:latin typeface="Malgun Gothic Semilight"/>
                <a:ea typeface="Malgun Gothic Semilight"/>
                <a:cs typeface="Malgun Gothic Semilight"/>
              </a:rP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33172"/>
            <a:ext cx="11253216" cy="541782"/>
          </a:xfrm>
          <a:prstGeom prst="rect">
            <a:avLst/>
          </a:prstGeom>
          <a:noFill/>
        </p:spPr>
        <p:txBody>
          <a:bodyPr wrap="square" lIns="0" rIns="0" tIns="0" bIns="0" anchor="ctr">
            <a:noAutofit/>
          </a:bodyPr>
          <a:lstStyle/>
          <a:p>
            <a:pPr algn="l">
              <a:lnSpc>
                <a:spcPct val="110000"/>
              </a:lnSpc>
            </a:pPr>
            <a:r>
              <a:rPr sz="3000" b="1">
                <a:solidFill>
                  <a:srgbClr val="000000"/>
                </a:solidFill>
                <a:latin typeface="맑은 고딕"/>
                <a:ea typeface="맑은 고딕"/>
                <a:cs typeface="맑은 고딕"/>
              </a:rPr>
              <a:t>배경: FinFET Low power VOC와 SRAM cell 검토 수요</a:t>
            </a:r>
          </a:p>
        </p:txBody>
      </p:sp>
      <p:sp>
        <p:nvSpPr>
          <p:cNvPr id="3" name="Rectangle 2"/>
          <p:cNvSpPr/>
          <p:nvPr/>
        </p:nvSpPr>
        <p:spPr>
          <a:xfrm>
            <a:off x="463296" y="887984"/>
            <a:ext cx="11265408" cy="48260"/>
          </a:xfrm>
          <a:prstGeom prst="rect">
            <a:avLst/>
          </a:prstGeom>
          <a:solidFill>
            <a:srgbClr val="E7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6720" y="6480810"/>
            <a:ext cx="182880" cy="205740"/>
          </a:xfrm>
          <a:prstGeom prst="rect">
            <a:avLst/>
          </a:prstGeom>
          <a:noFill/>
        </p:spPr>
        <p:txBody>
          <a:bodyPr wrap="square" lIns="0" rIns="0" tIns="0" bIns="0" anchor="t">
            <a:noAutofit/>
          </a:bodyPr>
          <a:lstStyle/>
          <a:p>
            <a:pPr algn="l">
              <a:lnSpc>
                <a:spcPct val="110000"/>
              </a:lnSpc>
            </a:pPr>
            <a:r>
              <a:rPr sz="1000" b="1">
                <a:solidFill>
                  <a:srgbClr val="44566A"/>
                </a:solidFill>
                <a:latin typeface="맑은 고딕"/>
                <a:ea typeface="맑은 고딕"/>
                <a:cs typeface="맑은 고딕"/>
              </a:rPr>
              <a:t>2</a:t>
            </a:r>
          </a:p>
        </p:txBody>
      </p:sp>
      <p:sp>
        <p:nvSpPr>
          <p:cNvPr id="5" name="TextBox 4"/>
          <p:cNvSpPr txBox="1"/>
          <p:nvPr/>
        </p:nvSpPr>
        <p:spPr>
          <a:xfrm>
            <a:off x="670560" y="6494526"/>
            <a:ext cx="9022080" cy="205740"/>
          </a:xfrm>
          <a:prstGeom prst="rect">
            <a:avLst/>
          </a:prstGeom>
          <a:noFill/>
        </p:spPr>
        <p:txBody>
          <a:bodyPr wrap="square" lIns="0" rIns="0" tIns="0" bIns="0" anchor="t">
            <a:noAutofit/>
          </a:bodyPr>
          <a:lstStyle/>
          <a:p>
            <a:pPr algn="l">
              <a:lnSpc>
                <a:spcPct val="110000"/>
              </a:lnSpc>
            </a:pPr>
            <a:r>
              <a:rPr sz="900" b="0">
                <a:solidFill>
                  <a:srgbClr val="4C5759"/>
                </a:solidFill>
                <a:latin typeface="Malgun Gothic Semilight"/>
                <a:ea typeface="Malgun Gothic Semilight"/>
                <a:cs typeface="Malgun Gothic Semilight"/>
              </a:rPr>
              <a:t>세 가지 VOC 중 이 연구는 Vmin을 다룬다</a:t>
            </a:r>
          </a:p>
        </p:txBody>
      </p:sp>
      <p:sp>
        <p:nvSpPr>
          <p:cNvPr id="6" name="TextBox 5"/>
          <p:cNvSpPr txBox="1"/>
          <p:nvPr/>
        </p:nvSpPr>
        <p:spPr>
          <a:xfrm>
            <a:off x="9265920" y="6487668"/>
            <a:ext cx="2462784" cy="205740"/>
          </a:xfrm>
          <a:prstGeom prst="rect">
            <a:avLst/>
          </a:prstGeom>
          <a:noFill/>
        </p:spPr>
        <p:txBody>
          <a:bodyPr wrap="square" lIns="0" rIns="0" tIns="0" bIns="0" anchor="t">
            <a:noAutofit/>
          </a:bodyPr>
          <a:lstStyle/>
          <a:p>
            <a:pPr algn="r">
              <a:lnSpc>
                <a:spcPct val="110000"/>
              </a:lnSpc>
            </a:pPr>
            <a:r>
              <a:rPr sz="900" b="0">
                <a:solidFill>
                  <a:srgbClr val="7F7F7F"/>
                </a:solidFill>
                <a:latin typeface="Malgun Gothic Semilight"/>
                <a:ea typeface="Malgun Gothic Semilight"/>
                <a:cs typeface="Malgun Gothic Semilight"/>
              </a:rPr>
              <a:t>SRAM Vmin 순·역방향 추정</a:t>
            </a:r>
          </a:p>
        </p:txBody>
      </p:sp>
      <p:sp>
        <p:nvSpPr>
          <p:cNvPr id="7" name="TextBox 6"/>
          <p:cNvSpPr txBox="1"/>
          <p:nvPr/>
        </p:nvSpPr>
        <p:spPr>
          <a:xfrm>
            <a:off x="475488" y="1097280"/>
            <a:ext cx="11253216" cy="308610"/>
          </a:xfrm>
          <a:prstGeom prst="rect">
            <a:avLst/>
          </a:prstGeom>
          <a:noFill/>
        </p:spPr>
        <p:txBody>
          <a:bodyPr wrap="square" lIns="0" rIns="0" tIns="0" bIns="0" anchor="t">
            <a:noAutofit/>
          </a:bodyPr>
          <a:lstStyle/>
          <a:p>
            <a:pPr algn="l">
              <a:lnSpc>
                <a:spcPct val="110000"/>
              </a:lnSpc>
            </a:pPr>
            <a:r>
              <a:rPr sz="1400" b="1">
                <a:solidFill>
                  <a:srgbClr val="7F7F7F"/>
                </a:solidFill>
                <a:latin typeface="맑은 고딕"/>
                <a:ea typeface="맑은 고딕"/>
                <a:cs typeface="맑은 고딕"/>
              </a:rPr>
              <a:t>node를 가리지 않고 들어오는 VOC</a:t>
            </a:r>
          </a:p>
        </p:txBody>
      </p:sp>
      <p:sp>
        <p:nvSpPr>
          <p:cNvPr id="8" name="Rectangle 7"/>
          <p:cNvSpPr/>
          <p:nvPr/>
        </p:nvSpPr>
        <p:spPr>
          <a:xfrm>
            <a:off x="463296" y="1508760"/>
            <a:ext cx="3511296" cy="164592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296" y="1714500"/>
            <a:ext cx="3511296" cy="754380"/>
          </a:xfrm>
          <a:prstGeom prst="rect">
            <a:avLst/>
          </a:prstGeom>
          <a:noFill/>
        </p:spPr>
        <p:txBody>
          <a:bodyPr wrap="square" lIns="0" rIns="0" tIns="0" bIns="0" anchor="ctr">
            <a:noAutofit/>
          </a:bodyPr>
          <a:lstStyle/>
          <a:p>
            <a:pPr algn="ctr">
              <a:lnSpc>
                <a:spcPct val="110000"/>
              </a:lnSpc>
            </a:pPr>
            <a:r>
              <a:rPr sz="3400" b="1">
                <a:solidFill>
                  <a:srgbClr val="1A1A1A"/>
                </a:solidFill>
                <a:latin typeface="맑은 고딕"/>
                <a:ea typeface="맑은 고딕"/>
                <a:cs typeface="맑은 고딕"/>
              </a:rPr>
              <a:t>Low VDD</a:t>
            </a:r>
          </a:p>
        </p:txBody>
      </p:sp>
      <p:sp>
        <p:nvSpPr>
          <p:cNvPr id="10" name="TextBox 9"/>
          <p:cNvSpPr txBox="1"/>
          <p:nvPr/>
        </p:nvSpPr>
        <p:spPr>
          <a:xfrm>
            <a:off x="463296" y="2537460"/>
            <a:ext cx="3511296" cy="411480"/>
          </a:xfrm>
          <a:prstGeom prst="rect">
            <a:avLst/>
          </a:prstGeom>
          <a:noFill/>
        </p:spPr>
        <p:txBody>
          <a:bodyPr wrap="square" lIns="0" rIns="0" tIns="0" bIns="0" anchor="t">
            <a:noAutofit/>
          </a:bodyPr>
          <a:lstStyle/>
          <a:p>
            <a:pPr algn="ctr">
              <a:lnSpc>
                <a:spcPct val="110000"/>
              </a:lnSpc>
            </a:pPr>
            <a:r>
              <a:rPr sz="1500" b="0">
                <a:solidFill>
                  <a:srgbClr val="7F7F7F"/>
                </a:solidFill>
                <a:latin typeface="Malgun Gothic Semilight"/>
                <a:ea typeface="Malgun Gothic Semilight"/>
                <a:cs typeface="Malgun Gothic Semilight"/>
              </a:rPr>
              <a:t>더 낮은 전압에서 동작</a:t>
            </a:r>
          </a:p>
        </p:txBody>
      </p:sp>
      <p:sp>
        <p:nvSpPr>
          <p:cNvPr id="11" name="Rectangle 10"/>
          <p:cNvSpPr/>
          <p:nvPr/>
        </p:nvSpPr>
        <p:spPr>
          <a:xfrm>
            <a:off x="4340352" y="1508760"/>
            <a:ext cx="3511296" cy="1645920"/>
          </a:xfrm>
          <a:prstGeom prst="rect">
            <a:avLst/>
          </a:prstGeom>
          <a:solidFill>
            <a:srgbClr val="FFFFFF"/>
          </a:solidFill>
          <a:ln w="2222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0352" y="1714500"/>
            <a:ext cx="3511296" cy="754380"/>
          </a:xfrm>
          <a:prstGeom prst="rect">
            <a:avLst/>
          </a:prstGeom>
          <a:noFill/>
        </p:spPr>
        <p:txBody>
          <a:bodyPr wrap="square" lIns="0" rIns="0" tIns="0" bIns="0" anchor="ctr">
            <a:noAutofit/>
          </a:bodyPr>
          <a:lstStyle/>
          <a:p>
            <a:pPr algn="ctr">
              <a:lnSpc>
                <a:spcPct val="110000"/>
              </a:lnSpc>
            </a:pPr>
            <a:r>
              <a:rPr sz="3400" b="1">
                <a:solidFill>
                  <a:srgbClr val="1428A0"/>
                </a:solidFill>
                <a:latin typeface="맑은 고딕"/>
                <a:ea typeface="맑은 고딕"/>
                <a:cs typeface="맑은 고딕"/>
              </a:rPr>
              <a:t>Low Vmin</a:t>
            </a:r>
          </a:p>
        </p:txBody>
      </p:sp>
      <p:sp>
        <p:nvSpPr>
          <p:cNvPr id="13" name="TextBox 12"/>
          <p:cNvSpPr txBox="1"/>
          <p:nvPr/>
        </p:nvSpPr>
        <p:spPr>
          <a:xfrm>
            <a:off x="4340352" y="2537460"/>
            <a:ext cx="3511296" cy="411480"/>
          </a:xfrm>
          <a:prstGeom prst="rect">
            <a:avLst/>
          </a:prstGeom>
          <a:noFill/>
        </p:spPr>
        <p:txBody>
          <a:bodyPr wrap="square" lIns="0" rIns="0" tIns="0" bIns="0" anchor="t">
            <a:noAutofit/>
          </a:bodyPr>
          <a:lstStyle/>
          <a:p>
            <a:pPr algn="ctr">
              <a:lnSpc>
                <a:spcPct val="110000"/>
              </a:lnSpc>
            </a:pPr>
            <a:r>
              <a:rPr sz="1500" b="0">
                <a:solidFill>
                  <a:srgbClr val="7F7F7F"/>
                </a:solidFill>
                <a:latin typeface="Malgun Gothic Semilight"/>
                <a:ea typeface="Malgun Gothic Semilight"/>
                <a:cs typeface="Malgun Gothic Semilight"/>
              </a:rPr>
              <a:t>SRAM이 버티는 최소 전압을 낮춤</a:t>
            </a:r>
          </a:p>
        </p:txBody>
      </p:sp>
      <p:sp>
        <p:nvSpPr>
          <p:cNvPr id="14" name="Rectangle 13"/>
          <p:cNvSpPr/>
          <p:nvPr/>
        </p:nvSpPr>
        <p:spPr>
          <a:xfrm>
            <a:off x="8217408" y="1508760"/>
            <a:ext cx="3511296" cy="164592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7408" y="1714500"/>
            <a:ext cx="3511296" cy="754380"/>
          </a:xfrm>
          <a:prstGeom prst="rect">
            <a:avLst/>
          </a:prstGeom>
          <a:noFill/>
        </p:spPr>
        <p:txBody>
          <a:bodyPr wrap="square" lIns="0" rIns="0" tIns="0" bIns="0" anchor="ctr">
            <a:noAutofit/>
          </a:bodyPr>
          <a:lstStyle/>
          <a:p>
            <a:pPr algn="ctr">
              <a:lnSpc>
                <a:spcPct val="110000"/>
              </a:lnSpc>
            </a:pPr>
            <a:r>
              <a:rPr sz="3400" b="1">
                <a:solidFill>
                  <a:srgbClr val="1A1A1A"/>
                </a:solidFill>
                <a:latin typeface="맑은 고딕"/>
                <a:ea typeface="맑은 고딕"/>
                <a:cs typeface="맑은 고딕"/>
              </a:rPr>
              <a:t>Low leakage</a:t>
            </a:r>
          </a:p>
        </p:txBody>
      </p:sp>
      <p:sp>
        <p:nvSpPr>
          <p:cNvPr id="16" name="TextBox 15"/>
          <p:cNvSpPr txBox="1"/>
          <p:nvPr/>
        </p:nvSpPr>
        <p:spPr>
          <a:xfrm>
            <a:off x="8217408" y="2537460"/>
            <a:ext cx="3511296" cy="411480"/>
          </a:xfrm>
          <a:prstGeom prst="rect">
            <a:avLst/>
          </a:prstGeom>
          <a:noFill/>
        </p:spPr>
        <p:txBody>
          <a:bodyPr wrap="square" lIns="0" rIns="0" tIns="0" bIns="0" anchor="t">
            <a:noAutofit/>
          </a:bodyPr>
          <a:lstStyle/>
          <a:p>
            <a:pPr algn="ctr">
              <a:lnSpc>
                <a:spcPct val="110000"/>
              </a:lnSpc>
            </a:pPr>
            <a:r>
              <a:rPr sz="1500" b="0">
                <a:solidFill>
                  <a:srgbClr val="7F7F7F"/>
                </a:solidFill>
                <a:latin typeface="Malgun Gothic Semilight"/>
                <a:ea typeface="Malgun Gothic Semilight"/>
                <a:cs typeface="Malgun Gothic Semilight"/>
              </a:rPr>
              <a:t>대기 전력을 줄임</a:t>
            </a:r>
          </a:p>
        </p:txBody>
      </p:sp>
      <p:sp>
        <p:nvSpPr>
          <p:cNvPr id="17" name="TextBox 16"/>
          <p:cNvSpPr txBox="1"/>
          <p:nvPr/>
        </p:nvSpPr>
        <p:spPr>
          <a:xfrm>
            <a:off x="475488" y="3566160"/>
            <a:ext cx="11253216" cy="308610"/>
          </a:xfrm>
          <a:prstGeom prst="rect">
            <a:avLst/>
          </a:prstGeom>
          <a:noFill/>
        </p:spPr>
        <p:txBody>
          <a:bodyPr wrap="square" lIns="0" rIns="0" tIns="0" bIns="0" anchor="t">
            <a:noAutofit/>
          </a:bodyPr>
          <a:lstStyle/>
          <a:p>
            <a:pPr algn="l">
              <a:lnSpc>
                <a:spcPct val="110000"/>
              </a:lnSpc>
            </a:pPr>
            <a:r>
              <a:rPr sz="1400" b="1">
                <a:solidFill>
                  <a:srgbClr val="7F7F7F"/>
                </a:solidFill>
                <a:latin typeface="맑은 고딕"/>
                <a:ea typeface="맑은 고딕"/>
                <a:cs typeface="맑은 고딕"/>
              </a:rPr>
              <a:t>그래서</a:t>
            </a:r>
          </a:p>
        </p:txBody>
      </p:sp>
      <p:sp>
        <p:nvSpPr>
          <p:cNvPr id="18" name="Rectangle 17"/>
          <p:cNvSpPr/>
          <p:nvPr/>
        </p:nvSpPr>
        <p:spPr>
          <a:xfrm>
            <a:off x="463296" y="3909060"/>
            <a:ext cx="3495040" cy="6858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0832" y="3909060"/>
            <a:ext cx="3299968" cy="685800"/>
          </a:xfrm>
          <a:prstGeom prst="rect">
            <a:avLst/>
          </a:prstGeom>
          <a:noFill/>
        </p:spPr>
        <p:txBody>
          <a:bodyPr wrap="square" lIns="0" rIns="0" tIns="0" bIns="0" anchor="ctr">
            <a:noAutofit/>
          </a:bodyPr>
          <a:lstStyle/>
          <a:p>
            <a:pPr algn="ctr">
              <a:lnSpc>
                <a:spcPct val="100000"/>
              </a:lnSpc>
            </a:pPr>
            <a:r>
              <a:rPr sz="1600" b="0">
                <a:solidFill>
                  <a:srgbClr val="1A1A1A"/>
                </a:solidFill>
                <a:latin typeface="Malgun Gothic Semilight"/>
                <a:ea typeface="Malgun Gothic Semilight"/>
                <a:cs typeface="Malgun Gothic Semilight"/>
              </a:rPr>
              <a:t>Low VDD · Vmin · leakage VOC</a:t>
            </a:r>
          </a:p>
        </p:txBody>
      </p:sp>
      <p:sp>
        <p:nvSpPr>
          <p:cNvPr id="20" name="TextBox 19"/>
          <p:cNvSpPr txBox="1"/>
          <p:nvPr/>
        </p:nvSpPr>
        <p:spPr>
          <a:xfrm>
            <a:off x="3958336" y="3909060"/>
            <a:ext cx="390144" cy="685800"/>
          </a:xfrm>
          <a:prstGeom prst="rect">
            <a:avLst/>
          </a:prstGeom>
          <a:noFill/>
        </p:spPr>
        <p:txBody>
          <a:bodyPr wrap="square" lIns="0" rIns="0" tIns="0" bIns="0" anchor="ctr">
            <a:noAutofit/>
          </a:bodyPr>
          <a:lstStyle/>
          <a:p>
            <a:pPr algn="ctr">
              <a:lnSpc>
                <a:spcPct val="110000"/>
              </a:lnSpc>
            </a:pPr>
            <a:r>
              <a:rPr sz="1800" b="0">
                <a:solidFill>
                  <a:srgbClr val="7F7F7F"/>
                </a:solidFill>
                <a:latin typeface="Malgun Gothic Semilight"/>
                <a:ea typeface="Malgun Gothic Semilight"/>
                <a:cs typeface="Malgun Gothic Semilight"/>
              </a:rPr>
              <a:t>→</a:t>
            </a:r>
          </a:p>
        </p:txBody>
      </p:sp>
      <p:sp>
        <p:nvSpPr>
          <p:cNvPr id="21" name="Rectangle 20"/>
          <p:cNvSpPr/>
          <p:nvPr/>
        </p:nvSpPr>
        <p:spPr>
          <a:xfrm>
            <a:off x="4348480" y="3909060"/>
            <a:ext cx="3495040" cy="6858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46016" y="3909060"/>
            <a:ext cx="3299968" cy="685800"/>
          </a:xfrm>
          <a:prstGeom prst="rect">
            <a:avLst/>
          </a:prstGeom>
          <a:noFill/>
        </p:spPr>
        <p:txBody>
          <a:bodyPr wrap="square" lIns="0" rIns="0" tIns="0" bIns="0" anchor="ctr">
            <a:noAutofit/>
          </a:bodyPr>
          <a:lstStyle/>
          <a:p>
            <a:pPr algn="ctr">
              <a:lnSpc>
                <a:spcPct val="100000"/>
              </a:lnSpc>
            </a:pPr>
            <a:r>
              <a:rPr sz="1600" b="0">
                <a:solidFill>
                  <a:srgbClr val="1A1A1A"/>
                </a:solidFill>
                <a:latin typeface="Malgun Gothic Semilight"/>
                <a:ea typeface="Malgun Gothic Semilight"/>
                <a:cs typeface="Malgun Gothic Semilight"/>
              </a:rPr>
              <a:t>기존 cell 개선 · 신규 cell 개발</a:t>
            </a:r>
          </a:p>
        </p:txBody>
      </p:sp>
      <p:sp>
        <p:nvSpPr>
          <p:cNvPr id="23" name="TextBox 22"/>
          <p:cNvSpPr txBox="1"/>
          <p:nvPr/>
        </p:nvSpPr>
        <p:spPr>
          <a:xfrm>
            <a:off x="7843520" y="3909060"/>
            <a:ext cx="390144" cy="685800"/>
          </a:xfrm>
          <a:prstGeom prst="rect">
            <a:avLst/>
          </a:prstGeom>
          <a:noFill/>
        </p:spPr>
        <p:txBody>
          <a:bodyPr wrap="square" lIns="0" rIns="0" tIns="0" bIns="0" anchor="ctr">
            <a:noAutofit/>
          </a:bodyPr>
          <a:lstStyle/>
          <a:p>
            <a:pPr algn="ctr">
              <a:lnSpc>
                <a:spcPct val="110000"/>
              </a:lnSpc>
            </a:pPr>
            <a:r>
              <a:rPr sz="1800" b="0">
                <a:solidFill>
                  <a:srgbClr val="7F7F7F"/>
                </a:solidFill>
                <a:latin typeface="Malgun Gothic Semilight"/>
                <a:ea typeface="Malgun Gothic Semilight"/>
                <a:cs typeface="Malgun Gothic Semilight"/>
              </a:rPr>
              <a:t>→</a:t>
            </a:r>
          </a:p>
        </p:txBody>
      </p:sp>
      <p:sp>
        <p:nvSpPr>
          <p:cNvPr id="24" name="Rectangle 23"/>
          <p:cNvSpPr/>
          <p:nvPr/>
        </p:nvSpPr>
        <p:spPr>
          <a:xfrm>
            <a:off x="8233664" y="3909060"/>
            <a:ext cx="3495040" cy="685800"/>
          </a:xfrm>
          <a:prstGeom prst="rect">
            <a:avLst/>
          </a:prstGeom>
          <a:solidFill>
            <a:srgbClr val="FFFFFF"/>
          </a:solidFill>
          <a:ln w="2222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31200" y="3909060"/>
            <a:ext cx="3299968" cy="685800"/>
          </a:xfrm>
          <a:prstGeom prst="rect">
            <a:avLst/>
          </a:prstGeom>
          <a:noFill/>
        </p:spPr>
        <p:txBody>
          <a:bodyPr wrap="square" lIns="0" rIns="0" tIns="0" bIns="0" anchor="ctr">
            <a:noAutofit/>
          </a:bodyPr>
          <a:lstStyle/>
          <a:p>
            <a:pPr algn="ctr">
              <a:lnSpc>
                <a:spcPct val="100000"/>
              </a:lnSpc>
            </a:pPr>
            <a:r>
              <a:rPr sz="1600" b="1">
                <a:solidFill>
                  <a:srgbClr val="1428A0"/>
                </a:solidFill>
                <a:latin typeface="맑은 고딕"/>
                <a:ea typeface="맑은 고딕"/>
                <a:cs typeface="맑은 고딕"/>
              </a:rPr>
              <a:t>simulation에서 여러 조건 검토</a:t>
            </a:r>
          </a:p>
        </p:txBody>
      </p:sp>
      <p:sp>
        <p:nvSpPr>
          <p:cNvPr id="26" name="Rectangle 25"/>
          <p:cNvSpPr/>
          <p:nvPr/>
        </p:nvSpPr>
        <p:spPr>
          <a:xfrm>
            <a:off x="463296" y="5207318"/>
            <a:ext cx="11265408"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3296" y="5294376"/>
            <a:ext cx="11265408" cy="480060"/>
          </a:xfrm>
          <a:prstGeom prst="rect">
            <a:avLst/>
          </a:prstGeom>
          <a:noFill/>
        </p:spPr>
        <p:txBody>
          <a:bodyPr wrap="square" lIns="0" rIns="0" tIns="0" bIns="0" anchor="ctr">
            <a:noAutofit/>
          </a:bodyPr>
          <a:lstStyle/>
          <a:p>
            <a:pPr algn="ctr">
              <a:lnSpc>
                <a:spcPct val="110000"/>
              </a:lnSpc>
            </a:pPr>
            <a:r>
              <a:rPr sz="1900" b="1">
                <a:solidFill>
                  <a:srgbClr val="1428A0"/>
                </a:solidFill>
                <a:latin typeface="맑은 고딕"/>
                <a:ea typeface="맑은 고딕"/>
                <a:cs typeface="맑은 고딕"/>
              </a:rPr>
              <a:t>검토해야 할 조건이 계속 늘고 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33172"/>
            <a:ext cx="11253216" cy="541782"/>
          </a:xfrm>
          <a:prstGeom prst="rect">
            <a:avLst/>
          </a:prstGeom>
          <a:noFill/>
        </p:spPr>
        <p:txBody>
          <a:bodyPr wrap="square" lIns="0" rIns="0" tIns="0" bIns="0" anchor="ctr">
            <a:noAutofit/>
          </a:bodyPr>
          <a:lstStyle/>
          <a:p>
            <a:pPr algn="l">
              <a:lnSpc>
                <a:spcPct val="110000"/>
              </a:lnSpc>
            </a:pPr>
            <a:r>
              <a:rPr sz="3000" b="1">
                <a:solidFill>
                  <a:srgbClr val="000000"/>
                </a:solidFill>
                <a:latin typeface="맑은 고딕"/>
                <a:ea typeface="맑은 고딕"/>
                <a:cs typeface="맑은 고딕"/>
              </a:rPr>
              <a:t>문제: Monte Carlo 기반 Vmin 검토의 비용 한계</a:t>
            </a:r>
          </a:p>
        </p:txBody>
      </p:sp>
      <p:sp>
        <p:nvSpPr>
          <p:cNvPr id="3" name="Rectangle 2"/>
          <p:cNvSpPr/>
          <p:nvPr/>
        </p:nvSpPr>
        <p:spPr>
          <a:xfrm>
            <a:off x="463296" y="887984"/>
            <a:ext cx="11265408" cy="48260"/>
          </a:xfrm>
          <a:prstGeom prst="rect">
            <a:avLst/>
          </a:prstGeom>
          <a:solidFill>
            <a:srgbClr val="E7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6720" y="6480810"/>
            <a:ext cx="182880" cy="205740"/>
          </a:xfrm>
          <a:prstGeom prst="rect">
            <a:avLst/>
          </a:prstGeom>
          <a:noFill/>
        </p:spPr>
        <p:txBody>
          <a:bodyPr wrap="square" lIns="0" rIns="0" tIns="0" bIns="0" anchor="t">
            <a:noAutofit/>
          </a:bodyPr>
          <a:lstStyle/>
          <a:p>
            <a:pPr algn="l">
              <a:lnSpc>
                <a:spcPct val="110000"/>
              </a:lnSpc>
            </a:pPr>
            <a:r>
              <a:rPr sz="1000" b="1">
                <a:solidFill>
                  <a:srgbClr val="44566A"/>
                </a:solidFill>
                <a:latin typeface="맑은 고딕"/>
                <a:ea typeface="맑은 고딕"/>
                <a:cs typeface="맑은 고딕"/>
              </a:rPr>
              <a:t>3</a:t>
            </a:r>
          </a:p>
        </p:txBody>
      </p:sp>
      <p:sp>
        <p:nvSpPr>
          <p:cNvPr id="5" name="TextBox 4"/>
          <p:cNvSpPr txBox="1"/>
          <p:nvPr/>
        </p:nvSpPr>
        <p:spPr>
          <a:xfrm>
            <a:off x="670560" y="6494526"/>
            <a:ext cx="9022080" cy="205740"/>
          </a:xfrm>
          <a:prstGeom prst="rect">
            <a:avLst/>
          </a:prstGeom>
          <a:noFill/>
        </p:spPr>
        <p:txBody>
          <a:bodyPr wrap="square" lIns="0" rIns="0" tIns="0" bIns="0" anchor="t">
            <a:noAutofit/>
          </a:bodyPr>
          <a:lstStyle/>
          <a:p>
            <a:pPr algn="l">
              <a:lnSpc>
                <a:spcPct val="110000"/>
              </a:lnSpc>
            </a:pPr>
            <a:r>
              <a:rPr sz="900" b="0">
                <a:solidFill>
                  <a:srgbClr val="4C5759"/>
                </a:solidFill>
                <a:latin typeface="Malgun Gothic Semilight"/>
                <a:ea typeface="Malgun Gothic Semilight"/>
                <a:cs typeface="Malgun Gothic Semilight"/>
              </a:rPr>
              <a:t>수치는 이 연구의 학습 데이터 기준 (read · write 각각)</a:t>
            </a:r>
          </a:p>
        </p:txBody>
      </p:sp>
      <p:sp>
        <p:nvSpPr>
          <p:cNvPr id="6" name="TextBox 5"/>
          <p:cNvSpPr txBox="1"/>
          <p:nvPr/>
        </p:nvSpPr>
        <p:spPr>
          <a:xfrm>
            <a:off x="9265920" y="6487668"/>
            <a:ext cx="2462784" cy="205740"/>
          </a:xfrm>
          <a:prstGeom prst="rect">
            <a:avLst/>
          </a:prstGeom>
          <a:noFill/>
        </p:spPr>
        <p:txBody>
          <a:bodyPr wrap="square" lIns="0" rIns="0" tIns="0" bIns="0" anchor="t">
            <a:noAutofit/>
          </a:bodyPr>
          <a:lstStyle/>
          <a:p>
            <a:pPr algn="r">
              <a:lnSpc>
                <a:spcPct val="110000"/>
              </a:lnSpc>
            </a:pPr>
            <a:r>
              <a:rPr sz="900" b="0">
                <a:solidFill>
                  <a:srgbClr val="7F7F7F"/>
                </a:solidFill>
                <a:latin typeface="Malgun Gothic Semilight"/>
                <a:ea typeface="Malgun Gothic Semilight"/>
                <a:cs typeface="Malgun Gothic Semilight"/>
              </a:rPr>
              <a:t>SRAM Vmin 순·역방향 추정</a:t>
            </a:r>
          </a:p>
        </p:txBody>
      </p:sp>
      <p:sp>
        <p:nvSpPr>
          <p:cNvPr id="7" name="TextBox 6"/>
          <p:cNvSpPr txBox="1"/>
          <p:nvPr/>
        </p:nvSpPr>
        <p:spPr>
          <a:xfrm>
            <a:off x="475488" y="1097280"/>
            <a:ext cx="5364480" cy="308610"/>
          </a:xfrm>
          <a:prstGeom prst="rect">
            <a:avLst/>
          </a:prstGeom>
          <a:noFill/>
        </p:spPr>
        <p:txBody>
          <a:bodyPr wrap="square" lIns="0" rIns="0" tIns="0" bIns="0" anchor="t">
            <a:noAutofit/>
          </a:bodyPr>
          <a:lstStyle/>
          <a:p>
            <a:pPr algn="l">
              <a:lnSpc>
                <a:spcPct val="110000"/>
              </a:lnSpc>
            </a:pPr>
            <a:r>
              <a:rPr sz="1600" b="1">
                <a:solidFill>
                  <a:srgbClr val="1A1A1A"/>
                </a:solidFill>
                <a:latin typeface="맑은 고딕"/>
                <a:ea typeface="맑은 고딕"/>
                <a:cs typeface="맑은 고딕"/>
              </a:rPr>
              <a:t>조정할 수 있는 knob</a:t>
            </a:r>
          </a:p>
        </p:txBody>
      </p:sp>
      <p:pic>
        <p:nvPicPr>
          <p:cNvPr id="8" name="Picture 7" descr="s2_cell6t.png"/>
          <p:cNvPicPr>
            <a:picLocks noChangeAspect="1"/>
          </p:cNvPicPr>
          <p:nvPr/>
        </p:nvPicPr>
        <p:blipFill>
          <a:blip r:embed="rId3"/>
          <a:stretch>
            <a:fillRect/>
          </a:stretch>
        </p:blipFill>
        <p:spPr>
          <a:xfrm>
            <a:off x="1170873" y="1474470"/>
            <a:ext cx="3949325" cy="2743200"/>
          </a:xfrm>
          <a:prstGeom prst="rect">
            <a:avLst/>
          </a:prstGeom>
        </p:spPr>
      </p:pic>
      <p:sp>
        <p:nvSpPr>
          <p:cNvPr id="9" name="TextBox 8"/>
          <p:cNvSpPr txBox="1"/>
          <p:nvPr/>
        </p:nvSpPr>
        <p:spPr>
          <a:xfrm>
            <a:off x="475488" y="4320540"/>
            <a:ext cx="1584960" cy="370332"/>
          </a:xfrm>
          <a:prstGeom prst="rect">
            <a:avLst/>
          </a:prstGeom>
          <a:noFill/>
        </p:spPr>
        <p:txBody>
          <a:bodyPr wrap="square" lIns="0" rIns="0" tIns="0" bIns="0" anchor="ctr">
            <a:noAutofit/>
          </a:bodyPr>
          <a:lstStyle/>
          <a:p>
            <a:pPr algn="l">
              <a:lnSpc>
                <a:spcPct val="110000"/>
              </a:lnSpc>
            </a:pPr>
            <a:r>
              <a:rPr sz="1400" b="1">
                <a:solidFill>
                  <a:srgbClr val="1428A0"/>
                </a:solidFill>
                <a:latin typeface="맑은 고딕"/>
                <a:ea typeface="맑은 고딕"/>
                <a:cs typeface="맑은 고딕"/>
              </a:rPr>
              <a:t>PU (PMOS)</a:t>
            </a:r>
          </a:p>
        </p:txBody>
      </p:sp>
      <p:sp>
        <p:nvSpPr>
          <p:cNvPr id="10" name="TextBox 9"/>
          <p:cNvSpPr txBox="1"/>
          <p:nvPr/>
        </p:nvSpPr>
        <p:spPr>
          <a:xfrm>
            <a:off x="2133600" y="4320540"/>
            <a:ext cx="3657600" cy="370332"/>
          </a:xfrm>
          <a:prstGeom prst="rect">
            <a:avLst/>
          </a:prstGeom>
          <a:noFill/>
        </p:spPr>
        <p:txBody>
          <a:bodyPr wrap="square" lIns="0" rIns="0" tIns="0" bIns="0" anchor="ctr">
            <a:noAutofit/>
          </a:bodyPr>
          <a:lstStyle/>
          <a:p>
            <a:pPr algn="l">
              <a:lnSpc>
                <a:spcPct val="110000"/>
              </a:lnSpc>
            </a:pPr>
            <a:r>
              <a:rPr sz="1400" b="0">
                <a:solidFill>
                  <a:srgbClr val="1A1A1A"/>
                </a:solidFill>
                <a:latin typeface="Malgun Gothic Semilight"/>
                <a:ea typeface="Malgun Gothic Semilight"/>
                <a:cs typeface="Malgun Gothic Semilight"/>
              </a:rPr>
              <a:t>Vth · local mismatch · mobility</a:t>
            </a:r>
          </a:p>
        </p:txBody>
      </p:sp>
      <p:sp>
        <p:nvSpPr>
          <p:cNvPr id="11" name="TextBox 10"/>
          <p:cNvSpPr txBox="1"/>
          <p:nvPr/>
        </p:nvSpPr>
        <p:spPr>
          <a:xfrm>
            <a:off x="475488" y="4766310"/>
            <a:ext cx="1584960" cy="370332"/>
          </a:xfrm>
          <a:prstGeom prst="rect">
            <a:avLst/>
          </a:prstGeom>
          <a:noFill/>
        </p:spPr>
        <p:txBody>
          <a:bodyPr wrap="square" lIns="0" rIns="0" tIns="0" bIns="0" anchor="ctr">
            <a:noAutofit/>
          </a:bodyPr>
          <a:lstStyle/>
          <a:p>
            <a:pPr algn="l">
              <a:lnSpc>
                <a:spcPct val="110000"/>
              </a:lnSpc>
            </a:pPr>
            <a:r>
              <a:rPr sz="1400" b="1">
                <a:solidFill>
                  <a:srgbClr val="1428A0"/>
                </a:solidFill>
                <a:latin typeface="맑은 고딕"/>
                <a:ea typeface="맑은 고딕"/>
                <a:cs typeface="맑은 고딕"/>
              </a:rPr>
              <a:t>PD · PG (NMOS)</a:t>
            </a:r>
          </a:p>
        </p:txBody>
      </p:sp>
      <p:sp>
        <p:nvSpPr>
          <p:cNvPr id="12" name="TextBox 11"/>
          <p:cNvSpPr txBox="1"/>
          <p:nvPr/>
        </p:nvSpPr>
        <p:spPr>
          <a:xfrm>
            <a:off x="2133600" y="4766310"/>
            <a:ext cx="3657600" cy="370332"/>
          </a:xfrm>
          <a:prstGeom prst="rect">
            <a:avLst/>
          </a:prstGeom>
          <a:noFill/>
        </p:spPr>
        <p:txBody>
          <a:bodyPr wrap="square" lIns="0" rIns="0" tIns="0" bIns="0" anchor="ctr">
            <a:noAutofit/>
          </a:bodyPr>
          <a:lstStyle/>
          <a:p>
            <a:pPr algn="l">
              <a:lnSpc>
                <a:spcPct val="110000"/>
              </a:lnSpc>
            </a:pPr>
            <a:r>
              <a:rPr sz="1400" b="0">
                <a:solidFill>
                  <a:srgbClr val="1A1A1A"/>
                </a:solidFill>
                <a:latin typeface="Malgun Gothic Semilight"/>
                <a:ea typeface="Malgun Gothic Semilight"/>
                <a:cs typeface="Malgun Gothic Semilight"/>
              </a:rPr>
              <a:t>Vth · local mismatch · mobility</a:t>
            </a:r>
          </a:p>
        </p:txBody>
      </p:sp>
      <p:sp>
        <p:nvSpPr>
          <p:cNvPr id="13" name="Rectangle 12"/>
          <p:cNvSpPr/>
          <p:nvPr/>
        </p:nvSpPr>
        <p:spPr>
          <a:xfrm>
            <a:off x="6152198" y="1097280"/>
            <a:ext cx="9525" cy="397764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22720" y="1097280"/>
            <a:ext cx="5205984" cy="308610"/>
          </a:xfrm>
          <a:prstGeom prst="rect">
            <a:avLst/>
          </a:prstGeom>
          <a:noFill/>
        </p:spPr>
        <p:txBody>
          <a:bodyPr wrap="square" lIns="0" rIns="0" tIns="0" bIns="0" anchor="t">
            <a:noAutofit/>
          </a:bodyPr>
          <a:lstStyle/>
          <a:p>
            <a:pPr algn="l">
              <a:lnSpc>
                <a:spcPct val="110000"/>
              </a:lnSpc>
            </a:pPr>
            <a:r>
              <a:rPr sz="1600" b="1">
                <a:solidFill>
                  <a:srgbClr val="1A1A1A"/>
                </a:solidFill>
                <a:latin typeface="맑은 고딕"/>
                <a:ea typeface="맑은 고딕"/>
                <a:cs typeface="맑은 고딕"/>
              </a:rPr>
              <a:t>조건 하나를 검토하는 데 드는 일</a:t>
            </a:r>
          </a:p>
        </p:txBody>
      </p:sp>
      <p:sp>
        <p:nvSpPr>
          <p:cNvPr id="15" name="TextBox 14"/>
          <p:cNvSpPr txBox="1"/>
          <p:nvPr/>
        </p:nvSpPr>
        <p:spPr>
          <a:xfrm>
            <a:off x="6522720" y="1508760"/>
            <a:ext cx="5120640" cy="274320"/>
          </a:xfrm>
          <a:prstGeom prst="rect">
            <a:avLst/>
          </a:prstGeom>
          <a:noFill/>
        </p:spPr>
        <p:txBody>
          <a:bodyPr wrap="square" lIns="0" rIns="0" tIns="0" bIns="0" anchor="t">
            <a:noAutofit/>
          </a:bodyPr>
          <a:lstStyle/>
          <a:p>
            <a:pPr algn="l">
              <a:lnSpc>
                <a:spcPct val="110000"/>
              </a:lnSpc>
            </a:pPr>
            <a:r>
              <a:rPr sz="1300" b="1">
                <a:solidFill>
                  <a:srgbClr val="7F7F7F"/>
                </a:solidFill>
                <a:latin typeface="맑은 고딕"/>
                <a:ea typeface="맑은 고딕"/>
                <a:cs typeface="맑은 고딕"/>
              </a:rPr>
              <a:t>조건 1개</a:t>
            </a:r>
          </a:p>
        </p:txBody>
      </p:sp>
      <p:sp>
        <p:nvSpPr>
          <p:cNvPr id="16" name="TextBox 15"/>
          <p:cNvSpPr txBox="1"/>
          <p:nvPr/>
        </p:nvSpPr>
        <p:spPr>
          <a:xfrm>
            <a:off x="6522720" y="1783080"/>
            <a:ext cx="5120640" cy="377190"/>
          </a:xfrm>
          <a:prstGeom prst="rect">
            <a:avLst/>
          </a:prstGeom>
          <a:noFill/>
        </p:spPr>
        <p:txBody>
          <a:bodyPr wrap="square" lIns="0" rIns="0" tIns="0" bIns="0" anchor="t">
            <a:noAutofit/>
          </a:bodyPr>
          <a:lstStyle/>
          <a:p>
            <a:pPr algn="l">
              <a:lnSpc>
                <a:spcPct val="110000"/>
              </a:lnSpc>
            </a:pPr>
            <a:r>
              <a:rPr sz="1900" b="1">
                <a:solidFill>
                  <a:srgbClr val="1A1A1A"/>
                </a:solidFill>
                <a:latin typeface="맑은 고딕"/>
                <a:ea typeface="맑은 고딕"/>
                <a:cs typeface="맑은 고딕"/>
              </a:rPr>
              <a:t>Monte Carlo simulation 25,000회</a:t>
            </a:r>
          </a:p>
        </p:txBody>
      </p:sp>
      <p:sp>
        <p:nvSpPr>
          <p:cNvPr id="17" name="TextBox 16"/>
          <p:cNvSpPr txBox="1"/>
          <p:nvPr/>
        </p:nvSpPr>
        <p:spPr>
          <a:xfrm>
            <a:off x="6522720" y="2160270"/>
            <a:ext cx="5120640" cy="274320"/>
          </a:xfrm>
          <a:prstGeom prst="rect">
            <a:avLst/>
          </a:prstGeom>
          <a:noFill/>
        </p:spPr>
        <p:txBody>
          <a:bodyPr wrap="square" lIns="0" rIns="0" tIns="0" bIns="0" anchor="t">
            <a:noAutofit/>
          </a:bodyPr>
          <a:lstStyle/>
          <a:p>
            <a:pPr algn="l">
              <a:lnSpc>
                <a:spcPct val="110000"/>
              </a:lnSpc>
            </a:pPr>
            <a:r>
              <a:rPr sz="1300" b="0">
                <a:solidFill>
                  <a:srgbClr val="7F7F7F"/>
                </a:solidFill>
                <a:latin typeface="Malgun Gothic Semilight"/>
                <a:ea typeface="Malgun Gothic Semilight"/>
                <a:cs typeface="Malgun Gothic Semilight"/>
              </a:rPr>
              <a:t>VDD 5개 × VDD마다 5,000회</a:t>
            </a:r>
          </a:p>
        </p:txBody>
      </p:sp>
      <p:sp>
        <p:nvSpPr>
          <p:cNvPr id="18" name="Rectangle 17"/>
          <p:cNvSpPr/>
          <p:nvPr/>
        </p:nvSpPr>
        <p:spPr>
          <a:xfrm>
            <a:off x="6522720" y="2566988"/>
            <a:ext cx="520598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22720" y="2674620"/>
            <a:ext cx="5120640" cy="274320"/>
          </a:xfrm>
          <a:prstGeom prst="rect">
            <a:avLst/>
          </a:prstGeom>
          <a:noFill/>
        </p:spPr>
        <p:txBody>
          <a:bodyPr wrap="square" lIns="0" rIns="0" tIns="0" bIns="0" anchor="t">
            <a:noAutofit/>
          </a:bodyPr>
          <a:lstStyle/>
          <a:p>
            <a:pPr algn="l">
              <a:lnSpc>
                <a:spcPct val="110000"/>
              </a:lnSpc>
            </a:pPr>
            <a:r>
              <a:rPr sz="1300" b="1">
                <a:solidFill>
                  <a:srgbClr val="7F7F7F"/>
                </a:solidFill>
                <a:latin typeface="맑은 고딕"/>
                <a:ea typeface="맑은 고딕"/>
                <a:cs typeface="맑은 고딕"/>
              </a:rPr>
              <a:t>knob × 값</a:t>
            </a:r>
          </a:p>
        </p:txBody>
      </p:sp>
      <p:sp>
        <p:nvSpPr>
          <p:cNvPr id="20" name="TextBox 19"/>
          <p:cNvSpPr txBox="1"/>
          <p:nvPr/>
        </p:nvSpPr>
        <p:spPr>
          <a:xfrm>
            <a:off x="6522720" y="2948940"/>
            <a:ext cx="5120640" cy="377190"/>
          </a:xfrm>
          <a:prstGeom prst="rect">
            <a:avLst/>
          </a:prstGeom>
          <a:noFill/>
        </p:spPr>
        <p:txBody>
          <a:bodyPr wrap="square" lIns="0" rIns="0" tIns="0" bIns="0" anchor="t">
            <a:noAutofit/>
          </a:bodyPr>
          <a:lstStyle/>
          <a:p>
            <a:pPr algn="l">
              <a:lnSpc>
                <a:spcPct val="110000"/>
              </a:lnSpc>
            </a:pPr>
            <a:r>
              <a:rPr sz="1900" b="1">
                <a:solidFill>
                  <a:srgbClr val="1A1A1A"/>
                </a:solidFill>
                <a:latin typeface="맑은 고딕"/>
                <a:ea typeface="맑은 고딕"/>
                <a:cs typeface="맑은 고딕"/>
              </a:rPr>
              <a:t>검토 조건이 곱으로 늘어난다</a:t>
            </a:r>
          </a:p>
        </p:txBody>
      </p:sp>
      <p:sp>
        <p:nvSpPr>
          <p:cNvPr id="21" name="TextBox 20"/>
          <p:cNvSpPr txBox="1"/>
          <p:nvPr/>
        </p:nvSpPr>
        <p:spPr>
          <a:xfrm>
            <a:off x="6522720" y="3326130"/>
            <a:ext cx="5120640" cy="274320"/>
          </a:xfrm>
          <a:prstGeom prst="rect">
            <a:avLst/>
          </a:prstGeom>
          <a:noFill/>
        </p:spPr>
        <p:txBody>
          <a:bodyPr wrap="square" lIns="0" rIns="0" tIns="0" bIns="0" anchor="t">
            <a:noAutofit/>
          </a:bodyPr>
          <a:lstStyle/>
          <a:p>
            <a:pPr algn="l">
              <a:lnSpc>
                <a:spcPct val="110000"/>
              </a:lnSpc>
            </a:pPr>
            <a:r>
              <a:rPr sz="1300" b="0">
                <a:solidFill>
                  <a:srgbClr val="7F7F7F"/>
                </a:solidFill>
                <a:latin typeface="Malgun Gothic Semilight"/>
                <a:ea typeface="Malgun Gothic Semilight"/>
                <a:cs typeface="Malgun Gothic Semilight"/>
              </a:rPr>
              <a:t>9개 knob, 각각 여러 값 · 이 연구의 학습 조건만 1,700개</a:t>
            </a:r>
          </a:p>
        </p:txBody>
      </p:sp>
      <p:sp>
        <p:nvSpPr>
          <p:cNvPr id="22" name="Rectangle 21"/>
          <p:cNvSpPr/>
          <p:nvPr/>
        </p:nvSpPr>
        <p:spPr>
          <a:xfrm>
            <a:off x="6522720" y="3732848"/>
            <a:ext cx="520598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22720" y="3840480"/>
            <a:ext cx="5120640" cy="274320"/>
          </a:xfrm>
          <a:prstGeom prst="rect">
            <a:avLst/>
          </a:prstGeom>
          <a:noFill/>
        </p:spPr>
        <p:txBody>
          <a:bodyPr wrap="square" lIns="0" rIns="0" tIns="0" bIns="0" anchor="t">
            <a:noAutofit/>
          </a:bodyPr>
          <a:lstStyle/>
          <a:p>
            <a:pPr algn="l">
              <a:lnSpc>
                <a:spcPct val="110000"/>
              </a:lnSpc>
            </a:pPr>
            <a:r>
              <a:rPr sz="1300" b="1">
                <a:solidFill>
                  <a:srgbClr val="7F7F7F"/>
                </a:solidFill>
                <a:latin typeface="맑은 고딕"/>
                <a:ea typeface="맑은 고딕"/>
                <a:cs typeface="맑은 고딕"/>
              </a:rPr>
              <a:t>결과</a:t>
            </a:r>
          </a:p>
        </p:txBody>
      </p:sp>
      <p:sp>
        <p:nvSpPr>
          <p:cNvPr id="24" name="TextBox 23"/>
          <p:cNvSpPr txBox="1"/>
          <p:nvPr/>
        </p:nvSpPr>
        <p:spPr>
          <a:xfrm>
            <a:off x="6522720" y="4114800"/>
            <a:ext cx="5120640" cy="377190"/>
          </a:xfrm>
          <a:prstGeom prst="rect">
            <a:avLst/>
          </a:prstGeom>
          <a:noFill/>
        </p:spPr>
        <p:txBody>
          <a:bodyPr wrap="square" lIns="0" rIns="0" tIns="0" bIns="0" anchor="t">
            <a:noAutofit/>
          </a:bodyPr>
          <a:lstStyle/>
          <a:p>
            <a:pPr algn="l">
              <a:lnSpc>
                <a:spcPct val="110000"/>
              </a:lnSpc>
            </a:pPr>
            <a:r>
              <a:rPr sz="1900" b="1">
                <a:solidFill>
                  <a:srgbClr val="1428A0"/>
                </a:solidFill>
                <a:latin typeface="맑은 고딕"/>
                <a:ea typeface="맑은 고딕"/>
                <a:cs typeface="맑은 고딕"/>
              </a:rPr>
              <a:t>실제로 시도할 수 있는 조건은 몇 개뿐</a:t>
            </a:r>
          </a:p>
        </p:txBody>
      </p:sp>
      <p:sp>
        <p:nvSpPr>
          <p:cNvPr id="25" name="TextBox 24"/>
          <p:cNvSpPr txBox="1"/>
          <p:nvPr/>
        </p:nvSpPr>
        <p:spPr>
          <a:xfrm>
            <a:off x="6522720" y="4491990"/>
            <a:ext cx="5120640" cy="274320"/>
          </a:xfrm>
          <a:prstGeom prst="rect">
            <a:avLst/>
          </a:prstGeom>
          <a:noFill/>
        </p:spPr>
        <p:txBody>
          <a:bodyPr wrap="square" lIns="0" rIns="0" tIns="0" bIns="0" anchor="t">
            <a:noAutofit/>
          </a:bodyPr>
          <a:lstStyle/>
          <a:p>
            <a:pPr algn="l">
              <a:lnSpc>
                <a:spcPct val="110000"/>
              </a:lnSpc>
            </a:pPr>
            <a:r>
              <a:rPr sz="1300" b="0">
                <a:solidFill>
                  <a:srgbClr val="7F7F7F"/>
                </a:solidFill>
                <a:latin typeface="Malgun Gothic Semilight"/>
                <a:ea typeface="Malgun Gothic Semilight"/>
                <a:cs typeface="Malgun Gothic Semilight"/>
              </a:rPr>
              <a:t>충분히 비교하지 못한 채 방향을 정한다</a:t>
            </a:r>
          </a:p>
        </p:txBody>
      </p:sp>
      <p:sp>
        <p:nvSpPr>
          <p:cNvPr id="26" name="Rectangle 25"/>
          <p:cNvSpPr/>
          <p:nvPr/>
        </p:nvSpPr>
        <p:spPr>
          <a:xfrm>
            <a:off x="463296" y="5481638"/>
            <a:ext cx="11265408"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3296" y="5568696"/>
            <a:ext cx="11265408" cy="480060"/>
          </a:xfrm>
          <a:prstGeom prst="rect">
            <a:avLst/>
          </a:prstGeom>
          <a:noFill/>
        </p:spPr>
        <p:txBody>
          <a:bodyPr wrap="square" lIns="0" rIns="0" tIns="0" bIns="0" anchor="ctr">
            <a:noAutofit/>
          </a:bodyPr>
          <a:lstStyle/>
          <a:p>
            <a:pPr algn="ctr">
              <a:lnSpc>
                <a:spcPct val="110000"/>
              </a:lnSpc>
            </a:pPr>
            <a:r>
              <a:rPr sz="1900" b="1">
                <a:solidFill>
                  <a:srgbClr val="1428A0"/>
                </a:solidFill>
                <a:latin typeface="맑은 고딕"/>
                <a:ea typeface="맑은 고딕"/>
                <a:cs typeface="맑은 고딕"/>
              </a:rPr>
              <a:t>검토할 조건이 늘수록 Monte Carlo 비용도 그대로 늘어난다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33172"/>
            <a:ext cx="11253216" cy="541782"/>
          </a:xfrm>
          <a:prstGeom prst="rect">
            <a:avLst/>
          </a:prstGeom>
          <a:noFill/>
        </p:spPr>
        <p:txBody>
          <a:bodyPr wrap="square" lIns="0" rIns="0" tIns="0" bIns="0" anchor="ctr">
            <a:noAutofit/>
          </a:bodyPr>
          <a:lstStyle/>
          <a:p>
            <a:pPr algn="l">
              <a:lnSpc>
                <a:spcPct val="110000"/>
              </a:lnSpc>
            </a:pPr>
            <a:r>
              <a:rPr sz="3000" b="1">
                <a:solidFill>
                  <a:srgbClr val="000000"/>
                </a:solidFill>
                <a:latin typeface="맑은 고딕"/>
                <a:ea typeface="맑은 고딕"/>
                <a:cs typeface="맑은 고딕"/>
              </a:rPr>
              <a:t>제안: 순·역방향 Vmin 추정 model</a:t>
            </a:r>
          </a:p>
        </p:txBody>
      </p:sp>
      <p:sp>
        <p:nvSpPr>
          <p:cNvPr id="3" name="Rectangle 2"/>
          <p:cNvSpPr/>
          <p:nvPr/>
        </p:nvSpPr>
        <p:spPr>
          <a:xfrm>
            <a:off x="463296" y="887984"/>
            <a:ext cx="11265408" cy="48260"/>
          </a:xfrm>
          <a:prstGeom prst="rect">
            <a:avLst/>
          </a:prstGeom>
          <a:solidFill>
            <a:srgbClr val="E7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6720" y="6480810"/>
            <a:ext cx="182880" cy="205740"/>
          </a:xfrm>
          <a:prstGeom prst="rect">
            <a:avLst/>
          </a:prstGeom>
          <a:noFill/>
        </p:spPr>
        <p:txBody>
          <a:bodyPr wrap="square" lIns="0" rIns="0" tIns="0" bIns="0" anchor="t">
            <a:noAutofit/>
          </a:bodyPr>
          <a:lstStyle/>
          <a:p>
            <a:pPr algn="l">
              <a:lnSpc>
                <a:spcPct val="110000"/>
              </a:lnSpc>
            </a:pPr>
            <a:r>
              <a:rPr sz="1000" b="1">
                <a:solidFill>
                  <a:srgbClr val="44566A"/>
                </a:solidFill>
                <a:latin typeface="맑은 고딕"/>
                <a:ea typeface="맑은 고딕"/>
                <a:cs typeface="맑은 고딕"/>
              </a:rPr>
              <a:t>4</a:t>
            </a:r>
          </a:p>
        </p:txBody>
      </p:sp>
      <p:sp>
        <p:nvSpPr>
          <p:cNvPr id="5" name="TextBox 4"/>
          <p:cNvSpPr txBox="1"/>
          <p:nvPr/>
        </p:nvSpPr>
        <p:spPr>
          <a:xfrm>
            <a:off x="670560" y="6494526"/>
            <a:ext cx="9022080" cy="205740"/>
          </a:xfrm>
          <a:prstGeom prst="rect">
            <a:avLst/>
          </a:prstGeom>
          <a:noFill/>
        </p:spPr>
        <p:txBody>
          <a:bodyPr wrap="square" lIns="0" rIns="0" tIns="0" bIns="0" anchor="t">
            <a:noAutofit/>
          </a:bodyPr>
          <a:lstStyle/>
          <a:p>
            <a:pPr algn="l">
              <a:lnSpc>
                <a:spcPct val="110000"/>
              </a:lnSpc>
            </a:pPr>
            <a:r>
              <a:rPr sz="900" b="0">
                <a:solidFill>
                  <a:srgbClr val="4C5759"/>
                </a:solidFill>
                <a:latin typeface="Malgun Gothic Semilight"/>
                <a:ea typeface="Malgun Gothic Semilight"/>
                <a:cs typeface="Malgun Gothic Semilight"/>
              </a:rPr>
              <a:t>model은 Monte Carlo simulation 결과로 한 번 학습한다</a:t>
            </a:r>
          </a:p>
        </p:txBody>
      </p:sp>
      <p:sp>
        <p:nvSpPr>
          <p:cNvPr id="6" name="TextBox 5"/>
          <p:cNvSpPr txBox="1"/>
          <p:nvPr/>
        </p:nvSpPr>
        <p:spPr>
          <a:xfrm>
            <a:off x="9265920" y="6487668"/>
            <a:ext cx="2462784" cy="205740"/>
          </a:xfrm>
          <a:prstGeom prst="rect">
            <a:avLst/>
          </a:prstGeom>
          <a:noFill/>
        </p:spPr>
        <p:txBody>
          <a:bodyPr wrap="square" lIns="0" rIns="0" tIns="0" bIns="0" anchor="t">
            <a:noAutofit/>
          </a:bodyPr>
          <a:lstStyle/>
          <a:p>
            <a:pPr algn="r">
              <a:lnSpc>
                <a:spcPct val="110000"/>
              </a:lnSpc>
            </a:pPr>
            <a:r>
              <a:rPr sz="900" b="0">
                <a:solidFill>
                  <a:srgbClr val="7F7F7F"/>
                </a:solidFill>
                <a:latin typeface="Malgun Gothic Semilight"/>
                <a:ea typeface="Malgun Gothic Semilight"/>
                <a:cs typeface="Malgun Gothic Semilight"/>
              </a:rPr>
              <a:t>SRAM Vmin 순·역방향 추정</a:t>
            </a:r>
          </a:p>
        </p:txBody>
      </p:sp>
      <p:sp>
        <p:nvSpPr>
          <p:cNvPr id="7" name="TextBox 6"/>
          <p:cNvSpPr txBox="1"/>
          <p:nvPr/>
        </p:nvSpPr>
        <p:spPr>
          <a:xfrm>
            <a:off x="2438400" y="1062990"/>
            <a:ext cx="2682240" cy="308610"/>
          </a:xfrm>
          <a:prstGeom prst="rect">
            <a:avLst/>
          </a:prstGeom>
          <a:noFill/>
        </p:spPr>
        <p:txBody>
          <a:bodyPr wrap="square" lIns="0" rIns="0" tIns="0" bIns="0" anchor="t">
            <a:noAutofit/>
          </a:bodyPr>
          <a:lstStyle/>
          <a:p>
            <a:pPr algn="ctr">
              <a:lnSpc>
                <a:spcPct val="110000"/>
              </a:lnSpc>
            </a:pPr>
            <a:r>
              <a:rPr sz="1400" b="1">
                <a:solidFill>
                  <a:srgbClr val="7F7F7F"/>
                </a:solidFill>
                <a:latin typeface="맑은 고딕"/>
                <a:ea typeface="맑은 고딕"/>
                <a:cs typeface="맑은 고딕"/>
              </a:rPr>
              <a:t>공정 조건 (knob 값)</a:t>
            </a:r>
          </a:p>
        </p:txBody>
      </p:sp>
      <p:sp>
        <p:nvSpPr>
          <p:cNvPr id="8" name="TextBox 7"/>
          <p:cNvSpPr txBox="1"/>
          <p:nvPr/>
        </p:nvSpPr>
        <p:spPr>
          <a:xfrm>
            <a:off x="8778240" y="1062990"/>
            <a:ext cx="2950464" cy="308610"/>
          </a:xfrm>
          <a:prstGeom prst="rect">
            <a:avLst/>
          </a:prstGeom>
          <a:noFill/>
        </p:spPr>
        <p:txBody>
          <a:bodyPr wrap="square" lIns="0" rIns="0" tIns="0" bIns="0" anchor="t">
            <a:noAutofit/>
          </a:bodyPr>
          <a:lstStyle/>
          <a:p>
            <a:pPr algn="ctr">
              <a:lnSpc>
                <a:spcPct val="110000"/>
              </a:lnSpc>
            </a:pPr>
            <a:r>
              <a:rPr sz="1400" b="1">
                <a:solidFill>
                  <a:srgbClr val="7F7F7F"/>
                </a:solidFill>
                <a:latin typeface="맑은 고딕"/>
                <a:ea typeface="맑은 고딕"/>
                <a:cs typeface="맑은 고딕"/>
              </a:rPr>
              <a:t>Vmin</a:t>
            </a:r>
          </a:p>
        </p:txBody>
      </p:sp>
      <p:sp>
        <p:nvSpPr>
          <p:cNvPr id="9" name="Rectangle 8"/>
          <p:cNvSpPr/>
          <p:nvPr/>
        </p:nvSpPr>
        <p:spPr>
          <a:xfrm>
            <a:off x="5974080" y="1440180"/>
            <a:ext cx="1950720" cy="2537460"/>
          </a:xfrm>
          <a:prstGeom prst="rect">
            <a:avLst/>
          </a:prstGeom>
          <a:solidFill>
            <a:srgbClr val="FFFFFF"/>
          </a:solidFill>
          <a:ln w="254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74080" y="1851660"/>
            <a:ext cx="1950720" cy="548640"/>
          </a:xfrm>
          <a:prstGeom prst="rect">
            <a:avLst/>
          </a:prstGeom>
          <a:noFill/>
        </p:spPr>
        <p:txBody>
          <a:bodyPr wrap="square" lIns="0" rIns="0" tIns="0" bIns="0" anchor="ctr">
            <a:noAutofit/>
          </a:bodyPr>
          <a:lstStyle/>
          <a:p>
            <a:pPr algn="ctr">
              <a:lnSpc>
                <a:spcPct val="110000"/>
              </a:lnSpc>
            </a:pPr>
            <a:r>
              <a:rPr sz="2400" b="1">
                <a:solidFill>
                  <a:srgbClr val="1428A0"/>
                </a:solidFill>
                <a:latin typeface="맑은 고딕"/>
                <a:ea typeface="맑은 고딕"/>
                <a:cs typeface="맑은 고딕"/>
              </a:rPr>
              <a:t>Vmin</a:t>
            </a:r>
          </a:p>
          <a:p>
            <a:pPr algn="ctr">
              <a:lnSpc>
                <a:spcPct val="110000"/>
              </a:lnSpc>
            </a:pPr>
            <a:r>
              <a:rPr sz="2400" b="1">
                <a:solidFill>
                  <a:srgbClr val="1428A0"/>
                </a:solidFill>
                <a:latin typeface="맑은 고딕"/>
                <a:ea typeface="맑은 고딕"/>
                <a:cs typeface="맑은 고딕"/>
              </a:rPr>
              <a:t>model</a:t>
            </a:r>
          </a:p>
        </p:txBody>
      </p:sp>
      <p:sp>
        <p:nvSpPr>
          <p:cNvPr id="11" name="TextBox 10"/>
          <p:cNvSpPr txBox="1"/>
          <p:nvPr/>
        </p:nvSpPr>
        <p:spPr>
          <a:xfrm>
            <a:off x="6071616" y="2674620"/>
            <a:ext cx="1755648" cy="822960"/>
          </a:xfrm>
          <a:prstGeom prst="rect">
            <a:avLst/>
          </a:prstGeom>
          <a:noFill/>
        </p:spPr>
        <p:txBody>
          <a:bodyPr wrap="square" lIns="0" rIns="0" tIns="0" bIns="0" anchor="t">
            <a:noAutofit/>
          </a:bodyPr>
          <a:lstStyle/>
          <a:p>
            <a:pPr algn="ctr">
              <a:lnSpc>
                <a:spcPct val="110000"/>
              </a:lnSpc>
            </a:pPr>
            <a:r>
              <a:rPr sz="1200" b="0">
                <a:solidFill>
                  <a:srgbClr val="7F7F7F"/>
                </a:solidFill>
                <a:latin typeface="Malgun Gothic Semilight"/>
                <a:ea typeface="Malgun Gothic Semilight"/>
                <a:cs typeface="Malgun Gothic Semilight"/>
              </a:rPr>
              <a:t>Monte Carlo</a:t>
            </a:r>
          </a:p>
          <a:p>
            <a:pPr algn="ctr">
              <a:lnSpc>
                <a:spcPct val="110000"/>
              </a:lnSpc>
            </a:pPr>
            <a:r>
              <a:rPr sz="1200" b="0">
                <a:solidFill>
                  <a:srgbClr val="7F7F7F"/>
                </a:solidFill>
                <a:latin typeface="Malgun Gothic Semilight"/>
                <a:ea typeface="Malgun Gothic Semilight"/>
                <a:cs typeface="Malgun Gothic Semilight"/>
              </a:rPr>
              <a:t>simulation 결과로</a:t>
            </a:r>
          </a:p>
          <a:p>
            <a:pPr algn="ctr">
              <a:lnSpc>
                <a:spcPct val="110000"/>
              </a:lnSpc>
            </a:pPr>
            <a:r>
              <a:rPr sz="1200" b="0">
                <a:solidFill>
                  <a:srgbClr val="7F7F7F"/>
                </a:solidFill>
                <a:latin typeface="Malgun Gothic Semilight"/>
                <a:ea typeface="Malgun Gothic Semilight"/>
                <a:cs typeface="Malgun Gothic Semilight"/>
              </a:rPr>
              <a:t>한 번 학습</a:t>
            </a:r>
          </a:p>
        </p:txBody>
      </p:sp>
      <p:sp>
        <p:nvSpPr>
          <p:cNvPr id="12" name="TextBox 11"/>
          <p:cNvSpPr txBox="1"/>
          <p:nvPr/>
        </p:nvSpPr>
        <p:spPr>
          <a:xfrm>
            <a:off x="463296" y="1440180"/>
            <a:ext cx="1828800" cy="822960"/>
          </a:xfrm>
          <a:prstGeom prst="rect">
            <a:avLst/>
          </a:prstGeom>
          <a:noFill/>
        </p:spPr>
        <p:txBody>
          <a:bodyPr wrap="square" lIns="0" rIns="0" tIns="0" bIns="0" anchor="ctr">
            <a:noAutofit/>
          </a:bodyPr>
          <a:lstStyle/>
          <a:p>
            <a:pPr algn="l">
              <a:lnSpc>
                <a:spcPct val="110000"/>
              </a:lnSpc>
            </a:pPr>
            <a:r>
              <a:rPr sz="1700" b="1">
                <a:solidFill>
                  <a:srgbClr val="1428A0"/>
                </a:solidFill>
                <a:latin typeface="맑은 고딕"/>
                <a:ea typeface="맑은 고딕"/>
                <a:cs typeface="맑은 고딕"/>
              </a:rPr>
              <a:t>순방향 추정</a:t>
            </a:r>
          </a:p>
        </p:txBody>
      </p:sp>
      <p:sp>
        <p:nvSpPr>
          <p:cNvPr id="13" name="Rectangle 12"/>
          <p:cNvSpPr/>
          <p:nvPr/>
        </p:nvSpPr>
        <p:spPr>
          <a:xfrm>
            <a:off x="2438400" y="1440180"/>
            <a:ext cx="2682240" cy="82296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5936" y="1440180"/>
            <a:ext cx="2487168" cy="822960"/>
          </a:xfrm>
          <a:prstGeom prst="rect">
            <a:avLst/>
          </a:prstGeom>
          <a:noFill/>
        </p:spPr>
        <p:txBody>
          <a:bodyPr wrap="square" lIns="0" rIns="0" tIns="0" bIns="0" anchor="ctr">
            <a:noAutofit/>
          </a:bodyPr>
          <a:lstStyle/>
          <a:p>
            <a:pPr algn="ctr">
              <a:lnSpc>
                <a:spcPct val="110000"/>
              </a:lnSpc>
            </a:pPr>
            <a:r>
              <a:rPr sz="1600" b="1">
                <a:solidFill>
                  <a:srgbClr val="1A1A1A"/>
                </a:solidFill>
                <a:latin typeface="맑은 고딕"/>
                <a:ea typeface="맑은 고딕"/>
                <a:cs typeface="맑은 고딕"/>
              </a:rPr>
              <a:t>NMOS local</a:t>
            </a:r>
          </a:p>
          <a:p>
            <a:pPr algn="ctr">
              <a:lnSpc>
                <a:spcPct val="110000"/>
              </a:lnSpc>
            </a:pPr>
            <a:r>
              <a:rPr sz="1600" b="1">
                <a:solidFill>
                  <a:srgbClr val="1A1A1A"/>
                </a:solidFill>
                <a:latin typeface="맑은 고딕"/>
                <a:ea typeface="맑은 고딕"/>
                <a:cs typeface="맑은 고딕"/>
              </a:rPr>
              <a:t>mismatch −10 %</a:t>
            </a:r>
          </a:p>
        </p:txBody>
      </p:sp>
      <p:sp>
        <p:nvSpPr>
          <p:cNvPr id="15" name="Rectangle 14"/>
          <p:cNvSpPr/>
          <p:nvPr/>
        </p:nvSpPr>
        <p:spPr>
          <a:xfrm>
            <a:off x="8778240" y="1440180"/>
            <a:ext cx="2950464" cy="82296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5776" y="1440180"/>
            <a:ext cx="2755392" cy="822960"/>
          </a:xfrm>
          <a:prstGeom prst="rect">
            <a:avLst/>
          </a:prstGeom>
          <a:noFill/>
        </p:spPr>
        <p:txBody>
          <a:bodyPr wrap="square" lIns="0" rIns="0" tIns="0" bIns="0" anchor="ctr">
            <a:noAutofit/>
          </a:bodyPr>
          <a:lstStyle/>
          <a:p>
            <a:pPr algn="ctr">
              <a:lnSpc>
                <a:spcPct val="110000"/>
              </a:lnSpc>
            </a:pPr>
            <a:r>
              <a:rPr sz="1700" b="1">
                <a:solidFill>
                  <a:srgbClr val="1A1A1A"/>
                </a:solidFill>
                <a:latin typeface="맑은 고딕"/>
                <a:ea typeface="맑은 고딕"/>
                <a:cs typeface="맑은 고딕"/>
              </a:rPr>
              <a:t>Vmin = ?</a:t>
            </a:r>
          </a:p>
        </p:txBody>
      </p:sp>
      <p:sp>
        <p:nvSpPr>
          <p:cNvPr id="17" name="TextBox 16"/>
          <p:cNvSpPr txBox="1"/>
          <p:nvPr/>
        </p:nvSpPr>
        <p:spPr>
          <a:xfrm>
            <a:off x="5120640" y="1440180"/>
            <a:ext cx="853440" cy="822960"/>
          </a:xfrm>
          <a:prstGeom prst="rect">
            <a:avLst/>
          </a:prstGeom>
          <a:noFill/>
        </p:spPr>
        <p:txBody>
          <a:bodyPr wrap="square" lIns="0" rIns="0" tIns="0" bIns="0" anchor="ctr">
            <a:noAutofit/>
          </a:bodyPr>
          <a:lstStyle/>
          <a:p>
            <a:pPr algn="ctr">
              <a:lnSpc>
                <a:spcPct val="110000"/>
              </a:lnSpc>
            </a:pPr>
            <a:r>
              <a:rPr sz="2600" b="1">
                <a:solidFill>
                  <a:srgbClr val="1428A0"/>
                </a:solidFill>
                <a:latin typeface="맑은 고딕"/>
                <a:ea typeface="맑은 고딕"/>
                <a:cs typeface="맑은 고딕"/>
              </a:rPr>
              <a:t>→</a:t>
            </a:r>
          </a:p>
        </p:txBody>
      </p:sp>
      <p:sp>
        <p:nvSpPr>
          <p:cNvPr id="18" name="TextBox 17"/>
          <p:cNvSpPr txBox="1"/>
          <p:nvPr/>
        </p:nvSpPr>
        <p:spPr>
          <a:xfrm>
            <a:off x="7924800" y="1440180"/>
            <a:ext cx="853440" cy="822960"/>
          </a:xfrm>
          <a:prstGeom prst="rect">
            <a:avLst/>
          </a:prstGeom>
          <a:noFill/>
        </p:spPr>
        <p:txBody>
          <a:bodyPr wrap="square" lIns="0" rIns="0" tIns="0" bIns="0" anchor="ctr">
            <a:noAutofit/>
          </a:bodyPr>
          <a:lstStyle/>
          <a:p>
            <a:pPr algn="ctr">
              <a:lnSpc>
                <a:spcPct val="110000"/>
              </a:lnSpc>
            </a:pPr>
            <a:r>
              <a:rPr sz="2600" b="1">
                <a:solidFill>
                  <a:srgbClr val="1428A0"/>
                </a:solidFill>
                <a:latin typeface="맑은 고딕"/>
                <a:ea typeface="맑은 고딕"/>
                <a:cs typeface="맑은 고딕"/>
              </a:rPr>
              <a:t>→</a:t>
            </a:r>
          </a:p>
        </p:txBody>
      </p:sp>
      <p:sp>
        <p:nvSpPr>
          <p:cNvPr id="19" name="TextBox 18"/>
          <p:cNvSpPr txBox="1"/>
          <p:nvPr/>
        </p:nvSpPr>
        <p:spPr>
          <a:xfrm>
            <a:off x="2438400" y="2331720"/>
            <a:ext cx="3413760" cy="617220"/>
          </a:xfrm>
          <a:prstGeom prst="rect">
            <a:avLst/>
          </a:prstGeom>
          <a:noFill/>
        </p:spPr>
        <p:txBody>
          <a:bodyPr wrap="square" lIns="0" rIns="0" tIns="0" bIns="0" anchor="t">
            <a:noAutofit/>
          </a:bodyPr>
          <a:lstStyle/>
          <a:p>
            <a:pPr algn="l">
              <a:lnSpc>
                <a:spcPct val="110000"/>
              </a:lnSpc>
            </a:pPr>
            <a:r>
              <a:rPr sz="1400" b="0">
                <a:solidFill>
                  <a:srgbClr val="1A1A1A"/>
                </a:solidFill>
                <a:latin typeface="Malgun Gothic Semilight"/>
                <a:ea typeface="Malgun Gothic Semilight"/>
                <a:cs typeface="Malgun Gothic Semilight"/>
              </a:rPr>
              <a:t>공정 조건이 주어지면</a:t>
            </a:r>
          </a:p>
          <a:p>
            <a:pPr algn="l">
              <a:lnSpc>
                <a:spcPct val="110000"/>
              </a:lnSpc>
            </a:pPr>
            <a:r>
              <a:rPr sz="1400" b="0">
                <a:solidFill>
                  <a:srgbClr val="1A1A1A"/>
                </a:solidFill>
                <a:latin typeface="Malgun Gothic Semilight"/>
                <a:ea typeface="Malgun Gothic Semilight"/>
                <a:cs typeface="Malgun Gothic Semilight"/>
              </a:rPr>
              <a:t>→ </a:t>
            </a:r>
            <a:r>
              <a:rPr sz="1400" b="1">
                <a:solidFill>
                  <a:srgbClr val="1428A0"/>
                </a:solidFill>
                <a:latin typeface="맑은 고딕"/>
                <a:ea typeface="맑은 고딕"/>
                <a:cs typeface="맑은 고딕"/>
              </a:rPr>
              <a:t>그 조건의 Vmin</a:t>
            </a:r>
            <a:r>
              <a:rPr sz="1400" b="0">
                <a:solidFill>
                  <a:srgbClr val="1A1A1A"/>
                </a:solidFill>
                <a:latin typeface="Malgun Gothic Semilight"/>
                <a:ea typeface="Malgun Gothic Semilight"/>
                <a:cs typeface="Malgun Gothic Semilight"/>
              </a:rPr>
              <a:t>을 찾는다</a:t>
            </a:r>
          </a:p>
        </p:txBody>
      </p:sp>
      <p:sp>
        <p:nvSpPr>
          <p:cNvPr id="20" name="TextBox 19"/>
          <p:cNvSpPr txBox="1"/>
          <p:nvPr/>
        </p:nvSpPr>
        <p:spPr>
          <a:xfrm>
            <a:off x="463296" y="3154680"/>
            <a:ext cx="1828800" cy="822960"/>
          </a:xfrm>
          <a:prstGeom prst="rect">
            <a:avLst/>
          </a:prstGeom>
          <a:noFill/>
        </p:spPr>
        <p:txBody>
          <a:bodyPr wrap="square" lIns="0" rIns="0" tIns="0" bIns="0" anchor="ctr">
            <a:noAutofit/>
          </a:bodyPr>
          <a:lstStyle/>
          <a:p>
            <a:pPr algn="l">
              <a:lnSpc>
                <a:spcPct val="110000"/>
              </a:lnSpc>
            </a:pPr>
            <a:r>
              <a:rPr sz="1700" b="1">
                <a:solidFill>
                  <a:srgbClr val="1428A0"/>
                </a:solidFill>
                <a:latin typeface="맑은 고딕"/>
                <a:ea typeface="맑은 고딕"/>
                <a:cs typeface="맑은 고딕"/>
              </a:rPr>
              <a:t>역방향 추정</a:t>
            </a:r>
          </a:p>
        </p:txBody>
      </p:sp>
      <p:sp>
        <p:nvSpPr>
          <p:cNvPr id="21" name="Rectangle 20"/>
          <p:cNvSpPr/>
          <p:nvPr/>
        </p:nvSpPr>
        <p:spPr>
          <a:xfrm>
            <a:off x="2438400" y="3154680"/>
            <a:ext cx="2682240" cy="82296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35936" y="3154680"/>
            <a:ext cx="2487168" cy="822960"/>
          </a:xfrm>
          <a:prstGeom prst="rect">
            <a:avLst/>
          </a:prstGeom>
          <a:noFill/>
        </p:spPr>
        <p:txBody>
          <a:bodyPr wrap="square" lIns="0" rIns="0" tIns="0" bIns="0" anchor="ctr">
            <a:noAutofit/>
          </a:bodyPr>
          <a:lstStyle/>
          <a:p>
            <a:pPr algn="ctr">
              <a:lnSpc>
                <a:spcPct val="110000"/>
              </a:lnSpc>
            </a:pPr>
            <a:r>
              <a:rPr sz="1600" b="1">
                <a:solidFill>
                  <a:srgbClr val="1A1A1A"/>
                </a:solidFill>
                <a:latin typeface="맑은 고딕"/>
                <a:ea typeface="맑은 고딕"/>
                <a:cs typeface="맑은 고딕"/>
              </a:rPr>
              <a:t>NMOS local</a:t>
            </a:r>
          </a:p>
          <a:p>
            <a:pPr algn="ctr">
              <a:lnSpc>
                <a:spcPct val="110000"/>
              </a:lnSpc>
            </a:pPr>
            <a:r>
              <a:rPr sz="1600" b="1">
                <a:solidFill>
                  <a:srgbClr val="1A1A1A"/>
                </a:solidFill>
                <a:latin typeface="맑은 고딕"/>
                <a:ea typeface="맑은 고딕"/>
                <a:cs typeface="맑은 고딕"/>
              </a:rPr>
              <a:t>mismatch = ?</a:t>
            </a:r>
          </a:p>
        </p:txBody>
      </p:sp>
      <p:sp>
        <p:nvSpPr>
          <p:cNvPr id="23" name="Rectangle 22"/>
          <p:cNvSpPr/>
          <p:nvPr/>
        </p:nvSpPr>
        <p:spPr>
          <a:xfrm>
            <a:off x="8778240" y="3154680"/>
            <a:ext cx="2950464" cy="82296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75776" y="3154680"/>
            <a:ext cx="2755392" cy="822960"/>
          </a:xfrm>
          <a:prstGeom prst="rect">
            <a:avLst/>
          </a:prstGeom>
          <a:noFill/>
        </p:spPr>
        <p:txBody>
          <a:bodyPr wrap="square" lIns="0" rIns="0" tIns="0" bIns="0" anchor="ctr">
            <a:noAutofit/>
          </a:bodyPr>
          <a:lstStyle/>
          <a:p>
            <a:pPr algn="ctr">
              <a:lnSpc>
                <a:spcPct val="110000"/>
              </a:lnSpc>
            </a:pPr>
            <a:r>
              <a:rPr sz="1700" b="1">
                <a:solidFill>
                  <a:srgbClr val="1A1A1A"/>
                </a:solidFill>
                <a:latin typeface="맑은 고딕"/>
                <a:ea typeface="맑은 고딕"/>
                <a:cs typeface="맑은 고딕"/>
              </a:rPr>
              <a:t>목표 Vmin 0.575 V</a:t>
            </a:r>
          </a:p>
        </p:txBody>
      </p:sp>
      <p:sp>
        <p:nvSpPr>
          <p:cNvPr id="25" name="TextBox 24"/>
          <p:cNvSpPr txBox="1"/>
          <p:nvPr/>
        </p:nvSpPr>
        <p:spPr>
          <a:xfrm>
            <a:off x="5120640" y="3154680"/>
            <a:ext cx="853440" cy="822960"/>
          </a:xfrm>
          <a:prstGeom prst="rect">
            <a:avLst/>
          </a:prstGeom>
          <a:noFill/>
        </p:spPr>
        <p:txBody>
          <a:bodyPr wrap="square" lIns="0" rIns="0" tIns="0" bIns="0" anchor="ctr">
            <a:noAutofit/>
          </a:bodyPr>
          <a:lstStyle/>
          <a:p>
            <a:pPr algn="ctr">
              <a:lnSpc>
                <a:spcPct val="110000"/>
              </a:lnSpc>
            </a:pPr>
            <a:r>
              <a:rPr sz="2600" b="1">
                <a:solidFill>
                  <a:srgbClr val="1428A0"/>
                </a:solidFill>
                <a:latin typeface="맑은 고딕"/>
                <a:ea typeface="맑은 고딕"/>
                <a:cs typeface="맑은 고딕"/>
              </a:rPr>
              <a:t>←</a:t>
            </a:r>
          </a:p>
        </p:txBody>
      </p:sp>
      <p:sp>
        <p:nvSpPr>
          <p:cNvPr id="26" name="TextBox 25"/>
          <p:cNvSpPr txBox="1"/>
          <p:nvPr/>
        </p:nvSpPr>
        <p:spPr>
          <a:xfrm>
            <a:off x="7924800" y="3154680"/>
            <a:ext cx="853440" cy="822960"/>
          </a:xfrm>
          <a:prstGeom prst="rect">
            <a:avLst/>
          </a:prstGeom>
          <a:noFill/>
        </p:spPr>
        <p:txBody>
          <a:bodyPr wrap="square" lIns="0" rIns="0" tIns="0" bIns="0" anchor="ctr">
            <a:noAutofit/>
          </a:bodyPr>
          <a:lstStyle/>
          <a:p>
            <a:pPr algn="ctr">
              <a:lnSpc>
                <a:spcPct val="110000"/>
              </a:lnSpc>
            </a:pPr>
            <a:r>
              <a:rPr sz="2600" b="1">
                <a:solidFill>
                  <a:srgbClr val="1428A0"/>
                </a:solidFill>
                <a:latin typeface="맑은 고딕"/>
                <a:ea typeface="맑은 고딕"/>
                <a:cs typeface="맑은 고딕"/>
              </a:rPr>
              <a:t>←</a:t>
            </a:r>
          </a:p>
        </p:txBody>
      </p:sp>
      <p:sp>
        <p:nvSpPr>
          <p:cNvPr id="27" name="TextBox 26"/>
          <p:cNvSpPr txBox="1"/>
          <p:nvPr/>
        </p:nvSpPr>
        <p:spPr>
          <a:xfrm>
            <a:off x="2438400" y="4046220"/>
            <a:ext cx="3413760" cy="617220"/>
          </a:xfrm>
          <a:prstGeom prst="rect">
            <a:avLst/>
          </a:prstGeom>
          <a:noFill/>
        </p:spPr>
        <p:txBody>
          <a:bodyPr wrap="square" lIns="0" rIns="0" tIns="0" bIns="0" anchor="t">
            <a:noAutofit/>
          </a:bodyPr>
          <a:lstStyle/>
          <a:p>
            <a:pPr algn="l">
              <a:lnSpc>
                <a:spcPct val="110000"/>
              </a:lnSpc>
            </a:pPr>
            <a:r>
              <a:rPr sz="1400" b="0">
                <a:solidFill>
                  <a:srgbClr val="1A1A1A"/>
                </a:solidFill>
                <a:latin typeface="Malgun Gothic Semilight"/>
                <a:ea typeface="Malgun Gothic Semilight"/>
                <a:cs typeface="Malgun Gothic Semilight"/>
              </a:rPr>
              <a:t>목표 Vmin이 주어지면</a:t>
            </a:r>
          </a:p>
          <a:p>
            <a:pPr algn="l">
              <a:lnSpc>
                <a:spcPct val="110000"/>
              </a:lnSpc>
            </a:pPr>
            <a:r>
              <a:rPr sz="1400" b="0">
                <a:solidFill>
                  <a:srgbClr val="1A1A1A"/>
                </a:solidFill>
                <a:latin typeface="Malgun Gothic Semilight"/>
                <a:ea typeface="Malgun Gothic Semilight"/>
                <a:cs typeface="Malgun Gothic Semilight"/>
              </a:rPr>
              <a:t>→ </a:t>
            </a:r>
            <a:r>
              <a:rPr sz="1400" b="1">
                <a:solidFill>
                  <a:srgbClr val="1428A0"/>
                </a:solidFill>
                <a:latin typeface="맑은 고딕"/>
                <a:ea typeface="맑은 고딕"/>
                <a:cs typeface="맑은 고딕"/>
              </a:rPr>
              <a:t>그 목표를 맞추는 공정 조건</a:t>
            </a:r>
            <a:r>
              <a:rPr sz="1400" b="0">
                <a:solidFill>
                  <a:srgbClr val="1A1A1A"/>
                </a:solidFill>
                <a:latin typeface="Malgun Gothic Semilight"/>
                <a:ea typeface="Malgun Gothic Semilight"/>
                <a:cs typeface="Malgun Gothic Semilight"/>
              </a:rPr>
              <a:t>을 찾는다</a:t>
            </a:r>
          </a:p>
        </p:txBody>
      </p:sp>
      <p:sp>
        <p:nvSpPr>
          <p:cNvPr id="28" name="Rectangle 27"/>
          <p:cNvSpPr/>
          <p:nvPr/>
        </p:nvSpPr>
        <p:spPr>
          <a:xfrm>
            <a:off x="463296" y="5070158"/>
            <a:ext cx="11265408"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3296" y="5157216"/>
            <a:ext cx="11265408" cy="480060"/>
          </a:xfrm>
          <a:prstGeom prst="rect">
            <a:avLst/>
          </a:prstGeom>
          <a:noFill/>
        </p:spPr>
        <p:txBody>
          <a:bodyPr wrap="square" lIns="0" rIns="0" tIns="0" bIns="0" anchor="ctr">
            <a:noAutofit/>
          </a:bodyPr>
          <a:lstStyle/>
          <a:p>
            <a:pPr algn="ctr">
              <a:lnSpc>
                <a:spcPct val="110000"/>
              </a:lnSpc>
            </a:pPr>
            <a:r>
              <a:rPr sz="1900" b="1">
                <a:solidFill>
                  <a:srgbClr val="1428A0"/>
                </a:solidFill>
                <a:latin typeface="맑은 고딕"/>
                <a:ea typeface="맑은 고딕"/>
                <a:cs typeface="맑은 고딕"/>
              </a:rPr>
              <a:t>두 방향 모두 Monte Carlo simulation을 다시 수행하지 않고 model로 추정한다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33172"/>
            <a:ext cx="11253216" cy="541782"/>
          </a:xfrm>
          <a:prstGeom prst="rect">
            <a:avLst/>
          </a:prstGeom>
          <a:noFill/>
        </p:spPr>
        <p:txBody>
          <a:bodyPr wrap="square" lIns="0" rIns="0" tIns="0" bIns="0" anchor="ctr">
            <a:noAutofit/>
          </a:bodyPr>
          <a:lstStyle/>
          <a:p>
            <a:pPr algn="l">
              <a:lnSpc>
                <a:spcPct val="110000"/>
              </a:lnSpc>
            </a:pPr>
            <a:r>
              <a:rPr sz="3000" b="1">
                <a:solidFill>
                  <a:srgbClr val="000000"/>
                </a:solidFill>
                <a:latin typeface="맑은 고딕"/>
                <a:ea typeface="맑은 고딕"/>
                <a:cs typeface="맑은 고딕"/>
              </a:rPr>
              <a:t>방법: 중심치·산포 기반 Vmin 추정 구조</a:t>
            </a:r>
          </a:p>
        </p:txBody>
      </p:sp>
      <p:sp>
        <p:nvSpPr>
          <p:cNvPr id="3" name="Rectangle 2"/>
          <p:cNvSpPr/>
          <p:nvPr/>
        </p:nvSpPr>
        <p:spPr>
          <a:xfrm>
            <a:off x="463296" y="887984"/>
            <a:ext cx="11265408" cy="48260"/>
          </a:xfrm>
          <a:prstGeom prst="rect">
            <a:avLst/>
          </a:prstGeom>
          <a:solidFill>
            <a:srgbClr val="E7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6720" y="6480810"/>
            <a:ext cx="182880" cy="205740"/>
          </a:xfrm>
          <a:prstGeom prst="rect">
            <a:avLst/>
          </a:prstGeom>
          <a:noFill/>
        </p:spPr>
        <p:txBody>
          <a:bodyPr wrap="square" lIns="0" rIns="0" tIns="0" bIns="0" anchor="t">
            <a:noAutofit/>
          </a:bodyPr>
          <a:lstStyle/>
          <a:p>
            <a:pPr algn="l">
              <a:lnSpc>
                <a:spcPct val="110000"/>
              </a:lnSpc>
            </a:pPr>
            <a:r>
              <a:rPr sz="1000" b="1">
                <a:solidFill>
                  <a:srgbClr val="44566A"/>
                </a:solidFill>
                <a:latin typeface="맑은 고딕"/>
                <a:ea typeface="맑은 고딕"/>
                <a:cs typeface="맑은 고딕"/>
              </a:rPr>
              <a:t>5</a:t>
            </a:r>
          </a:p>
        </p:txBody>
      </p:sp>
      <p:sp>
        <p:nvSpPr>
          <p:cNvPr id="5" name="TextBox 4"/>
          <p:cNvSpPr txBox="1"/>
          <p:nvPr/>
        </p:nvSpPr>
        <p:spPr>
          <a:xfrm>
            <a:off x="670560" y="6494526"/>
            <a:ext cx="9022080" cy="205740"/>
          </a:xfrm>
          <a:prstGeom prst="rect">
            <a:avLst/>
          </a:prstGeom>
          <a:noFill/>
        </p:spPr>
        <p:txBody>
          <a:bodyPr wrap="square" lIns="0" rIns="0" tIns="0" bIns="0" anchor="t">
            <a:noAutofit/>
          </a:bodyPr>
          <a:lstStyle/>
          <a:p>
            <a:pPr algn="l">
              <a:lnSpc>
                <a:spcPct val="110000"/>
              </a:lnSpc>
            </a:pPr>
            <a:r>
              <a:rPr sz="900" b="0">
                <a:solidFill>
                  <a:srgbClr val="4C5759"/>
                </a:solidFill>
                <a:latin typeface="Malgun Gothic Semilight"/>
                <a:ea typeface="Malgun Gothic Semilight"/>
                <a:cs typeface="Malgun Gothic Semilight"/>
              </a:rPr>
              <a:t>Z = 중심치 / 산포 (SNMR · Vtrip 각각) · target Z는 memory density와 yield 목표로 정한다 (이 연구: 6.4)</a:t>
            </a:r>
          </a:p>
        </p:txBody>
      </p:sp>
      <p:sp>
        <p:nvSpPr>
          <p:cNvPr id="6" name="TextBox 5"/>
          <p:cNvSpPr txBox="1"/>
          <p:nvPr/>
        </p:nvSpPr>
        <p:spPr>
          <a:xfrm>
            <a:off x="9265920" y="6487668"/>
            <a:ext cx="2462784" cy="205740"/>
          </a:xfrm>
          <a:prstGeom prst="rect">
            <a:avLst/>
          </a:prstGeom>
          <a:noFill/>
        </p:spPr>
        <p:txBody>
          <a:bodyPr wrap="square" lIns="0" rIns="0" tIns="0" bIns="0" anchor="t">
            <a:noAutofit/>
          </a:bodyPr>
          <a:lstStyle/>
          <a:p>
            <a:pPr algn="r">
              <a:lnSpc>
                <a:spcPct val="110000"/>
              </a:lnSpc>
            </a:pPr>
            <a:r>
              <a:rPr sz="900" b="0">
                <a:solidFill>
                  <a:srgbClr val="7F7F7F"/>
                </a:solidFill>
                <a:latin typeface="Malgun Gothic Semilight"/>
                <a:ea typeface="Malgun Gothic Semilight"/>
                <a:cs typeface="Malgun Gothic Semilight"/>
              </a:rPr>
              <a:t>SRAM Vmin 순·역방향 추정</a:t>
            </a:r>
          </a:p>
        </p:txBody>
      </p:sp>
      <p:sp>
        <p:nvSpPr>
          <p:cNvPr id="7" name="TextBox 6"/>
          <p:cNvSpPr txBox="1"/>
          <p:nvPr/>
        </p:nvSpPr>
        <p:spPr>
          <a:xfrm>
            <a:off x="475488" y="1062990"/>
            <a:ext cx="4876800" cy="308610"/>
          </a:xfrm>
          <a:prstGeom prst="rect">
            <a:avLst/>
          </a:prstGeom>
          <a:noFill/>
        </p:spPr>
        <p:txBody>
          <a:bodyPr wrap="square" lIns="0" rIns="0" tIns="0" bIns="0" anchor="t">
            <a:noAutofit/>
          </a:bodyPr>
          <a:lstStyle/>
          <a:p>
            <a:pPr algn="l">
              <a:lnSpc>
                <a:spcPct val="110000"/>
              </a:lnSpc>
            </a:pPr>
            <a:r>
              <a:rPr sz="1400" b="1">
                <a:solidFill>
                  <a:srgbClr val="7F7F7F"/>
                </a:solidFill>
                <a:latin typeface="맑은 고딕"/>
                <a:ea typeface="맑은 고딕"/>
                <a:cs typeface="맑은 고딕"/>
              </a:rPr>
              <a:t>기존 Vmin 추정</a:t>
            </a:r>
          </a:p>
        </p:txBody>
      </p:sp>
      <p:sp>
        <p:nvSpPr>
          <p:cNvPr id="8" name="Rectangle 7"/>
          <p:cNvSpPr/>
          <p:nvPr/>
        </p:nvSpPr>
        <p:spPr>
          <a:xfrm>
            <a:off x="463296" y="1405890"/>
            <a:ext cx="2523744" cy="82296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0832" y="1405890"/>
            <a:ext cx="2328672" cy="822960"/>
          </a:xfrm>
          <a:prstGeom prst="rect">
            <a:avLst/>
          </a:prstGeom>
          <a:noFill/>
        </p:spPr>
        <p:txBody>
          <a:bodyPr wrap="square" lIns="0" rIns="0" tIns="0" bIns="0" anchor="ctr">
            <a:noAutofit/>
          </a:bodyPr>
          <a:lstStyle/>
          <a:p>
            <a:pPr algn="ctr">
              <a:lnSpc>
                <a:spcPct val="100000"/>
              </a:lnSpc>
            </a:pPr>
            <a:r>
              <a:rPr sz="1300" b="0">
                <a:solidFill>
                  <a:srgbClr val="1A1A1A"/>
                </a:solidFill>
                <a:latin typeface="Malgun Gothic Semilight"/>
                <a:ea typeface="Malgun Gothic Semilight"/>
                <a:cs typeface="Malgun Gothic Semilight"/>
              </a:rPr>
              <a:t>Vop sweep</a:t>
            </a:r>
          </a:p>
        </p:txBody>
      </p:sp>
      <p:sp>
        <p:nvSpPr>
          <p:cNvPr id="10" name="TextBox 9"/>
          <p:cNvSpPr txBox="1"/>
          <p:nvPr/>
        </p:nvSpPr>
        <p:spPr>
          <a:xfrm>
            <a:off x="2987040" y="1405890"/>
            <a:ext cx="390144" cy="822960"/>
          </a:xfrm>
          <a:prstGeom prst="rect">
            <a:avLst/>
          </a:prstGeom>
          <a:noFill/>
        </p:spPr>
        <p:txBody>
          <a:bodyPr wrap="square" lIns="0" rIns="0" tIns="0" bIns="0" anchor="ctr">
            <a:noAutofit/>
          </a:bodyPr>
          <a:lstStyle/>
          <a:p>
            <a:pPr algn="ctr">
              <a:lnSpc>
                <a:spcPct val="110000"/>
              </a:lnSpc>
            </a:pPr>
            <a:r>
              <a:rPr sz="1800" b="0">
                <a:solidFill>
                  <a:srgbClr val="7F7F7F"/>
                </a:solidFill>
                <a:latin typeface="Malgun Gothic Semilight"/>
                <a:ea typeface="Malgun Gothic Semilight"/>
                <a:cs typeface="Malgun Gothic Semilight"/>
              </a:rPr>
              <a:t>→</a:t>
            </a:r>
          </a:p>
        </p:txBody>
      </p:sp>
      <p:sp>
        <p:nvSpPr>
          <p:cNvPr id="11" name="Rectangle 10"/>
          <p:cNvSpPr/>
          <p:nvPr/>
        </p:nvSpPr>
        <p:spPr>
          <a:xfrm>
            <a:off x="3377184" y="1405890"/>
            <a:ext cx="2523744" cy="82296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1405890"/>
            <a:ext cx="2328672" cy="822960"/>
          </a:xfrm>
          <a:prstGeom prst="rect">
            <a:avLst/>
          </a:prstGeom>
          <a:noFill/>
        </p:spPr>
        <p:txBody>
          <a:bodyPr wrap="square" lIns="0" rIns="0" tIns="0" bIns="0" anchor="ctr">
            <a:noAutofit/>
          </a:bodyPr>
          <a:lstStyle/>
          <a:p>
            <a:pPr algn="ctr">
              <a:lnSpc>
                <a:spcPct val="100000"/>
              </a:lnSpc>
            </a:pPr>
            <a:r>
              <a:rPr sz="1300" b="0">
                <a:solidFill>
                  <a:srgbClr val="1A1A1A"/>
                </a:solidFill>
                <a:latin typeface="Malgun Gothic Semilight"/>
                <a:ea typeface="Malgun Gothic Semilight"/>
                <a:cs typeface="Malgun Gothic Semilight"/>
              </a:rPr>
              <a:t>Monte Carlo로</a:t>
            </a:r>
          </a:p>
          <a:p>
            <a:pPr algn="ctr">
              <a:lnSpc>
                <a:spcPct val="100000"/>
              </a:lnSpc>
            </a:pPr>
            <a:r>
              <a:rPr sz="1300" b="0">
                <a:solidFill>
                  <a:srgbClr val="1A1A1A"/>
                </a:solidFill>
                <a:latin typeface="Malgun Gothic Semilight"/>
                <a:ea typeface="Malgun Gothic Semilight"/>
                <a:cs typeface="Malgun Gothic Semilight"/>
              </a:rPr>
              <a:t>SNMR·Vtrip의</a:t>
            </a:r>
          </a:p>
          <a:p>
            <a:pPr algn="ctr">
              <a:lnSpc>
                <a:spcPct val="100000"/>
              </a:lnSpc>
            </a:pPr>
            <a:r>
              <a:rPr sz="1300" b="0">
                <a:solidFill>
                  <a:srgbClr val="1A1A1A"/>
                </a:solidFill>
                <a:latin typeface="Malgun Gothic Semilight"/>
                <a:ea typeface="Malgun Gothic Semilight"/>
                <a:cs typeface="Malgun Gothic Semilight"/>
              </a:rPr>
              <a:t>중심치·산포</a:t>
            </a:r>
          </a:p>
        </p:txBody>
      </p:sp>
      <p:sp>
        <p:nvSpPr>
          <p:cNvPr id="13" name="TextBox 12"/>
          <p:cNvSpPr txBox="1"/>
          <p:nvPr/>
        </p:nvSpPr>
        <p:spPr>
          <a:xfrm>
            <a:off x="5900928" y="1405890"/>
            <a:ext cx="390144" cy="822960"/>
          </a:xfrm>
          <a:prstGeom prst="rect">
            <a:avLst/>
          </a:prstGeom>
          <a:noFill/>
        </p:spPr>
        <p:txBody>
          <a:bodyPr wrap="square" lIns="0" rIns="0" tIns="0" bIns="0" anchor="ctr">
            <a:noAutofit/>
          </a:bodyPr>
          <a:lstStyle/>
          <a:p>
            <a:pPr algn="ctr">
              <a:lnSpc>
                <a:spcPct val="110000"/>
              </a:lnSpc>
            </a:pPr>
            <a:r>
              <a:rPr sz="1800" b="0">
                <a:solidFill>
                  <a:srgbClr val="7F7F7F"/>
                </a:solidFill>
                <a:latin typeface="Malgun Gothic Semilight"/>
                <a:ea typeface="Malgun Gothic Semilight"/>
                <a:cs typeface="Malgun Gothic Semilight"/>
              </a:rPr>
              <a:t>→</a:t>
            </a:r>
          </a:p>
        </p:txBody>
      </p:sp>
      <p:sp>
        <p:nvSpPr>
          <p:cNvPr id="14" name="Rectangle 13"/>
          <p:cNvSpPr/>
          <p:nvPr/>
        </p:nvSpPr>
        <p:spPr>
          <a:xfrm>
            <a:off x="6291072" y="1405890"/>
            <a:ext cx="2523744" cy="82296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8608" y="1405890"/>
            <a:ext cx="2328672" cy="822960"/>
          </a:xfrm>
          <a:prstGeom prst="rect">
            <a:avLst/>
          </a:prstGeom>
          <a:noFill/>
        </p:spPr>
        <p:txBody>
          <a:bodyPr wrap="square" lIns="0" rIns="0" tIns="0" bIns="0" anchor="ctr">
            <a:noAutofit/>
          </a:bodyPr>
          <a:lstStyle/>
          <a:p>
            <a:pPr algn="ctr">
              <a:lnSpc>
                <a:spcPct val="100000"/>
              </a:lnSpc>
            </a:pPr>
            <a:r>
              <a:rPr sz="1300" b="0">
                <a:solidFill>
                  <a:srgbClr val="1A1A1A"/>
                </a:solidFill>
                <a:latin typeface="Malgun Gothic Semilight"/>
                <a:ea typeface="Malgun Gothic Semilight"/>
                <a:cs typeface="Malgun Gothic Semilight"/>
              </a:rPr>
              <a:t>Z =</a:t>
            </a:r>
          </a:p>
          <a:p>
            <a:pPr algn="ctr">
              <a:lnSpc>
                <a:spcPct val="100000"/>
              </a:lnSpc>
            </a:pPr>
            <a:r>
              <a:rPr sz="1300" b="0">
                <a:solidFill>
                  <a:srgbClr val="1A1A1A"/>
                </a:solidFill>
                <a:latin typeface="Malgun Gothic Semilight"/>
                <a:ea typeface="Malgun Gothic Semilight"/>
                <a:cs typeface="Malgun Gothic Semilight"/>
              </a:rPr>
              <a:t>중심치 / 산포</a:t>
            </a:r>
          </a:p>
        </p:txBody>
      </p:sp>
      <p:sp>
        <p:nvSpPr>
          <p:cNvPr id="16" name="TextBox 15"/>
          <p:cNvSpPr txBox="1"/>
          <p:nvPr/>
        </p:nvSpPr>
        <p:spPr>
          <a:xfrm>
            <a:off x="8814816" y="1405890"/>
            <a:ext cx="390144" cy="822960"/>
          </a:xfrm>
          <a:prstGeom prst="rect">
            <a:avLst/>
          </a:prstGeom>
          <a:noFill/>
        </p:spPr>
        <p:txBody>
          <a:bodyPr wrap="square" lIns="0" rIns="0" tIns="0" bIns="0" anchor="ctr">
            <a:noAutofit/>
          </a:bodyPr>
          <a:lstStyle/>
          <a:p>
            <a:pPr algn="ctr">
              <a:lnSpc>
                <a:spcPct val="110000"/>
              </a:lnSpc>
            </a:pPr>
            <a:r>
              <a:rPr sz="1800" b="0">
                <a:solidFill>
                  <a:srgbClr val="7F7F7F"/>
                </a:solidFill>
                <a:latin typeface="Malgun Gothic Semilight"/>
                <a:ea typeface="Malgun Gothic Semilight"/>
                <a:cs typeface="Malgun Gothic Semilight"/>
              </a:rPr>
              <a:t>→</a:t>
            </a:r>
          </a:p>
        </p:txBody>
      </p:sp>
      <p:sp>
        <p:nvSpPr>
          <p:cNvPr id="17" name="Rectangle 16"/>
          <p:cNvSpPr/>
          <p:nvPr/>
        </p:nvSpPr>
        <p:spPr>
          <a:xfrm>
            <a:off x="9204960" y="1405890"/>
            <a:ext cx="2523744" cy="82296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02496" y="1405890"/>
            <a:ext cx="2328672" cy="822960"/>
          </a:xfrm>
          <a:prstGeom prst="rect">
            <a:avLst/>
          </a:prstGeom>
          <a:noFill/>
        </p:spPr>
        <p:txBody>
          <a:bodyPr wrap="square" lIns="0" rIns="0" tIns="0" bIns="0" anchor="ctr">
            <a:noAutofit/>
          </a:bodyPr>
          <a:lstStyle/>
          <a:p>
            <a:pPr algn="ctr">
              <a:lnSpc>
                <a:spcPct val="100000"/>
              </a:lnSpc>
            </a:pPr>
            <a:r>
              <a:rPr sz="1300" b="0">
                <a:solidFill>
                  <a:srgbClr val="1A1A1A"/>
                </a:solidFill>
                <a:latin typeface="Malgun Gothic Semilight"/>
                <a:ea typeface="Malgun Gothic Semilight"/>
                <a:cs typeface="Malgun Gothic Semilight"/>
              </a:rPr>
              <a:t>target Z를 처음</a:t>
            </a:r>
          </a:p>
          <a:p>
            <a:pPr algn="ctr">
              <a:lnSpc>
                <a:spcPct val="100000"/>
              </a:lnSpc>
            </a:pPr>
            <a:r>
              <a:rPr sz="1300" b="0">
                <a:solidFill>
                  <a:srgbClr val="1A1A1A"/>
                </a:solidFill>
                <a:latin typeface="Malgun Gothic Semilight"/>
                <a:ea typeface="Malgun Gothic Semilight"/>
                <a:cs typeface="Malgun Gothic Semilight"/>
              </a:rPr>
              <a:t>만족하는 Vop</a:t>
            </a:r>
          </a:p>
          <a:p>
            <a:pPr algn="ctr">
              <a:lnSpc>
                <a:spcPct val="100000"/>
              </a:lnSpc>
            </a:pPr>
            <a:r>
              <a:rPr sz="1300" b="0">
                <a:solidFill>
                  <a:srgbClr val="1A1A1A"/>
                </a:solidFill>
                <a:latin typeface="Malgun Gothic Semilight"/>
                <a:ea typeface="Malgun Gothic Semilight"/>
                <a:cs typeface="Malgun Gothic Semilight"/>
              </a:rPr>
              <a:t>= Vmin</a:t>
            </a:r>
          </a:p>
        </p:txBody>
      </p:sp>
      <p:sp>
        <p:nvSpPr>
          <p:cNvPr id="19" name="TextBox 18"/>
          <p:cNvSpPr txBox="1"/>
          <p:nvPr/>
        </p:nvSpPr>
        <p:spPr>
          <a:xfrm>
            <a:off x="475488" y="2503170"/>
            <a:ext cx="4876800" cy="308610"/>
          </a:xfrm>
          <a:prstGeom prst="rect">
            <a:avLst/>
          </a:prstGeom>
          <a:noFill/>
        </p:spPr>
        <p:txBody>
          <a:bodyPr wrap="square" lIns="0" rIns="0" tIns="0" bIns="0" anchor="t">
            <a:noAutofit/>
          </a:bodyPr>
          <a:lstStyle/>
          <a:p>
            <a:pPr algn="l">
              <a:lnSpc>
                <a:spcPct val="110000"/>
              </a:lnSpc>
            </a:pPr>
            <a:r>
              <a:rPr sz="1400" b="1">
                <a:solidFill>
                  <a:srgbClr val="1428A0"/>
                </a:solidFill>
                <a:latin typeface="맑은 고딕"/>
                <a:ea typeface="맑은 고딕"/>
                <a:cs typeface="맑은 고딕"/>
              </a:rPr>
              <a:t>이 model</a:t>
            </a:r>
          </a:p>
        </p:txBody>
      </p:sp>
      <p:sp>
        <p:nvSpPr>
          <p:cNvPr id="20" name="Rectangle 19"/>
          <p:cNvSpPr/>
          <p:nvPr/>
        </p:nvSpPr>
        <p:spPr>
          <a:xfrm>
            <a:off x="463296" y="2846070"/>
            <a:ext cx="2523744" cy="82296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0832" y="2846070"/>
            <a:ext cx="2328672" cy="822960"/>
          </a:xfrm>
          <a:prstGeom prst="rect">
            <a:avLst/>
          </a:prstGeom>
          <a:noFill/>
        </p:spPr>
        <p:txBody>
          <a:bodyPr wrap="square" lIns="0" rIns="0" tIns="0" bIns="0" anchor="ctr">
            <a:noAutofit/>
          </a:bodyPr>
          <a:lstStyle/>
          <a:p>
            <a:pPr algn="ctr">
              <a:lnSpc>
                <a:spcPct val="100000"/>
              </a:lnSpc>
            </a:pPr>
            <a:r>
              <a:rPr sz="1300" b="0">
                <a:solidFill>
                  <a:srgbClr val="1A1A1A"/>
                </a:solidFill>
                <a:latin typeface="Malgun Gothic Semilight"/>
                <a:ea typeface="Malgun Gothic Semilight"/>
                <a:cs typeface="Malgun Gothic Semilight"/>
              </a:rPr>
              <a:t>Vop sweep</a:t>
            </a:r>
          </a:p>
        </p:txBody>
      </p:sp>
      <p:sp>
        <p:nvSpPr>
          <p:cNvPr id="22" name="TextBox 21"/>
          <p:cNvSpPr txBox="1"/>
          <p:nvPr/>
        </p:nvSpPr>
        <p:spPr>
          <a:xfrm>
            <a:off x="2987040" y="2846070"/>
            <a:ext cx="390144" cy="822960"/>
          </a:xfrm>
          <a:prstGeom prst="rect">
            <a:avLst/>
          </a:prstGeom>
          <a:noFill/>
        </p:spPr>
        <p:txBody>
          <a:bodyPr wrap="square" lIns="0" rIns="0" tIns="0" bIns="0" anchor="ctr">
            <a:noAutofit/>
          </a:bodyPr>
          <a:lstStyle/>
          <a:p>
            <a:pPr algn="ctr">
              <a:lnSpc>
                <a:spcPct val="110000"/>
              </a:lnSpc>
            </a:pPr>
            <a:r>
              <a:rPr sz="1800" b="0">
                <a:solidFill>
                  <a:srgbClr val="7F7F7F"/>
                </a:solidFill>
                <a:latin typeface="Malgun Gothic Semilight"/>
                <a:ea typeface="Malgun Gothic Semilight"/>
                <a:cs typeface="Malgun Gothic Semilight"/>
              </a:rPr>
              <a:t>→</a:t>
            </a:r>
          </a:p>
        </p:txBody>
      </p:sp>
      <p:sp>
        <p:nvSpPr>
          <p:cNvPr id="23" name="Rectangle 22"/>
          <p:cNvSpPr/>
          <p:nvPr/>
        </p:nvSpPr>
        <p:spPr>
          <a:xfrm>
            <a:off x="3377184" y="2846070"/>
            <a:ext cx="2523744" cy="822960"/>
          </a:xfrm>
          <a:prstGeom prst="rect">
            <a:avLst/>
          </a:prstGeom>
          <a:solidFill>
            <a:srgbClr val="FFFFFF"/>
          </a:solidFill>
          <a:ln w="2222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74720" y="2846070"/>
            <a:ext cx="2328672" cy="822960"/>
          </a:xfrm>
          <a:prstGeom prst="rect">
            <a:avLst/>
          </a:prstGeom>
          <a:noFill/>
        </p:spPr>
        <p:txBody>
          <a:bodyPr wrap="square" lIns="0" rIns="0" tIns="0" bIns="0" anchor="ctr">
            <a:noAutofit/>
          </a:bodyPr>
          <a:lstStyle/>
          <a:p>
            <a:pPr algn="ctr">
              <a:lnSpc>
                <a:spcPct val="100000"/>
              </a:lnSpc>
            </a:pPr>
            <a:r>
              <a:rPr sz="1300" b="1">
                <a:solidFill>
                  <a:srgbClr val="1428A0"/>
                </a:solidFill>
                <a:latin typeface="맑은 고딕"/>
                <a:ea typeface="맑은 고딕"/>
                <a:cs typeface="맑은 고딕"/>
              </a:rPr>
              <a:t>model이</a:t>
            </a:r>
          </a:p>
          <a:p>
            <a:pPr algn="ctr">
              <a:lnSpc>
                <a:spcPct val="100000"/>
              </a:lnSpc>
            </a:pPr>
            <a:r>
              <a:rPr sz="1300" b="1">
                <a:solidFill>
                  <a:srgbClr val="1428A0"/>
                </a:solidFill>
                <a:latin typeface="맑은 고딕"/>
                <a:ea typeface="맑은 고딕"/>
                <a:cs typeface="맑은 고딕"/>
              </a:rPr>
              <a:t>중심치·산포를</a:t>
            </a:r>
          </a:p>
          <a:p>
            <a:pPr algn="ctr">
              <a:lnSpc>
                <a:spcPct val="100000"/>
              </a:lnSpc>
            </a:pPr>
            <a:r>
              <a:rPr sz="1300" b="1">
                <a:solidFill>
                  <a:srgbClr val="1428A0"/>
                </a:solidFill>
                <a:latin typeface="맑은 고딕"/>
                <a:ea typeface="맑은 고딕"/>
                <a:cs typeface="맑은 고딕"/>
              </a:rPr>
              <a:t>추정</a:t>
            </a:r>
          </a:p>
        </p:txBody>
      </p:sp>
      <p:sp>
        <p:nvSpPr>
          <p:cNvPr id="25" name="TextBox 24"/>
          <p:cNvSpPr txBox="1"/>
          <p:nvPr/>
        </p:nvSpPr>
        <p:spPr>
          <a:xfrm>
            <a:off x="5900928" y="2846070"/>
            <a:ext cx="390144" cy="822960"/>
          </a:xfrm>
          <a:prstGeom prst="rect">
            <a:avLst/>
          </a:prstGeom>
          <a:noFill/>
        </p:spPr>
        <p:txBody>
          <a:bodyPr wrap="square" lIns="0" rIns="0" tIns="0" bIns="0" anchor="ctr">
            <a:noAutofit/>
          </a:bodyPr>
          <a:lstStyle/>
          <a:p>
            <a:pPr algn="ctr">
              <a:lnSpc>
                <a:spcPct val="110000"/>
              </a:lnSpc>
            </a:pPr>
            <a:r>
              <a:rPr sz="1800" b="0">
                <a:solidFill>
                  <a:srgbClr val="7F7F7F"/>
                </a:solidFill>
                <a:latin typeface="Malgun Gothic Semilight"/>
                <a:ea typeface="Malgun Gothic Semilight"/>
                <a:cs typeface="Malgun Gothic Semilight"/>
              </a:rPr>
              <a:t>→</a:t>
            </a:r>
          </a:p>
        </p:txBody>
      </p:sp>
      <p:sp>
        <p:nvSpPr>
          <p:cNvPr id="26" name="Rectangle 25"/>
          <p:cNvSpPr/>
          <p:nvPr/>
        </p:nvSpPr>
        <p:spPr>
          <a:xfrm>
            <a:off x="6291072" y="2846070"/>
            <a:ext cx="2523744" cy="82296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8608" y="2846070"/>
            <a:ext cx="2328672" cy="822960"/>
          </a:xfrm>
          <a:prstGeom prst="rect">
            <a:avLst/>
          </a:prstGeom>
          <a:noFill/>
        </p:spPr>
        <p:txBody>
          <a:bodyPr wrap="square" lIns="0" rIns="0" tIns="0" bIns="0" anchor="ctr">
            <a:noAutofit/>
          </a:bodyPr>
          <a:lstStyle/>
          <a:p>
            <a:pPr algn="ctr">
              <a:lnSpc>
                <a:spcPct val="100000"/>
              </a:lnSpc>
            </a:pPr>
            <a:r>
              <a:rPr sz="1300" b="0">
                <a:solidFill>
                  <a:srgbClr val="1A1A1A"/>
                </a:solidFill>
                <a:latin typeface="Malgun Gothic Semilight"/>
                <a:ea typeface="Malgun Gothic Semilight"/>
                <a:cs typeface="Malgun Gothic Semilight"/>
              </a:rPr>
              <a:t>Z =</a:t>
            </a:r>
          </a:p>
          <a:p>
            <a:pPr algn="ctr">
              <a:lnSpc>
                <a:spcPct val="100000"/>
              </a:lnSpc>
            </a:pPr>
            <a:r>
              <a:rPr sz="1300" b="0">
                <a:solidFill>
                  <a:srgbClr val="1A1A1A"/>
                </a:solidFill>
                <a:latin typeface="Malgun Gothic Semilight"/>
                <a:ea typeface="Malgun Gothic Semilight"/>
                <a:cs typeface="Malgun Gothic Semilight"/>
              </a:rPr>
              <a:t>중심치 / 산포</a:t>
            </a:r>
          </a:p>
        </p:txBody>
      </p:sp>
      <p:sp>
        <p:nvSpPr>
          <p:cNvPr id="28" name="TextBox 27"/>
          <p:cNvSpPr txBox="1"/>
          <p:nvPr/>
        </p:nvSpPr>
        <p:spPr>
          <a:xfrm>
            <a:off x="8814816" y="2846070"/>
            <a:ext cx="390144" cy="822960"/>
          </a:xfrm>
          <a:prstGeom prst="rect">
            <a:avLst/>
          </a:prstGeom>
          <a:noFill/>
        </p:spPr>
        <p:txBody>
          <a:bodyPr wrap="square" lIns="0" rIns="0" tIns="0" bIns="0" anchor="ctr">
            <a:noAutofit/>
          </a:bodyPr>
          <a:lstStyle/>
          <a:p>
            <a:pPr algn="ctr">
              <a:lnSpc>
                <a:spcPct val="110000"/>
              </a:lnSpc>
            </a:pPr>
            <a:r>
              <a:rPr sz="1800" b="0">
                <a:solidFill>
                  <a:srgbClr val="7F7F7F"/>
                </a:solidFill>
                <a:latin typeface="Malgun Gothic Semilight"/>
                <a:ea typeface="Malgun Gothic Semilight"/>
                <a:cs typeface="Malgun Gothic Semilight"/>
              </a:rPr>
              <a:t>→</a:t>
            </a:r>
          </a:p>
        </p:txBody>
      </p:sp>
      <p:sp>
        <p:nvSpPr>
          <p:cNvPr id="29" name="Rectangle 28"/>
          <p:cNvSpPr/>
          <p:nvPr/>
        </p:nvSpPr>
        <p:spPr>
          <a:xfrm>
            <a:off x="9204960" y="2846070"/>
            <a:ext cx="2523744" cy="82296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02496" y="2846070"/>
            <a:ext cx="2328672" cy="822960"/>
          </a:xfrm>
          <a:prstGeom prst="rect">
            <a:avLst/>
          </a:prstGeom>
          <a:noFill/>
        </p:spPr>
        <p:txBody>
          <a:bodyPr wrap="square" lIns="0" rIns="0" tIns="0" bIns="0" anchor="ctr">
            <a:noAutofit/>
          </a:bodyPr>
          <a:lstStyle/>
          <a:p>
            <a:pPr algn="ctr">
              <a:lnSpc>
                <a:spcPct val="100000"/>
              </a:lnSpc>
            </a:pPr>
            <a:r>
              <a:rPr sz="1300" b="0">
                <a:solidFill>
                  <a:srgbClr val="1A1A1A"/>
                </a:solidFill>
                <a:latin typeface="Malgun Gothic Semilight"/>
                <a:ea typeface="Malgun Gothic Semilight"/>
                <a:cs typeface="Malgun Gothic Semilight"/>
              </a:rPr>
              <a:t>target Z를 처음</a:t>
            </a:r>
          </a:p>
          <a:p>
            <a:pPr algn="ctr">
              <a:lnSpc>
                <a:spcPct val="100000"/>
              </a:lnSpc>
            </a:pPr>
            <a:r>
              <a:rPr sz="1300" b="0">
                <a:solidFill>
                  <a:srgbClr val="1A1A1A"/>
                </a:solidFill>
                <a:latin typeface="Malgun Gothic Semilight"/>
                <a:ea typeface="Malgun Gothic Semilight"/>
                <a:cs typeface="Malgun Gothic Semilight"/>
              </a:rPr>
              <a:t>만족하는 Vop</a:t>
            </a:r>
          </a:p>
          <a:p>
            <a:pPr algn="ctr">
              <a:lnSpc>
                <a:spcPct val="100000"/>
              </a:lnSpc>
            </a:pPr>
            <a:r>
              <a:rPr sz="1300" b="0">
                <a:solidFill>
                  <a:srgbClr val="1A1A1A"/>
                </a:solidFill>
                <a:latin typeface="Malgun Gothic Semilight"/>
                <a:ea typeface="Malgun Gothic Semilight"/>
                <a:cs typeface="Malgun Gothic Semilight"/>
              </a:rPr>
              <a:t>= Vmin</a:t>
            </a:r>
          </a:p>
        </p:txBody>
      </p:sp>
      <p:sp>
        <p:nvSpPr>
          <p:cNvPr id="31" name="TextBox 30"/>
          <p:cNvSpPr txBox="1"/>
          <p:nvPr/>
        </p:nvSpPr>
        <p:spPr>
          <a:xfrm>
            <a:off x="3377184" y="3703320"/>
            <a:ext cx="2523744" cy="274320"/>
          </a:xfrm>
          <a:prstGeom prst="rect">
            <a:avLst/>
          </a:prstGeom>
          <a:noFill/>
        </p:spPr>
        <p:txBody>
          <a:bodyPr wrap="square" lIns="0" rIns="0" tIns="0" bIns="0" anchor="t">
            <a:noAutofit/>
          </a:bodyPr>
          <a:lstStyle/>
          <a:p>
            <a:pPr algn="ctr">
              <a:lnSpc>
                <a:spcPct val="110000"/>
              </a:lnSpc>
            </a:pPr>
            <a:r>
              <a:rPr sz="1300" b="1">
                <a:solidFill>
                  <a:srgbClr val="1428A0"/>
                </a:solidFill>
                <a:latin typeface="맑은 고딕"/>
                <a:ea typeface="맑은 고딕"/>
                <a:cs typeface="맑은 고딕"/>
              </a:rPr>
              <a:t>↑ 바뀐 건 이 단계 하나</a:t>
            </a:r>
          </a:p>
        </p:txBody>
      </p:sp>
      <p:sp>
        <p:nvSpPr>
          <p:cNvPr id="32" name="Rectangle 31"/>
          <p:cNvSpPr/>
          <p:nvPr/>
        </p:nvSpPr>
        <p:spPr>
          <a:xfrm>
            <a:off x="463296" y="4178618"/>
            <a:ext cx="11265408"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 y="4286250"/>
            <a:ext cx="7315200" cy="308610"/>
          </a:xfrm>
          <a:prstGeom prst="rect">
            <a:avLst/>
          </a:prstGeom>
          <a:noFill/>
        </p:spPr>
        <p:txBody>
          <a:bodyPr wrap="square" lIns="0" rIns="0" tIns="0" bIns="0" anchor="t">
            <a:noAutofit/>
          </a:bodyPr>
          <a:lstStyle/>
          <a:p>
            <a:pPr algn="l">
              <a:lnSpc>
                <a:spcPct val="110000"/>
              </a:lnSpc>
            </a:pPr>
            <a:r>
              <a:rPr sz="1600" b="1">
                <a:solidFill>
                  <a:srgbClr val="1A1A1A"/>
                </a:solidFill>
                <a:latin typeface="맑은 고딕"/>
                <a:ea typeface="맑은 고딕"/>
                <a:cs typeface="맑은 고딕"/>
              </a:rPr>
              <a:t>왜 Vmin이 아니라 중심치와 산포를 학습했나</a:t>
            </a:r>
          </a:p>
        </p:txBody>
      </p:sp>
      <p:sp>
        <p:nvSpPr>
          <p:cNvPr id="34" name="TextBox 33"/>
          <p:cNvSpPr txBox="1"/>
          <p:nvPr/>
        </p:nvSpPr>
        <p:spPr>
          <a:xfrm>
            <a:off x="463296" y="4663440"/>
            <a:ext cx="487680" cy="342900"/>
          </a:xfrm>
          <a:prstGeom prst="rect">
            <a:avLst/>
          </a:prstGeom>
          <a:noFill/>
        </p:spPr>
        <p:txBody>
          <a:bodyPr wrap="square" lIns="0" rIns="0" tIns="0" bIns="0" anchor="t">
            <a:noAutofit/>
          </a:bodyPr>
          <a:lstStyle/>
          <a:p>
            <a:pPr algn="l">
              <a:lnSpc>
                <a:spcPct val="110000"/>
              </a:lnSpc>
            </a:pPr>
            <a:r>
              <a:rPr sz="1800" b="1">
                <a:solidFill>
                  <a:srgbClr val="1428A0"/>
                </a:solidFill>
                <a:latin typeface="맑은 고딕"/>
                <a:ea typeface="맑은 고딕"/>
                <a:cs typeface="맑은 고딕"/>
              </a:rPr>
              <a:t>①</a:t>
            </a:r>
          </a:p>
        </p:txBody>
      </p:sp>
      <p:sp>
        <p:nvSpPr>
          <p:cNvPr id="35" name="TextBox 34"/>
          <p:cNvSpPr txBox="1"/>
          <p:nvPr/>
        </p:nvSpPr>
        <p:spPr>
          <a:xfrm>
            <a:off x="950976" y="4663440"/>
            <a:ext cx="3048000" cy="342900"/>
          </a:xfrm>
          <a:prstGeom prst="rect">
            <a:avLst/>
          </a:prstGeom>
          <a:noFill/>
        </p:spPr>
        <p:txBody>
          <a:bodyPr wrap="square" lIns="0" rIns="0" tIns="0" bIns="0" anchor="t">
            <a:noAutofit/>
          </a:bodyPr>
          <a:lstStyle/>
          <a:p>
            <a:pPr algn="l">
              <a:lnSpc>
                <a:spcPct val="110000"/>
              </a:lnSpc>
            </a:pPr>
            <a:r>
              <a:rPr sz="1700" b="1">
                <a:solidFill>
                  <a:srgbClr val="1A1A1A"/>
                </a:solidFill>
                <a:latin typeface="맑은 고딕"/>
                <a:ea typeface="맑은 고딕"/>
                <a:cs typeface="맑은 고딕"/>
              </a:rPr>
              <a:t>target Z가 바뀌어도 그대로</a:t>
            </a:r>
          </a:p>
        </p:txBody>
      </p:sp>
      <p:sp>
        <p:nvSpPr>
          <p:cNvPr id="36" name="TextBox 35"/>
          <p:cNvSpPr txBox="1"/>
          <p:nvPr/>
        </p:nvSpPr>
        <p:spPr>
          <a:xfrm>
            <a:off x="950976" y="5074920"/>
            <a:ext cx="3048000" cy="617220"/>
          </a:xfrm>
          <a:prstGeom prst="rect">
            <a:avLst/>
          </a:prstGeom>
          <a:noFill/>
        </p:spPr>
        <p:txBody>
          <a:bodyPr wrap="square" lIns="0" rIns="0" tIns="0" bIns="0" anchor="t">
            <a:noAutofit/>
          </a:bodyPr>
          <a:lstStyle/>
          <a:p>
            <a:pPr algn="l">
              <a:lnSpc>
                <a:spcPct val="110000"/>
              </a:lnSpc>
            </a:pPr>
            <a:r>
              <a:rPr sz="1300" b="0">
                <a:solidFill>
                  <a:srgbClr val="7F7F7F"/>
                </a:solidFill>
                <a:latin typeface="Malgun Gothic Semilight"/>
                <a:ea typeface="Malgun Gothic Semilight"/>
                <a:cs typeface="Malgun Gothic Semilight"/>
              </a:rPr>
              <a:t>memory density·yield가 달라져도</a:t>
            </a:r>
          </a:p>
          <a:p>
            <a:pPr algn="l">
              <a:lnSpc>
                <a:spcPct val="110000"/>
              </a:lnSpc>
            </a:pPr>
            <a:r>
              <a:rPr sz="1300" b="0">
                <a:solidFill>
                  <a:srgbClr val="7F7F7F"/>
                </a:solidFill>
                <a:latin typeface="Malgun Gothic Semilight"/>
                <a:ea typeface="Malgun Gothic Semilight"/>
                <a:cs typeface="Malgun Gothic Semilight"/>
              </a:rPr>
              <a:t>다시 학습할 필요가 없다</a:t>
            </a:r>
          </a:p>
        </p:txBody>
      </p:sp>
      <p:sp>
        <p:nvSpPr>
          <p:cNvPr id="37" name="TextBox 36"/>
          <p:cNvSpPr txBox="1"/>
          <p:nvPr/>
        </p:nvSpPr>
        <p:spPr>
          <a:xfrm>
            <a:off x="4340352" y="4663440"/>
            <a:ext cx="487680" cy="342900"/>
          </a:xfrm>
          <a:prstGeom prst="rect">
            <a:avLst/>
          </a:prstGeom>
          <a:noFill/>
        </p:spPr>
        <p:txBody>
          <a:bodyPr wrap="square" lIns="0" rIns="0" tIns="0" bIns="0" anchor="t">
            <a:noAutofit/>
          </a:bodyPr>
          <a:lstStyle/>
          <a:p>
            <a:pPr algn="l">
              <a:lnSpc>
                <a:spcPct val="110000"/>
              </a:lnSpc>
            </a:pPr>
            <a:r>
              <a:rPr sz="1800" b="1">
                <a:solidFill>
                  <a:srgbClr val="1428A0"/>
                </a:solidFill>
                <a:latin typeface="맑은 고딕"/>
                <a:ea typeface="맑은 고딕"/>
                <a:cs typeface="맑은 고딕"/>
              </a:rPr>
              <a:t>②</a:t>
            </a:r>
          </a:p>
        </p:txBody>
      </p:sp>
      <p:sp>
        <p:nvSpPr>
          <p:cNvPr id="38" name="TextBox 37"/>
          <p:cNvSpPr txBox="1"/>
          <p:nvPr/>
        </p:nvSpPr>
        <p:spPr>
          <a:xfrm>
            <a:off x="4828032" y="4663440"/>
            <a:ext cx="3048000" cy="342900"/>
          </a:xfrm>
          <a:prstGeom prst="rect">
            <a:avLst/>
          </a:prstGeom>
          <a:noFill/>
        </p:spPr>
        <p:txBody>
          <a:bodyPr wrap="square" lIns="0" rIns="0" tIns="0" bIns="0" anchor="t">
            <a:noAutofit/>
          </a:bodyPr>
          <a:lstStyle/>
          <a:p>
            <a:pPr algn="l">
              <a:lnSpc>
                <a:spcPct val="110000"/>
              </a:lnSpc>
            </a:pPr>
            <a:r>
              <a:rPr sz="1700" b="1">
                <a:solidFill>
                  <a:srgbClr val="1A1A1A"/>
                </a:solidFill>
                <a:latin typeface="맑은 고딕"/>
                <a:ea typeface="맑은 고딕"/>
                <a:cs typeface="맑은 고딕"/>
              </a:rPr>
              <a:t>더 정확하다</a:t>
            </a:r>
          </a:p>
        </p:txBody>
      </p:sp>
      <p:sp>
        <p:nvSpPr>
          <p:cNvPr id="39" name="TextBox 38"/>
          <p:cNvSpPr txBox="1"/>
          <p:nvPr/>
        </p:nvSpPr>
        <p:spPr>
          <a:xfrm>
            <a:off x="4828032" y="5074920"/>
            <a:ext cx="3048000" cy="617220"/>
          </a:xfrm>
          <a:prstGeom prst="rect">
            <a:avLst/>
          </a:prstGeom>
          <a:noFill/>
        </p:spPr>
        <p:txBody>
          <a:bodyPr wrap="square" lIns="0" rIns="0" tIns="0" bIns="0" anchor="t">
            <a:noAutofit/>
          </a:bodyPr>
          <a:lstStyle/>
          <a:p>
            <a:pPr algn="l">
              <a:lnSpc>
                <a:spcPct val="110000"/>
              </a:lnSpc>
            </a:pPr>
            <a:r>
              <a:rPr sz="1300" b="0">
                <a:solidFill>
                  <a:srgbClr val="7F7F7F"/>
                </a:solidFill>
                <a:latin typeface="Malgun Gothic Semilight"/>
                <a:ea typeface="Malgun Gothic Semilight"/>
                <a:cs typeface="Malgun Gothic Semilight"/>
              </a:rPr>
              <a:t>중심치·산포는 조건에 따라</a:t>
            </a:r>
          </a:p>
          <a:p>
            <a:pPr algn="l">
              <a:lnSpc>
                <a:spcPct val="110000"/>
              </a:lnSpc>
            </a:pPr>
            <a:r>
              <a:rPr sz="1300" b="0">
                <a:solidFill>
                  <a:srgbClr val="7F7F7F"/>
                </a:solidFill>
                <a:latin typeface="Malgun Gothic Semilight"/>
                <a:ea typeface="Malgun Gothic Semilight"/>
                <a:cs typeface="Malgun Gothic Semilight"/>
              </a:rPr>
              <a:t>부드럽게 변해 학습이 쉽다</a:t>
            </a:r>
          </a:p>
        </p:txBody>
      </p:sp>
      <p:sp>
        <p:nvSpPr>
          <p:cNvPr id="40" name="Rectangle 39"/>
          <p:cNvSpPr/>
          <p:nvPr/>
        </p:nvSpPr>
        <p:spPr>
          <a:xfrm>
            <a:off x="4152710" y="4663440"/>
            <a:ext cx="9525" cy="10287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17408" y="4663440"/>
            <a:ext cx="487680" cy="342900"/>
          </a:xfrm>
          <a:prstGeom prst="rect">
            <a:avLst/>
          </a:prstGeom>
          <a:noFill/>
        </p:spPr>
        <p:txBody>
          <a:bodyPr wrap="square" lIns="0" rIns="0" tIns="0" bIns="0" anchor="t">
            <a:noAutofit/>
          </a:bodyPr>
          <a:lstStyle/>
          <a:p>
            <a:pPr algn="l">
              <a:lnSpc>
                <a:spcPct val="110000"/>
              </a:lnSpc>
            </a:pPr>
            <a:r>
              <a:rPr sz="1800" b="1">
                <a:solidFill>
                  <a:srgbClr val="1428A0"/>
                </a:solidFill>
                <a:latin typeface="맑은 고딕"/>
                <a:ea typeface="맑은 고딕"/>
                <a:cs typeface="맑은 고딕"/>
              </a:rPr>
              <a:t>③</a:t>
            </a:r>
          </a:p>
        </p:txBody>
      </p:sp>
      <p:sp>
        <p:nvSpPr>
          <p:cNvPr id="42" name="TextBox 41"/>
          <p:cNvSpPr txBox="1"/>
          <p:nvPr/>
        </p:nvSpPr>
        <p:spPr>
          <a:xfrm>
            <a:off x="8705088" y="4663440"/>
            <a:ext cx="3048000" cy="342900"/>
          </a:xfrm>
          <a:prstGeom prst="rect">
            <a:avLst/>
          </a:prstGeom>
          <a:noFill/>
        </p:spPr>
        <p:txBody>
          <a:bodyPr wrap="square" lIns="0" rIns="0" tIns="0" bIns="0" anchor="t">
            <a:noAutofit/>
          </a:bodyPr>
          <a:lstStyle/>
          <a:p>
            <a:pPr algn="l">
              <a:lnSpc>
                <a:spcPct val="110000"/>
              </a:lnSpc>
            </a:pPr>
            <a:r>
              <a:rPr sz="1700" b="1">
                <a:solidFill>
                  <a:srgbClr val="1A1A1A"/>
                </a:solidFill>
                <a:latin typeface="맑은 고딕"/>
                <a:ea typeface="맑은 고딕"/>
                <a:cs typeface="맑은 고딕"/>
              </a:rPr>
              <a:t>원인이 보인다</a:t>
            </a:r>
          </a:p>
        </p:txBody>
      </p:sp>
      <p:sp>
        <p:nvSpPr>
          <p:cNvPr id="43" name="TextBox 42"/>
          <p:cNvSpPr txBox="1"/>
          <p:nvPr/>
        </p:nvSpPr>
        <p:spPr>
          <a:xfrm>
            <a:off x="8705088" y="5074920"/>
            <a:ext cx="3048000" cy="617220"/>
          </a:xfrm>
          <a:prstGeom prst="rect">
            <a:avLst/>
          </a:prstGeom>
          <a:noFill/>
        </p:spPr>
        <p:txBody>
          <a:bodyPr wrap="square" lIns="0" rIns="0" tIns="0" bIns="0" anchor="t">
            <a:noAutofit/>
          </a:bodyPr>
          <a:lstStyle/>
          <a:p>
            <a:pPr algn="l">
              <a:lnSpc>
                <a:spcPct val="110000"/>
              </a:lnSpc>
            </a:pPr>
            <a:r>
              <a:rPr sz="1300" b="0">
                <a:solidFill>
                  <a:srgbClr val="7F7F7F"/>
                </a:solidFill>
                <a:latin typeface="Malgun Gothic Semilight"/>
                <a:ea typeface="Malgun Gothic Semilight"/>
                <a:cs typeface="Malgun Gothic Semilight"/>
              </a:rPr>
              <a:t>Vmin이 움직인 이유가</a:t>
            </a:r>
          </a:p>
          <a:p>
            <a:pPr algn="l">
              <a:lnSpc>
                <a:spcPct val="110000"/>
              </a:lnSpc>
            </a:pPr>
            <a:r>
              <a:rPr sz="1300" b="0">
                <a:solidFill>
                  <a:srgbClr val="7F7F7F"/>
                </a:solidFill>
                <a:latin typeface="Malgun Gothic Semilight"/>
                <a:ea typeface="Malgun Gothic Semilight"/>
                <a:cs typeface="Malgun Gothic Semilight"/>
              </a:rPr>
              <a:t>중심치 쪽인지 산포 쪽인지 구분된다</a:t>
            </a:r>
          </a:p>
        </p:txBody>
      </p:sp>
      <p:sp>
        <p:nvSpPr>
          <p:cNvPr id="44" name="Rectangle 43"/>
          <p:cNvSpPr/>
          <p:nvPr/>
        </p:nvSpPr>
        <p:spPr>
          <a:xfrm>
            <a:off x="8029766" y="4663440"/>
            <a:ext cx="9525" cy="10287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33172"/>
            <a:ext cx="11253216" cy="541782"/>
          </a:xfrm>
          <a:prstGeom prst="rect">
            <a:avLst/>
          </a:prstGeom>
          <a:noFill/>
        </p:spPr>
        <p:txBody>
          <a:bodyPr wrap="square" lIns="0" rIns="0" tIns="0" bIns="0" anchor="ctr">
            <a:noAutofit/>
          </a:bodyPr>
          <a:lstStyle/>
          <a:p>
            <a:pPr algn="l">
              <a:lnSpc>
                <a:spcPct val="110000"/>
              </a:lnSpc>
            </a:pPr>
            <a:r>
              <a:rPr sz="3000" b="1">
                <a:solidFill>
                  <a:srgbClr val="000000"/>
                </a:solidFill>
                <a:latin typeface="맑은 고딕"/>
                <a:ea typeface="맑은 고딕"/>
                <a:cs typeface="맑은 고딕"/>
              </a:rPr>
              <a:t>physics-guided 요소: 학습하지 않는 Vmin 계산과 단조성</a:t>
            </a:r>
          </a:p>
        </p:txBody>
      </p:sp>
      <p:sp>
        <p:nvSpPr>
          <p:cNvPr id="3" name="Rectangle 2"/>
          <p:cNvSpPr/>
          <p:nvPr/>
        </p:nvSpPr>
        <p:spPr>
          <a:xfrm>
            <a:off x="463296" y="887984"/>
            <a:ext cx="11265408" cy="48260"/>
          </a:xfrm>
          <a:prstGeom prst="rect">
            <a:avLst/>
          </a:prstGeom>
          <a:solidFill>
            <a:srgbClr val="E7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6720" y="6480810"/>
            <a:ext cx="182880" cy="205740"/>
          </a:xfrm>
          <a:prstGeom prst="rect">
            <a:avLst/>
          </a:prstGeom>
          <a:noFill/>
        </p:spPr>
        <p:txBody>
          <a:bodyPr wrap="square" lIns="0" rIns="0" tIns="0" bIns="0" anchor="t">
            <a:noAutofit/>
          </a:bodyPr>
          <a:lstStyle/>
          <a:p>
            <a:pPr algn="l">
              <a:lnSpc>
                <a:spcPct val="110000"/>
              </a:lnSpc>
            </a:pPr>
            <a:r>
              <a:rPr sz="1000" b="1">
                <a:solidFill>
                  <a:srgbClr val="44566A"/>
                </a:solidFill>
                <a:latin typeface="맑은 고딕"/>
                <a:ea typeface="맑은 고딕"/>
                <a:cs typeface="맑은 고딕"/>
              </a:rPr>
              <a:t>6</a:t>
            </a:r>
          </a:p>
        </p:txBody>
      </p:sp>
      <p:sp>
        <p:nvSpPr>
          <p:cNvPr id="5" name="TextBox 4"/>
          <p:cNvSpPr txBox="1"/>
          <p:nvPr/>
        </p:nvSpPr>
        <p:spPr>
          <a:xfrm>
            <a:off x="670560" y="6494526"/>
            <a:ext cx="9022080" cy="205740"/>
          </a:xfrm>
          <a:prstGeom prst="rect">
            <a:avLst/>
          </a:prstGeom>
          <a:noFill/>
        </p:spPr>
        <p:txBody>
          <a:bodyPr wrap="square" lIns="0" rIns="0" tIns="0" bIns="0" anchor="t">
            <a:noAutofit/>
          </a:bodyPr>
          <a:lstStyle/>
          <a:p>
            <a:pPr algn="l">
              <a:lnSpc>
                <a:spcPct val="110000"/>
              </a:lnSpc>
            </a:pPr>
            <a:r>
              <a:rPr sz="900" b="0">
                <a:solidFill>
                  <a:srgbClr val="4C5759"/>
                </a:solidFill>
                <a:latin typeface="Malgun Gothic Semilight"/>
                <a:ea typeface="Malgun Gothic Semilight"/>
                <a:cs typeface="Malgun Gothic Semilight"/>
              </a:rPr>
              <a:t>p_fail = −ln(0.99) / (128 × 10⁶) · 128 Mb array, 99 % yield · 데이터 점검 기준: 위반이 Monte Carlo 표준오차의 3배 초과</a:t>
            </a:r>
          </a:p>
        </p:txBody>
      </p:sp>
      <p:sp>
        <p:nvSpPr>
          <p:cNvPr id="6" name="TextBox 5"/>
          <p:cNvSpPr txBox="1"/>
          <p:nvPr/>
        </p:nvSpPr>
        <p:spPr>
          <a:xfrm>
            <a:off x="9265920" y="6487668"/>
            <a:ext cx="2462784" cy="205740"/>
          </a:xfrm>
          <a:prstGeom prst="rect">
            <a:avLst/>
          </a:prstGeom>
          <a:noFill/>
        </p:spPr>
        <p:txBody>
          <a:bodyPr wrap="square" lIns="0" rIns="0" tIns="0" bIns="0" anchor="t">
            <a:noAutofit/>
          </a:bodyPr>
          <a:lstStyle/>
          <a:p>
            <a:pPr algn="r">
              <a:lnSpc>
                <a:spcPct val="110000"/>
              </a:lnSpc>
            </a:pPr>
            <a:r>
              <a:rPr sz="900" b="0">
                <a:solidFill>
                  <a:srgbClr val="7F7F7F"/>
                </a:solidFill>
                <a:latin typeface="Malgun Gothic Semilight"/>
                <a:ea typeface="Malgun Gothic Semilight"/>
                <a:cs typeface="Malgun Gothic Semilight"/>
              </a:rPr>
              <a:t>SRAM Vmin 순·역방향 추정</a:t>
            </a:r>
          </a:p>
        </p:txBody>
      </p:sp>
      <p:sp>
        <p:nvSpPr>
          <p:cNvPr id="7" name="TextBox 6"/>
          <p:cNvSpPr txBox="1"/>
          <p:nvPr/>
        </p:nvSpPr>
        <p:spPr>
          <a:xfrm>
            <a:off x="475488" y="1097280"/>
            <a:ext cx="4876800" cy="308610"/>
          </a:xfrm>
          <a:prstGeom prst="rect">
            <a:avLst/>
          </a:prstGeom>
          <a:noFill/>
        </p:spPr>
        <p:txBody>
          <a:bodyPr wrap="square" lIns="0" rIns="0" tIns="0" bIns="0" anchor="t">
            <a:noAutofit/>
          </a:bodyPr>
          <a:lstStyle/>
          <a:p>
            <a:pPr algn="l">
              <a:lnSpc>
                <a:spcPct val="110000"/>
              </a:lnSpc>
            </a:pPr>
            <a:r>
              <a:rPr sz="1600" b="1">
                <a:solidFill>
                  <a:srgbClr val="1A1A1A"/>
                </a:solidFill>
                <a:latin typeface="맑은 고딕"/>
                <a:ea typeface="맑은 고딕"/>
                <a:cs typeface="맑은 고딕"/>
              </a:rPr>
              <a:t>Vmin 계산식 (physics layer)</a:t>
            </a:r>
          </a:p>
        </p:txBody>
      </p:sp>
      <p:sp>
        <p:nvSpPr>
          <p:cNvPr id="8" name="Rectangle 7"/>
          <p:cNvSpPr/>
          <p:nvPr/>
        </p:nvSpPr>
        <p:spPr>
          <a:xfrm>
            <a:off x="463296" y="1508760"/>
            <a:ext cx="4876800" cy="2331720"/>
          </a:xfrm>
          <a:prstGeom prst="rect">
            <a:avLst/>
          </a:prstGeom>
          <a:solidFill>
            <a:srgbClr val="FFFFFF"/>
          </a:solidFill>
          <a:ln w="2222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0560" y="1645920"/>
            <a:ext cx="4462272" cy="2057400"/>
          </a:xfrm>
          <a:prstGeom prst="rect">
            <a:avLst/>
          </a:prstGeom>
          <a:noFill/>
        </p:spPr>
        <p:txBody>
          <a:bodyPr wrap="square" lIns="0" rIns="0" tIns="0" bIns="0" anchor="t">
            <a:noAutofit/>
          </a:bodyPr>
          <a:lstStyle/>
          <a:p>
            <a:pPr algn="ctr">
              <a:lnSpc>
                <a:spcPct val="115000"/>
              </a:lnSpc>
            </a:pPr>
            <a:r>
              <a:rPr sz="1700" b="0">
                <a:solidFill>
                  <a:srgbClr val="1A1A1A"/>
                </a:solidFill>
                <a:latin typeface="Malgun Gothic Semilight"/>
                <a:ea typeface="Malgun Gothic Semilight"/>
                <a:cs typeface="Malgun Gothic Semilight"/>
              </a:rPr>
              <a:t>z(Vop) = 중심치 / 산포</a:t>
            </a:r>
          </a:p>
          <a:p>
            <a:pPr algn="ctr">
              <a:lnSpc>
                <a:spcPct val="115000"/>
              </a:lnSpc>
            </a:pPr>
          </a:p>
          <a:p>
            <a:pPr algn="ctr">
              <a:lnSpc>
                <a:spcPct val="115000"/>
              </a:lnSpc>
            </a:pPr>
            <a:r>
              <a:rPr sz="1700" b="0">
                <a:solidFill>
                  <a:srgbClr val="1A1A1A"/>
                </a:solidFill>
                <a:latin typeface="Malgun Gothic Semilight"/>
                <a:ea typeface="Malgun Gothic Semilight"/>
                <a:cs typeface="Malgun Gothic Semilight"/>
              </a:rPr>
              <a:t>target Z = Φ⁻¹(1 − p_fail) = </a:t>
            </a:r>
            <a:r>
              <a:rPr sz="1700" b="1">
                <a:solidFill>
                  <a:srgbClr val="1428A0"/>
                </a:solidFill>
                <a:latin typeface="맑은 고딕"/>
                <a:ea typeface="맑은 고딕"/>
                <a:cs typeface="맑은 고딕"/>
              </a:rPr>
              <a:t>6.4</a:t>
            </a:r>
          </a:p>
          <a:p>
            <a:pPr algn="ctr">
              <a:lnSpc>
                <a:spcPct val="115000"/>
              </a:lnSpc>
            </a:pPr>
          </a:p>
          <a:p>
            <a:pPr algn="ctr">
              <a:lnSpc>
                <a:spcPct val="115000"/>
              </a:lnSpc>
            </a:pPr>
            <a:r>
              <a:rPr sz="1700" b="0">
                <a:solidFill>
                  <a:srgbClr val="1A1A1A"/>
                </a:solidFill>
                <a:latin typeface="Malgun Gothic Semilight"/>
                <a:ea typeface="Malgun Gothic Semilight"/>
                <a:cs typeface="Malgun Gothic Semilight"/>
              </a:rPr>
              <a:t>Vmin = z가 target Z를</a:t>
            </a:r>
          </a:p>
          <a:p>
            <a:pPr algn="ctr">
              <a:lnSpc>
                <a:spcPct val="115000"/>
              </a:lnSpc>
            </a:pPr>
            <a:r>
              <a:rPr sz="1700" b="0">
                <a:solidFill>
                  <a:srgbClr val="1A1A1A"/>
                </a:solidFill>
                <a:latin typeface="Malgun Gothic Semilight"/>
                <a:ea typeface="Malgun Gothic Semilight"/>
                <a:cs typeface="Malgun Gothic Semilight"/>
              </a:rPr>
              <a:t>처음 넘는 가장 낮은 Vop</a:t>
            </a:r>
          </a:p>
        </p:txBody>
      </p:sp>
      <p:sp>
        <p:nvSpPr>
          <p:cNvPr id="10" name="TextBox 9"/>
          <p:cNvSpPr txBox="1"/>
          <p:nvPr/>
        </p:nvSpPr>
        <p:spPr>
          <a:xfrm>
            <a:off x="463296" y="3977640"/>
            <a:ext cx="4876800" cy="685800"/>
          </a:xfrm>
          <a:prstGeom prst="rect">
            <a:avLst/>
          </a:prstGeom>
          <a:noFill/>
        </p:spPr>
        <p:txBody>
          <a:bodyPr wrap="square" lIns="0" rIns="0" tIns="0" bIns="0" anchor="t">
            <a:noAutofit/>
          </a:bodyPr>
          <a:lstStyle/>
          <a:p>
            <a:pPr algn="ctr">
              <a:lnSpc>
                <a:spcPct val="130000"/>
              </a:lnSpc>
            </a:pPr>
            <a:r>
              <a:rPr sz="1500" b="0">
                <a:solidFill>
                  <a:srgbClr val="1A1A1A"/>
                </a:solidFill>
                <a:latin typeface="Malgun Gothic Semilight"/>
                <a:ea typeface="Malgun Gothic Semilight"/>
                <a:cs typeface="Malgun Gothic Semilight"/>
              </a:rPr>
              <a:t>학습하는 값이 </a:t>
            </a:r>
            <a:r>
              <a:rPr sz="1500" b="1">
                <a:solidFill>
                  <a:srgbClr val="1428A0"/>
                </a:solidFill>
                <a:latin typeface="맑은 고딕"/>
                <a:ea typeface="맑은 고딕"/>
                <a:cs typeface="맑은 고딕"/>
              </a:rPr>
              <a:t>하나도 없다</a:t>
            </a:r>
          </a:p>
          <a:p>
            <a:pPr algn="ctr">
              <a:lnSpc>
                <a:spcPct val="130000"/>
              </a:lnSpc>
            </a:pPr>
            <a:r>
              <a:rPr sz="1500" b="0">
                <a:solidFill>
                  <a:srgbClr val="1A1A1A"/>
                </a:solidFill>
                <a:latin typeface="Malgun Gothic Semilight"/>
                <a:ea typeface="Malgun Gothic Semilight"/>
                <a:cs typeface="Malgun Gothic Semilight"/>
              </a:rPr>
              <a:t>→ model은 중심치 · 산포만 배운다</a:t>
            </a:r>
          </a:p>
        </p:txBody>
      </p:sp>
      <p:sp>
        <p:nvSpPr>
          <p:cNvPr id="11" name="Rectangle 10"/>
          <p:cNvSpPr/>
          <p:nvPr/>
        </p:nvSpPr>
        <p:spPr>
          <a:xfrm>
            <a:off x="5786438" y="1097280"/>
            <a:ext cx="9525" cy="452628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56960" y="1097280"/>
            <a:ext cx="487680" cy="342900"/>
          </a:xfrm>
          <a:prstGeom prst="rect">
            <a:avLst/>
          </a:prstGeom>
          <a:noFill/>
        </p:spPr>
        <p:txBody>
          <a:bodyPr wrap="square" lIns="0" rIns="0" tIns="0" bIns="0" anchor="t">
            <a:noAutofit/>
          </a:bodyPr>
          <a:lstStyle/>
          <a:p>
            <a:pPr algn="l">
              <a:lnSpc>
                <a:spcPct val="110000"/>
              </a:lnSpc>
            </a:pPr>
            <a:r>
              <a:rPr sz="1800" b="1">
                <a:solidFill>
                  <a:srgbClr val="1428A0"/>
                </a:solidFill>
                <a:latin typeface="맑은 고딕"/>
                <a:ea typeface="맑은 고딕"/>
                <a:cs typeface="맑은 고딕"/>
              </a:rPr>
              <a:t>①</a:t>
            </a:r>
          </a:p>
        </p:txBody>
      </p:sp>
      <p:sp>
        <p:nvSpPr>
          <p:cNvPr id="13" name="TextBox 12"/>
          <p:cNvSpPr txBox="1"/>
          <p:nvPr/>
        </p:nvSpPr>
        <p:spPr>
          <a:xfrm>
            <a:off x="6644640" y="1097280"/>
            <a:ext cx="5084064" cy="342900"/>
          </a:xfrm>
          <a:prstGeom prst="rect">
            <a:avLst/>
          </a:prstGeom>
          <a:noFill/>
        </p:spPr>
        <p:txBody>
          <a:bodyPr wrap="square" lIns="0" rIns="0" tIns="0" bIns="0" anchor="t">
            <a:noAutofit/>
          </a:bodyPr>
          <a:lstStyle/>
          <a:p>
            <a:pPr algn="l">
              <a:lnSpc>
                <a:spcPct val="110000"/>
              </a:lnSpc>
            </a:pPr>
            <a:r>
              <a:rPr sz="1700" b="1">
                <a:solidFill>
                  <a:srgbClr val="1A1A1A"/>
                </a:solidFill>
                <a:latin typeface="맑은 고딕"/>
                <a:ea typeface="맑은 고딕"/>
                <a:cs typeface="맑은 고딕"/>
              </a:rPr>
              <a:t>계산식은 학습하지 않는다</a:t>
            </a:r>
          </a:p>
        </p:txBody>
      </p:sp>
      <p:sp>
        <p:nvSpPr>
          <p:cNvPr id="14" name="TextBox 13"/>
          <p:cNvSpPr txBox="1"/>
          <p:nvPr/>
        </p:nvSpPr>
        <p:spPr>
          <a:xfrm>
            <a:off x="6644640" y="1474470"/>
            <a:ext cx="5084064" cy="617220"/>
          </a:xfrm>
          <a:prstGeom prst="rect">
            <a:avLst/>
          </a:prstGeom>
          <a:noFill/>
        </p:spPr>
        <p:txBody>
          <a:bodyPr wrap="square" lIns="0" rIns="0" tIns="0" bIns="0" anchor="t">
            <a:noAutofit/>
          </a:bodyPr>
          <a:lstStyle/>
          <a:p>
            <a:pPr algn="l">
              <a:lnSpc>
                <a:spcPct val="115000"/>
              </a:lnSpc>
            </a:pPr>
            <a:r>
              <a:rPr sz="1300" b="0">
                <a:solidFill>
                  <a:srgbClr val="7F7F7F"/>
                </a:solidFill>
                <a:latin typeface="Malgun Gothic Semilight"/>
                <a:ea typeface="Malgun Gothic Semilight"/>
                <a:cs typeface="Malgun Gothic Semilight"/>
              </a:rPr>
              <a:t>데이터가 적은 곳에서도 Vmin의 정의는 흔들리지 않고,</a:t>
            </a:r>
          </a:p>
          <a:p>
            <a:pPr algn="l">
              <a:lnSpc>
                <a:spcPct val="115000"/>
              </a:lnSpc>
            </a:pPr>
            <a:r>
              <a:rPr sz="1300" b="0">
                <a:solidFill>
                  <a:srgbClr val="7F7F7F"/>
                </a:solidFill>
                <a:latin typeface="Malgun Gothic Semilight"/>
                <a:ea typeface="Malgun Gothic Semilight"/>
                <a:cs typeface="Malgun Gothic Semilight"/>
              </a:rPr>
              <a:t>target Z가 바뀌어도 다시 학습할 필요가 없다</a:t>
            </a:r>
          </a:p>
        </p:txBody>
      </p:sp>
      <p:sp>
        <p:nvSpPr>
          <p:cNvPr id="15" name="Rectangle 14"/>
          <p:cNvSpPr/>
          <p:nvPr/>
        </p:nvSpPr>
        <p:spPr>
          <a:xfrm>
            <a:off x="6156960" y="2155508"/>
            <a:ext cx="557174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6960" y="2263140"/>
            <a:ext cx="487680" cy="342900"/>
          </a:xfrm>
          <a:prstGeom prst="rect">
            <a:avLst/>
          </a:prstGeom>
          <a:noFill/>
        </p:spPr>
        <p:txBody>
          <a:bodyPr wrap="square" lIns="0" rIns="0" tIns="0" bIns="0" anchor="t">
            <a:noAutofit/>
          </a:bodyPr>
          <a:lstStyle/>
          <a:p>
            <a:pPr algn="l">
              <a:lnSpc>
                <a:spcPct val="110000"/>
              </a:lnSpc>
            </a:pPr>
            <a:r>
              <a:rPr sz="1800" b="1">
                <a:solidFill>
                  <a:srgbClr val="1428A0"/>
                </a:solidFill>
                <a:latin typeface="맑은 고딕"/>
                <a:ea typeface="맑은 고딕"/>
                <a:cs typeface="맑은 고딕"/>
              </a:rPr>
              <a:t>②</a:t>
            </a:r>
          </a:p>
        </p:txBody>
      </p:sp>
      <p:sp>
        <p:nvSpPr>
          <p:cNvPr id="17" name="TextBox 16"/>
          <p:cNvSpPr txBox="1"/>
          <p:nvPr/>
        </p:nvSpPr>
        <p:spPr>
          <a:xfrm>
            <a:off x="6644640" y="2263140"/>
            <a:ext cx="5084064" cy="342900"/>
          </a:xfrm>
          <a:prstGeom prst="rect">
            <a:avLst/>
          </a:prstGeom>
          <a:noFill/>
        </p:spPr>
        <p:txBody>
          <a:bodyPr wrap="square" lIns="0" rIns="0" tIns="0" bIns="0" anchor="t">
            <a:noAutofit/>
          </a:bodyPr>
          <a:lstStyle/>
          <a:p>
            <a:pPr algn="l">
              <a:lnSpc>
                <a:spcPct val="110000"/>
              </a:lnSpc>
            </a:pPr>
            <a:r>
              <a:rPr sz="1700" b="1">
                <a:solidFill>
                  <a:srgbClr val="1A1A1A"/>
                </a:solidFill>
                <a:latin typeface="맑은 고딕"/>
                <a:ea typeface="맑은 고딕"/>
                <a:cs typeface="맑은 고딕"/>
              </a:rPr>
              <a:t>VDD에 대한 단조성</a:t>
            </a:r>
          </a:p>
        </p:txBody>
      </p:sp>
      <p:sp>
        <p:nvSpPr>
          <p:cNvPr id="18" name="TextBox 17"/>
          <p:cNvSpPr txBox="1"/>
          <p:nvPr/>
        </p:nvSpPr>
        <p:spPr>
          <a:xfrm>
            <a:off x="6644640" y="2640330"/>
            <a:ext cx="5084064" cy="617220"/>
          </a:xfrm>
          <a:prstGeom prst="rect">
            <a:avLst/>
          </a:prstGeom>
          <a:noFill/>
        </p:spPr>
        <p:txBody>
          <a:bodyPr wrap="square" lIns="0" rIns="0" tIns="0" bIns="0" anchor="t">
            <a:noAutofit/>
          </a:bodyPr>
          <a:lstStyle/>
          <a:p>
            <a:pPr algn="l">
              <a:lnSpc>
                <a:spcPct val="115000"/>
              </a:lnSpc>
            </a:pPr>
            <a:r>
              <a:rPr sz="1300" b="0">
                <a:solidFill>
                  <a:srgbClr val="7F7F7F"/>
                </a:solidFill>
                <a:latin typeface="Malgun Gothic Semilight"/>
                <a:ea typeface="Malgun Gothic Semilight"/>
                <a:cs typeface="Malgun Gothic Semilight"/>
              </a:rPr>
              <a:t>계산이 VDD에 단조 → 역방향 추정은 이분 탐색으로 안정적으로</a:t>
            </a:r>
          </a:p>
          <a:p>
            <a:pPr algn="l">
              <a:lnSpc>
                <a:spcPct val="115000"/>
              </a:lnSpc>
            </a:pPr>
            <a:r>
              <a:rPr sz="1300" b="0">
                <a:solidFill>
                  <a:srgbClr val="7F7F7F"/>
                </a:solidFill>
                <a:latin typeface="Malgun Gothic Semilight"/>
                <a:ea typeface="Malgun Gothic Semilight"/>
                <a:cs typeface="Malgun Gothic Semilight"/>
              </a:rPr>
              <a:t>풀린다 (단조 구간을 먼저 확인한 뒤 사용)</a:t>
            </a:r>
          </a:p>
        </p:txBody>
      </p:sp>
      <p:sp>
        <p:nvSpPr>
          <p:cNvPr id="19" name="Rectangle 18"/>
          <p:cNvSpPr/>
          <p:nvPr/>
        </p:nvSpPr>
        <p:spPr>
          <a:xfrm>
            <a:off x="6156960" y="3321368"/>
            <a:ext cx="557174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56960" y="3429000"/>
            <a:ext cx="487680" cy="342900"/>
          </a:xfrm>
          <a:prstGeom prst="rect">
            <a:avLst/>
          </a:prstGeom>
          <a:noFill/>
        </p:spPr>
        <p:txBody>
          <a:bodyPr wrap="square" lIns="0" rIns="0" tIns="0" bIns="0" anchor="t">
            <a:noAutofit/>
          </a:bodyPr>
          <a:lstStyle/>
          <a:p>
            <a:pPr algn="l">
              <a:lnSpc>
                <a:spcPct val="110000"/>
              </a:lnSpc>
            </a:pPr>
            <a:r>
              <a:rPr sz="1800" b="1">
                <a:solidFill>
                  <a:srgbClr val="1428A0"/>
                </a:solidFill>
                <a:latin typeface="맑은 고딕"/>
                <a:ea typeface="맑은 고딕"/>
                <a:cs typeface="맑은 고딕"/>
              </a:rPr>
              <a:t>③</a:t>
            </a:r>
          </a:p>
        </p:txBody>
      </p:sp>
      <p:sp>
        <p:nvSpPr>
          <p:cNvPr id="21" name="TextBox 20"/>
          <p:cNvSpPr txBox="1"/>
          <p:nvPr/>
        </p:nvSpPr>
        <p:spPr>
          <a:xfrm>
            <a:off x="6644640" y="3429000"/>
            <a:ext cx="5084064" cy="342900"/>
          </a:xfrm>
          <a:prstGeom prst="rect">
            <a:avLst/>
          </a:prstGeom>
          <a:noFill/>
        </p:spPr>
        <p:txBody>
          <a:bodyPr wrap="square" lIns="0" rIns="0" tIns="0" bIns="0" anchor="t">
            <a:noAutofit/>
          </a:bodyPr>
          <a:lstStyle/>
          <a:p>
            <a:pPr algn="l">
              <a:lnSpc>
                <a:spcPct val="110000"/>
              </a:lnSpc>
            </a:pPr>
            <a:r>
              <a:rPr sz="1700" b="1">
                <a:solidFill>
                  <a:srgbClr val="1A1A1A"/>
                </a:solidFill>
                <a:latin typeface="맑은 고딕"/>
                <a:ea typeface="맑은 고딕"/>
                <a:cs typeface="맑은 고딕"/>
              </a:rPr>
              <a:t>데이터의 단조성 점검</a:t>
            </a:r>
          </a:p>
        </p:txBody>
      </p:sp>
      <p:sp>
        <p:nvSpPr>
          <p:cNvPr id="22" name="TextBox 21"/>
          <p:cNvSpPr txBox="1"/>
          <p:nvPr/>
        </p:nvSpPr>
        <p:spPr>
          <a:xfrm>
            <a:off x="6644640" y="3806190"/>
            <a:ext cx="5084064" cy="617220"/>
          </a:xfrm>
          <a:prstGeom prst="rect">
            <a:avLst/>
          </a:prstGeom>
          <a:noFill/>
        </p:spPr>
        <p:txBody>
          <a:bodyPr wrap="square" lIns="0" rIns="0" tIns="0" bIns="0" anchor="t">
            <a:noAutofit/>
          </a:bodyPr>
          <a:lstStyle/>
          <a:p>
            <a:pPr algn="l">
              <a:lnSpc>
                <a:spcPct val="115000"/>
              </a:lnSpc>
            </a:pPr>
            <a:r>
              <a:rPr sz="1300" b="0">
                <a:solidFill>
                  <a:srgbClr val="7F7F7F"/>
                </a:solidFill>
                <a:latin typeface="Malgun Gothic Semilight"/>
                <a:ea typeface="Malgun Gothic Semilight"/>
                <a:cs typeface="Malgun Gothic Semilight"/>
              </a:rPr>
              <a:t>VDD를 올리면 margin 중심치는 커져야 한다 → 어긋난 값은</a:t>
            </a:r>
          </a:p>
          <a:p>
            <a:pPr algn="l">
              <a:lnSpc>
                <a:spcPct val="115000"/>
              </a:lnSpc>
            </a:pPr>
            <a:r>
              <a:rPr sz="1300" b="0">
                <a:solidFill>
                  <a:srgbClr val="7F7F7F"/>
                </a:solidFill>
                <a:latin typeface="Malgun Gothic Semilight"/>
                <a:ea typeface="Malgun Gothic Semilight"/>
                <a:cs typeface="Malgun Gothic Semilight"/>
              </a:rPr>
              <a:t>전사 오류로 보고 정정 (read 31셀, write 12셀)</a:t>
            </a:r>
          </a:p>
        </p:txBody>
      </p:sp>
      <p:sp>
        <p:nvSpPr>
          <p:cNvPr id="23" name="Rectangle 22"/>
          <p:cNvSpPr/>
          <p:nvPr/>
        </p:nvSpPr>
        <p:spPr>
          <a:xfrm>
            <a:off x="6156960" y="4487228"/>
            <a:ext cx="557174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6960" y="4594860"/>
            <a:ext cx="487680" cy="342900"/>
          </a:xfrm>
          <a:prstGeom prst="rect">
            <a:avLst/>
          </a:prstGeom>
          <a:noFill/>
        </p:spPr>
        <p:txBody>
          <a:bodyPr wrap="square" lIns="0" rIns="0" tIns="0" bIns="0" anchor="t">
            <a:noAutofit/>
          </a:bodyPr>
          <a:lstStyle/>
          <a:p>
            <a:pPr algn="l">
              <a:lnSpc>
                <a:spcPct val="110000"/>
              </a:lnSpc>
            </a:pPr>
            <a:r>
              <a:rPr sz="1800" b="1">
                <a:solidFill>
                  <a:srgbClr val="1428A0"/>
                </a:solidFill>
                <a:latin typeface="맑은 고딕"/>
                <a:ea typeface="맑은 고딕"/>
                <a:cs typeface="맑은 고딕"/>
              </a:rPr>
              <a:t>④</a:t>
            </a:r>
          </a:p>
        </p:txBody>
      </p:sp>
      <p:sp>
        <p:nvSpPr>
          <p:cNvPr id="25" name="TextBox 24"/>
          <p:cNvSpPr txBox="1"/>
          <p:nvPr/>
        </p:nvSpPr>
        <p:spPr>
          <a:xfrm>
            <a:off x="6644640" y="4594860"/>
            <a:ext cx="5084064" cy="342900"/>
          </a:xfrm>
          <a:prstGeom prst="rect">
            <a:avLst/>
          </a:prstGeom>
          <a:noFill/>
        </p:spPr>
        <p:txBody>
          <a:bodyPr wrap="square" lIns="0" rIns="0" tIns="0" bIns="0" anchor="t">
            <a:noAutofit/>
          </a:bodyPr>
          <a:lstStyle/>
          <a:p>
            <a:pPr algn="l">
              <a:lnSpc>
                <a:spcPct val="110000"/>
              </a:lnSpc>
            </a:pPr>
            <a:r>
              <a:rPr sz="1700" b="1">
                <a:solidFill>
                  <a:srgbClr val="1A1A1A"/>
                </a:solidFill>
                <a:latin typeface="맑은 고딕"/>
                <a:ea typeface="맑은 고딕"/>
                <a:cs typeface="맑은 고딕"/>
              </a:rPr>
              <a:t>공정 연속성</a:t>
            </a:r>
          </a:p>
        </p:txBody>
      </p:sp>
      <p:sp>
        <p:nvSpPr>
          <p:cNvPr id="26" name="TextBox 25"/>
          <p:cNvSpPr txBox="1"/>
          <p:nvPr/>
        </p:nvSpPr>
        <p:spPr>
          <a:xfrm>
            <a:off x="6644640" y="4972050"/>
            <a:ext cx="5084064" cy="617220"/>
          </a:xfrm>
          <a:prstGeom prst="rect">
            <a:avLst/>
          </a:prstGeom>
          <a:noFill/>
        </p:spPr>
        <p:txBody>
          <a:bodyPr wrap="square" lIns="0" rIns="0" tIns="0" bIns="0" anchor="t">
            <a:noAutofit/>
          </a:bodyPr>
          <a:lstStyle/>
          <a:p>
            <a:pPr algn="l">
              <a:lnSpc>
                <a:spcPct val="115000"/>
              </a:lnSpc>
            </a:pPr>
            <a:r>
              <a:rPr sz="1300" b="0">
                <a:solidFill>
                  <a:srgbClr val="7F7F7F"/>
                </a:solidFill>
                <a:latin typeface="Malgun Gothic Semilight"/>
                <a:ea typeface="Malgun Gothic Semilight"/>
                <a:cs typeface="Malgun Gothic Semilight"/>
              </a:rPr>
              <a:t>GP: 공정 조건이 조금 바뀌면 margin도 조금 바뀐다</a:t>
            </a:r>
          </a:p>
          <a:p>
            <a:pPr algn="l">
              <a:lnSpc>
                <a:spcPct val="115000"/>
              </a:lnSpc>
            </a:pPr>
            <a:r>
              <a:rPr sz="1300" b="0">
                <a:solidFill>
                  <a:srgbClr val="7F7F7F"/>
                </a:solidFill>
                <a:latin typeface="Malgun Gothic Semilight"/>
                <a:ea typeface="Malgun Gothic Semilight"/>
                <a:cs typeface="Malgun Gothic Semilight"/>
              </a:rPr>
              <a:t>산포는 Monte Carlo 오차가 일정해지는 log 축에서 학습</a:t>
            </a:r>
          </a:p>
        </p:txBody>
      </p:sp>
      <p:sp>
        <p:nvSpPr>
          <p:cNvPr id="27" name="Rectangle 26"/>
          <p:cNvSpPr/>
          <p:nvPr/>
        </p:nvSpPr>
        <p:spPr>
          <a:xfrm>
            <a:off x="463296" y="5824538"/>
            <a:ext cx="11265408"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296" y="5911596"/>
            <a:ext cx="11265408" cy="480060"/>
          </a:xfrm>
          <a:prstGeom prst="rect">
            <a:avLst/>
          </a:prstGeom>
          <a:noFill/>
        </p:spPr>
        <p:txBody>
          <a:bodyPr wrap="square" lIns="0" rIns="0" tIns="0" bIns="0" anchor="ctr">
            <a:noAutofit/>
          </a:bodyPr>
          <a:lstStyle/>
          <a:p>
            <a:pPr algn="ctr">
              <a:lnSpc>
                <a:spcPct val="110000"/>
              </a:lnSpc>
            </a:pPr>
            <a:r>
              <a:rPr sz="1900" b="1">
                <a:solidFill>
                  <a:srgbClr val="1428A0"/>
                </a:solidFill>
                <a:latin typeface="맑은 고딕"/>
                <a:ea typeface="맑은 고딕"/>
                <a:cs typeface="맑은 고딕"/>
              </a:rPr>
              <a:t>물리로 정해진 부분은 식으로 두고, 모르는 부분(중심치 · 산포)만 학습한다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33172"/>
            <a:ext cx="11253216" cy="541782"/>
          </a:xfrm>
          <a:prstGeom prst="rect">
            <a:avLst/>
          </a:prstGeom>
          <a:noFill/>
        </p:spPr>
        <p:txBody>
          <a:bodyPr wrap="square" lIns="0" rIns="0" tIns="0" bIns="0" anchor="ctr">
            <a:noAutofit/>
          </a:bodyPr>
          <a:lstStyle/>
          <a:p>
            <a:pPr algn="l">
              <a:lnSpc>
                <a:spcPct val="110000"/>
              </a:lnSpc>
            </a:pPr>
            <a:r>
              <a:rPr sz="3000" b="1">
                <a:solidFill>
                  <a:srgbClr val="000000"/>
                </a:solidFill>
                <a:latin typeface="맑은 고딕"/>
                <a:ea typeface="맑은 고딕"/>
                <a:cs typeface="맑은 고딕"/>
              </a:rPr>
              <a:t>입력 축: NMOS 공통 · PD–PG skew · PMOS 구성과 범위</a:t>
            </a:r>
          </a:p>
        </p:txBody>
      </p:sp>
      <p:sp>
        <p:nvSpPr>
          <p:cNvPr id="3" name="Rectangle 2"/>
          <p:cNvSpPr/>
          <p:nvPr/>
        </p:nvSpPr>
        <p:spPr>
          <a:xfrm>
            <a:off x="463296" y="887984"/>
            <a:ext cx="11265408" cy="48260"/>
          </a:xfrm>
          <a:prstGeom prst="rect">
            <a:avLst/>
          </a:prstGeom>
          <a:solidFill>
            <a:srgbClr val="E7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6720" y="6480810"/>
            <a:ext cx="182880" cy="205740"/>
          </a:xfrm>
          <a:prstGeom prst="rect">
            <a:avLst/>
          </a:prstGeom>
          <a:noFill/>
        </p:spPr>
        <p:txBody>
          <a:bodyPr wrap="square" lIns="0" rIns="0" tIns="0" bIns="0" anchor="t">
            <a:noAutofit/>
          </a:bodyPr>
          <a:lstStyle/>
          <a:p>
            <a:pPr algn="l">
              <a:lnSpc>
                <a:spcPct val="110000"/>
              </a:lnSpc>
            </a:pPr>
            <a:r>
              <a:rPr sz="1000" b="1">
                <a:solidFill>
                  <a:srgbClr val="44566A"/>
                </a:solidFill>
                <a:latin typeface="맑은 고딕"/>
                <a:ea typeface="맑은 고딕"/>
                <a:cs typeface="맑은 고딕"/>
              </a:rPr>
              <a:t>7</a:t>
            </a:r>
          </a:p>
        </p:txBody>
      </p:sp>
      <p:sp>
        <p:nvSpPr>
          <p:cNvPr id="5" name="TextBox 4"/>
          <p:cNvSpPr txBox="1"/>
          <p:nvPr/>
        </p:nvSpPr>
        <p:spPr>
          <a:xfrm>
            <a:off x="670560" y="6494526"/>
            <a:ext cx="9022080" cy="205740"/>
          </a:xfrm>
          <a:prstGeom prst="rect">
            <a:avLst/>
          </a:prstGeom>
          <a:noFill/>
        </p:spPr>
        <p:txBody>
          <a:bodyPr wrap="square" lIns="0" rIns="0" tIns="0" bIns="0" anchor="t">
            <a:noAutofit/>
          </a:bodyPr>
          <a:lstStyle/>
          <a:p>
            <a:pPr algn="l">
              <a:lnSpc>
                <a:spcPct val="110000"/>
              </a:lnSpc>
            </a:pPr>
            <a:r>
              <a:rPr sz="900" b="0">
                <a:solidFill>
                  <a:srgbClr val="4C5759"/>
                </a:solidFill>
                <a:latin typeface="Malgun Gothic Semilight"/>
                <a:ea typeface="Malgun Gothic Semilight"/>
                <a:cs typeface="Malgun Gothic Semilight"/>
              </a:rPr>
              <a:t>범위 근거: 조건 생성기 v2.1 설계 검토 (2026-07-14) · PDK corner = FFG · FSG · SFG · SSG의 NMOS · PMOS Vth shift</a:t>
            </a:r>
          </a:p>
        </p:txBody>
      </p:sp>
      <p:sp>
        <p:nvSpPr>
          <p:cNvPr id="6" name="TextBox 5"/>
          <p:cNvSpPr txBox="1"/>
          <p:nvPr/>
        </p:nvSpPr>
        <p:spPr>
          <a:xfrm>
            <a:off x="9265920" y="6487668"/>
            <a:ext cx="2462784" cy="205740"/>
          </a:xfrm>
          <a:prstGeom prst="rect">
            <a:avLst/>
          </a:prstGeom>
          <a:noFill/>
        </p:spPr>
        <p:txBody>
          <a:bodyPr wrap="square" lIns="0" rIns="0" tIns="0" bIns="0" anchor="t">
            <a:noAutofit/>
          </a:bodyPr>
          <a:lstStyle/>
          <a:p>
            <a:pPr algn="r">
              <a:lnSpc>
                <a:spcPct val="110000"/>
              </a:lnSpc>
            </a:pPr>
            <a:r>
              <a:rPr sz="900" b="0">
                <a:solidFill>
                  <a:srgbClr val="7F7F7F"/>
                </a:solidFill>
                <a:latin typeface="Malgun Gothic Semilight"/>
                <a:ea typeface="Malgun Gothic Semilight"/>
                <a:cs typeface="Malgun Gothic Semilight"/>
              </a:rPr>
              <a:t>SRAM Vmin 순·역방향 추정</a:t>
            </a:r>
          </a:p>
        </p:txBody>
      </p:sp>
      <p:sp>
        <p:nvSpPr>
          <p:cNvPr id="7" name="TextBox 6"/>
          <p:cNvSpPr txBox="1"/>
          <p:nvPr/>
        </p:nvSpPr>
        <p:spPr>
          <a:xfrm>
            <a:off x="475488" y="1097280"/>
            <a:ext cx="6339840" cy="308610"/>
          </a:xfrm>
          <a:prstGeom prst="rect">
            <a:avLst/>
          </a:prstGeom>
          <a:noFill/>
        </p:spPr>
        <p:txBody>
          <a:bodyPr wrap="square" lIns="0" rIns="0" tIns="0" bIns="0" anchor="t">
            <a:noAutofit/>
          </a:bodyPr>
          <a:lstStyle/>
          <a:p>
            <a:pPr algn="l">
              <a:lnSpc>
                <a:spcPct val="110000"/>
              </a:lnSpc>
            </a:pPr>
            <a:r>
              <a:rPr sz="1600" b="1">
                <a:solidFill>
                  <a:srgbClr val="1A1A1A"/>
                </a:solidFill>
                <a:latin typeface="맑은 고딕"/>
                <a:ea typeface="맑은 고딕"/>
                <a:cs typeface="맑은 고딕"/>
              </a:rPr>
              <a:t>입력 9개 축과 범위</a:t>
            </a:r>
          </a:p>
        </p:txBody>
      </p:sp>
      <p:sp>
        <p:nvSpPr>
          <p:cNvPr id="8" name="Rectangle 7"/>
          <p:cNvSpPr/>
          <p:nvPr/>
        </p:nvSpPr>
        <p:spPr>
          <a:xfrm>
            <a:off x="3669792" y="1440180"/>
            <a:ext cx="1536192" cy="2571750"/>
          </a:xfrm>
          <a:prstGeom prst="rect">
            <a:avLst/>
          </a:prstGeom>
          <a:no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33600" y="1508760"/>
            <a:ext cx="1536192" cy="274320"/>
          </a:xfrm>
          <a:prstGeom prst="rect">
            <a:avLst/>
          </a:prstGeom>
          <a:noFill/>
        </p:spPr>
        <p:txBody>
          <a:bodyPr wrap="square" lIns="0" rIns="0" tIns="0" bIns="0" anchor="t">
            <a:noAutofit/>
          </a:bodyPr>
          <a:lstStyle/>
          <a:p>
            <a:pPr algn="ctr">
              <a:lnSpc>
                <a:spcPct val="110000"/>
              </a:lnSpc>
            </a:pPr>
            <a:r>
              <a:rPr sz="1400" b="1">
                <a:solidFill>
                  <a:srgbClr val="1A1A1A"/>
                </a:solidFill>
                <a:latin typeface="맑은 고딕"/>
                <a:ea typeface="맑은 고딕"/>
                <a:cs typeface="맑은 고딕"/>
              </a:rPr>
              <a:t>NMOS 공통</a:t>
            </a:r>
          </a:p>
        </p:txBody>
      </p:sp>
      <p:sp>
        <p:nvSpPr>
          <p:cNvPr id="10" name="TextBox 9"/>
          <p:cNvSpPr txBox="1"/>
          <p:nvPr/>
        </p:nvSpPr>
        <p:spPr>
          <a:xfrm>
            <a:off x="2133600" y="1783080"/>
            <a:ext cx="1536192" cy="240030"/>
          </a:xfrm>
          <a:prstGeom prst="rect">
            <a:avLst/>
          </a:prstGeom>
          <a:noFill/>
        </p:spPr>
        <p:txBody>
          <a:bodyPr wrap="square" lIns="0" rIns="0" tIns="0" bIns="0" anchor="t">
            <a:noAutofit/>
          </a:bodyPr>
          <a:lstStyle/>
          <a:p>
            <a:pPr algn="ctr">
              <a:lnSpc>
                <a:spcPct val="110000"/>
              </a:lnSpc>
            </a:pPr>
            <a:r>
              <a:rPr sz="1100" b="0">
                <a:solidFill>
                  <a:srgbClr val="7F7F7F"/>
                </a:solidFill>
                <a:latin typeface="Malgun Gothic Semilight"/>
                <a:ea typeface="Malgun Gothic Semilight"/>
                <a:cs typeface="Malgun Gothic Semilight"/>
              </a:rPr>
              <a:t>PD · PG 함께</a:t>
            </a:r>
          </a:p>
        </p:txBody>
      </p:sp>
      <p:sp>
        <p:nvSpPr>
          <p:cNvPr id="11" name="TextBox 10"/>
          <p:cNvSpPr txBox="1"/>
          <p:nvPr/>
        </p:nvSpPr>
        <p:spPr>
          <a:xfrm>
            <a:off x="3669792" y="1508760"/>
            <a:ext cx="1536192" cy="274320"/>
          </a:xfrm>
          <a:prstGeom prst="rect">
            <a:avLst/>
          </a:prstGeom>
          <a:noFill/>
        </p:spPr>
        <p:txBody>
          <a:bodyPr wrap="square" lIns="0" rIns="0" tIns="0" bIns="0" anchor="t">
            <a:noAutofit/>
          </a:bodyPr>
          <a:lstStyle/>
          <a:p>
            <a:pPr algn="ctr">
              <a:lnSpc>
                <a:spcPct val="110000"/>
              </a:lnSpc>
            </a:pPr>
            <a:r>
              <a:rPr sz="1400" b="1">
                <a:solidFill>
                  <a:srgbClr val="1428A0"/>
                </a:solidFill>
                <a:latin typeface="맑은 고딕"/>
                <a:ea typeface="맑은 고딕"/>
                <a:cs typeface="맑은 고딕"/>
              </a:rPr>
              <a:t>PD–PG skew</a:t>
            </a:r>
          </a:p>
        </p:txBody>
      </p:sp>
      <p:sp>
        <p:nvSpPr>
          <p:cNvPr id="12" name="TextBox 11"/>
          <p:cNvSpPr txBox="1"/>
          <p:nvPr/>
        </p:nvSpPr>
        <p:spPr>
          <a:xfrm>
            <a:off x="3669792" y="1783080"/>
            <a:ext cx="1536192" cy="240030"/>
          </a:xfrm>
          <a:prstGeom prst="rect">
            <a:avLst/>
          </a:prstGeom>
          <a:noFill/>
        </p:spPr>
        <p:txBody>
          <a:bodyPr wrap="square" lIns="0" rIns="0" tIns="0" bIns="0" anchor="t">
            <a:noAutofit/>
          </a:bodyPr>
          <a:lstStyle/>
          <a:p>
            <a:pPr algn="ctr">
              <a:lnSpc>
                <a:spcPct val="110000"/>
              </a:lnSpc>
            </a:pPr>
            <a:r>
              <a:rPr sz="1100" b="0">
                <a:solidFill>
                  <a:srgbClr val="7F7F7F"/>
                </a:solidFill>
                <a:latin typeface="Malgun Gothic Semilight"/>
                <a:ea typeface="Malgun Gothic Semilight"/>
                <a:cs typeface="Malgun Gothic Semilight"/>
              </a:rPr>
              <a:t>둘의 차이</a:t>
            </a:r>
          </a:p>
        </p:txBody>
      </p:sp>
      <p:sp>
        <p:nvSpPr>
          <p:cNvPr id="13" name="TextBox 12"/>
          <p:cNvSpPr txBox="1"/>
          <p:nvPr/>
        </p:nvSpPr>
        <p:spPr>
          <a:xfrm>
            <a:off x="5205984" y="1508760"/>
            <a:ext cx="1536192" cy="274320"/>
          </a:xfrm>
          <a:prstGeom prst="rect">
            <a:avLst/>
          </a:prstGeom>
          <a:noFill/>
        </p:spPr>
        <p:txBody>
          <a:bodyPr wrap="square" lIns="0" rIns="0" tIns="0" bIns="0" anchor="t">
            <a:noAutofit/>
          </a:bodyPr>
          <a:lstStyle/>
          <a:p>
            <a:pPr algn="ctr">
              <a:lnSpc>
                <a:spcPct val="110000"/>
              </a:lnSpc>
            </a:pPr>
            <a:r>
              <a:rPr sz="1400" b="1">
                <a:solidFill>
                  <a:srgbClr val="1A1A1A"/>
                </a:solidFill>
                <a:latin typeface="맑은 고딕"/>
                <a:ea typeface="맑은 고딕"/>
                <a:cs typeface="맑은 고딕"/>
              </a:rPr>
              <a:t>PMOS</a:t>
            </a:r>
          </a:p>
        </p:txBody>
      </p:sp>
      <p:sp>
        <p:nvSpPr>
          <p:cNvPr id="14" name="TextBox 13"/>
          <p:cNvSpPr txBox="1"/>
          <p:nvPr/>
        </p:nvSpPr>
        <p:spPr>
          <a:xfrm>
            <a:off x="5205984" y="1783080"/>
            <a:ext cx="1536192" cy="240030"/>
          </a:xfrm>
          <a:prstGeom prst="rect">
            <a:avLst/>
          </a:prstGeom>
          <a:noFill/>
        </p:spPr>
        <p:txBody>
          <a:bodyPr wrap="square" lIns="0" rIns="0" tIns="0" bIns="0" anchor="t">
            <a:noAutofit/>
          </a:bodyPr>
          <a:lstStyle/>
          <a:p>
            <a:pPr algn="ctr">
              <a:lnSpc>
                <a:spcPct val="110000"/>
              </a:lnSpc>
            </a:pPr>
            <a:r>
              <a:rPr sz="1100" b="0">
                <a:solidFill>
                  <a:srgbClr val="7F7F7F"/>
                </a:solidFill>
                <a:latin typeface="Malgun Gothic Semilight"/>
                <a:ea typeface="Malgun Gothic Semilight"/>
                <a:cs typeface="Malgun Gothic Semilight"/>
              </a:rPr>
              <a:t>PU</a:t>
            </a:r>
          </a:p>
        </p:txBody>
      </p:sp>
      <p:sp>
        <p:nvSpPr>
          <p:cNvPr id="15" name="Rectangle 14"/>
          <p:cNvSpPr/>
          <p:nvPr/>
        </p:nvSpPr>
        <p:spPr>
          <a:xfrm>
            <a:off x="463296" y="2085340"/>
            <a:ext cx="6278880" cy="127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 y="2125980"/>
            <a:ext cx="1645920" cy="617220"/>
          </a:xfrm>
          <a:prstGeom prst="rect">
            <a:avLst/>
          </a:prstGeom>
          <a:noFill/>
        </p:spPr>
        <p:txBody>
          <a:bodyPr wrap="square" lIns="0" rIns="0" tIns="0" bIns="0" anchor="ctr">
            <a:noAutofit/>
          </a:bodyPr>
          <a:lstStyle/>
          <a:p>
            <a:pPr algn="l">
              <a:lnSpc>
                <a:spcPct val="110000"/>
              </a:lnSpc>
            </a:pPr>
            <a:r>
              <a:rPr sz="1400" b="1">
                <a:solidFill>
                  <a:srgbClr val="1A1A1A"/>
                </a:solidFill>
                <a:latin typeface="맑은 고딕"/>
                <a:ea typeface="맑은 고딕"/>
                <a:cs typeface="맑은 고딕"/>
              </a:rPr>
              <a:t>Vth shift</a:t>
            </a:r>
          </a:p>
        </p:txBody>
      </p:sp>
      <p:sp>
        <p:nvSpPr>
          <p:cNvPr id="17" name="TextBox 16"/>
          <p:cNvSpPr txBox="1"/>
          <p:nvPr/>
        </p:nvSpPr>
        <p:spPr>
          <a:xfrm>
            <a:off x="2133600" y="2125980"/>
            <a:ext cx="1536192" cy="617220"/>
          </a:xfrm>
          <a:prstGeom prst="rect">
            <a:avLst/>
          </a:prstGeom>
          <a:noFill/>
        </p:spPr>
        <p:txBody>
          <a:bodyPr wrap="square" lIns="0" rIns="0" tIns="0" bIns="0" anchor="ctr">
            <a:noAutofit/>
          </a:bodyPr>
          <a:lstStyle/>
          <a:p>
            <a:pPr algn="ctr">
              <a:lnSpc>
                <a:spcPct val="110000"/>
              </a:lnSpc>
            </a:pPr>
            <a:r>
              <a:rPr sz="1600" b="0">
                <a:solidFill>
                  <a:srgbClr val="1A1A1A"/>
                </a:solidFill>
                <a:latin typeface="Malgun Gothic Semilight"/>
                <a:ea typeface="Malgun Gothic Semilight"/>
                <a:cs typeface="Malgun Gothic Semilight"/>
              </a:rPr>
              <a:t>±60 mV</a:t>
            </a:r>
          </a:p>
        </p:txBody>
      </p:sp>
      <p:sp>
        <p:nvSpPr>
          <p:cNvPr id="18" name="TextBox 17"/>
          <p:cNvSpPr txBox="1"/>
          <p:nvPr/>
        </p:nvSpPr>
        <p:spPr>
          <a:xfrm>
            <a:off x="3669792" y="2125980"/>
            <a:ext cx="1536192" cy="617220"/>
          </a:xfrm>
          <a:prstGeom prst="rect">
            <a:avLst/>
          </a:prstGeom>
          <a:noFill/>
        </p:spPr>
        <p:txBody>
          <a:bodyPr wrap="square" lIns="0" rIns="0" tIns="0" bIns="0" anchor="ctr">
            <a:noAutofit/>
          </a:bodyPr>
          <a:lstStyle/>
          <a:p>
            <a:pPr algn="ctr">
              <a:lnSpc>
                <a:spcPct val="110000"/>
              </a:lnSpc>
            </a:pPr>
            <a:r>
              <a:rPr sz="1600" b="1">
                <a:solidFill>
                  <a:srgbClr val="1428A0"/>
                </a:solidFill>
                <a:latin typeface="맑은 고딕"/>
                <a:ea typeface="맑은 고딕"/>
                <a:cs typeface="맑은 고딕"/>
              </a:rPr>
              <a:t>±20 mV</a:t>
            </a:r>
          </a:p>
        </p:txBody>
      </p:sp>
      <p:sp>
        <p:nvSpPr>
          <p:cNvPr id="19" name="TextBox 18"/>
          <p:cNvSpPr txBox="1"/>
          <p:nvPr/>
        </p:nvSpPr>
        <p:spPr>
          <a:xfrm>
            <a:off x="5205984" y="2125980"/>
            <a:ext cx="1536192" cy="617220"/>
          </a:xfrm>
          <a:prstGeom prst="rect">
            <a:avLst/>
          </a:prstGeom>
          <a:noFill/>
        </p:spPr>
        <p:txBody>
          <a:bodyPr wrap="square" lIns="0" rIns="0" tIns="0" bIns="0" anchor="ctr">
            <a:noAutofit/>
          </a:bodyPr>
          <a:lstStyle/>
          <a:p>
            <a:pPr algn="ctr">
              <a:lnSpc>
                <a:spcPct val="110000"/>
              </a:lnSpc>
            </a:pPr>
            <a:r>
              <a:rPr sz="1600" b="0">
                <a:solidFill>
                  <a:srgbClr val="1A1A1A"/>
                </a:solidFill>
                <a:latin typeface="Malgun Gothic Semilight"/>
                <a:ea typeface="Malgun Gothic Semilight"/>
                <a:cs typeface="Malgun Gothic Semilight"/>
              </a:rPr>
              <a:t>±60 mV</a:t>
            </a:r>
          </a:p>
        </p:txBody>
      </p:sp>
      <p:sp>
        <p:nvSpPr>
          <p:cNvPr id="20" name="Rectangle 19"/>
          <p:cNvSpPr/>
          <p:nvPr/>
        </p:nvSpPr>
        <p:spPr>
          <a:xfrm>
            <a:off x="463296" y="2738438"/>
            <a:ext cx="6278880"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 y="2743200"/>
            <a:ext cx="1645920" cy="617220"/>
          </a:xfrm>
          <a:prstGeom prst="rect">
            <a:avLst/>
          </a:prstGeom>
          <a:noFill/>
        </p:spPr>
        <p:txBody>
          <a:bodyPr wrap="square" lIns="0" rIns="0" tIns="0" bIns="0" anchor="ctr">
            <a:noAutofit/>
          </a:bodyPr>
          <a:lstStyle/>
          <a:p>
            <a:pPr algn="l">
              <a:lnSpc>
                <a:spcPct val="110000"/>
              </a:lnSpc>
            </a:pPr>
            <a:r>
              <a:rPr sz="1400" b="1">
                <a:solidFill>
                  <a:srgbClr val="1A1A1A"/>
                </a:solidFill>
                <a:latin typeface="맑은 고딕"/>
                <a:ea typeface="맑은 고딕"/>
                <a:cs typeface="맑은 고딕"/>
              </a:rPr>
              <a:t>local mismatch</a:t>
            </a:r>
          </a:p>
        </p:txBody>
      </p:sp>
      <p:sp>
        <p:nvSpPr>
          <p:cNvPr id="22" name="TextBox 21"/>
          <p:cNvSpPr txBox="1"/>
          <p:nvPr/>
        </p:nvSpPr>
        <p:spPr>
          <a:xfrm>
            <a:off x="2133600" y="2743200"/>
            <a:ext cx="1536192" cy="617220"/>
          </a:xfrm>
          <a:prstGeom prst="rect">
            <a:avLst/>
          </a:prstGeom>
          <a:noFill/>
        </p:spPr>
        <p:txBody>
          <a:bodyPr wrap="square" lIns="0" rIns="0" tIns="0" bIns="0" anchor="ctr">
            <a:noAutofit/>
          </a:bodyPr>
          <a:lstStyle/>
          <a:p>
            <a:pPr algn="ctr">
              <a:lnSpc>
                <a:spcPct val="110000"/>
              </a:lnSpc>
            </a:pPr>
            <a:r>
              <a:rPr sz="1600" b="0">
                <a:solidFill>
                  <a:srgbClr val="1A1A1A"/>
                </a:solidFill>
                <a:latin typeface="Malgun Gothic Semilight"/>
                <a:ea typeface="Malgun Gothic Semilight"/>
                <a:cs typeface="Malgun Gothic Semilight"/>
              </a:rPr>
              <a:t>×0.7 ~ 1.3</a:t>
            </a:r>
          </a:p>
        </p:txBody>
      </p:sp>
      <p:sp>
        <p:nvSpPr>
          <p:cNvPr id="23" name="TextBox 22"/>
          <p:cNvSpPr txBox="1"/>
          <p:nvPr/>
        </p:nvSpPr>
        <p:spPr>
          <a:xfrm>
            <a:off x="3669792" y="2743200"/>
            <a:ext cx="1536192" cy="617220"/>
          </a:xfrm>
          <a:prstGeom prst="rect">
            <a:avLst/>
          </a:prstGeom>
          <a:noFill/>
        </p:spPr>
        <p:txBody>
          <a:bodyPr wrap="square" lIns="0" rIns="0" tIns="0" bIns="0" anchor="ctr">
            <a:noAutofit/>
          </a:bodyPr>
          <a:lstStyle/>
          <a:p>
            <a:pPr algn="ctr">
              <a:lnSpc>
                <a:spcPct val="110000"/>
              </a:lnSpc>
            </a:pPr>
            <a:r>
              <a:rPr sz="1600" b="1">
                <a:solidFill>
                  <a:srgbClr val="1428A0"/>
                </a:solidFill>
                <a:latin typeface="맑은 고딕"/>
                <a:ea typeface="맑은 고딕"/>
                <a:cs typeface="맑은 고딕"/>
              </a:rPr>
              <a:t>±0.075</a:t>
            </a:r>
          </a:p>
        </p:txBody>
      </p:sp>
      <p:sp>
        <p:nvSpPr>
          <p:cNvPr id="24" name="TextBox 23"/>
          <p:cNvSpPr txBox="1"/>
          <p:nvPr/>
        </p:nvSpPr>
        <p:spPr>
          <a:xfrm>
            <a:off x="5205984" y="2743200"/>
            <a:ext cx="1536192" cy="617220"/>
          </a:xfrm>
          <a:prstGeom prst="rect">
            <a:avLst/>
          </a:prstGeom>
          <a:noFill/>
        </p:spPr>
        <p:txBody>
          <a:bodyPr wrap="square" lIns="0" rIns="0" tIns="0" bIns="0" anchor="ctr">
            <a:noAutofit/>
          </a:bodyPr>
          <a:lstStyle/>
          <a:p>
            <a:pPr algn="ctr">
              <a:lnSpc>
                <a:spcPct val="110000"/>
              </a:lnSpc>
            </a:pPr>
            <a:r>
              <a:rPr sz="1600" b="0">
                <a:solidFill>
                  <a:srgbClr val="1A1A1A"/>
                </a:solidFill>
                <a:latin typeface="Malgun Gothic Semilight"/>
                <a:ea typeface="Malgun Gothic Semilight"/>
                <a:cs typeface="Malgun Gothic Semilight"/>
              </a:rPr>
              <a:t>×0.7 ~ 1.3</a:t>
            </a:r>
          </a:p>
        </p:txBody>
      </p:sp>
      <p:sp>
        <p:nvSpPr>
          <p:cNvPr id="25" name="Rectangle 24"/>
          <p:cNvSpPr/>
          <p:nvPr/>
        </p:nvSpPr>
        <p:spPr>
          <a:xfrm>
            <a:off x="463296" y="3355658"/>
            <a:ext cx="6278880"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5488" y="3360420"/>
            <a:ext cx="1645920" cy="617220"/>
          </a:xfrm>
          <a:prstGeom prst="rect">
            <a:avLst/>
          </a:prstGeom>
          <a:noFill/>
        </p:spPr>
        <p:txBody>
          <a:bodyPr wrap="square" lIns="0" rIns="0" tIns="0" bIns="0" anchor="ctr">
            <a:noAutofit/>
          </a:bodyPr>
          <a:lstStyle/>
          <a:p>
            <a:pPr algn="l">
              <a:lnSpc>
                <a:spcPct val="110000"/>
              </a:lnSpc>
            </a:pPr>
            <a:r>
              <a:rPr sz="1400" b="1">
                <a:solidFill>
                  <a:srgbClr val="1A1A1A"/>
                </a:solidFill>
                <a:latin typeface="맑은 고딕"/>
                <a:ea typeface="맑은 고딕"/>
                <a:cs typeface="맑은 고딕"/>
              </a:rPr>
              <a:t>mobility</a:t>
            </a:r>
          </a:p>
        </p:txBody>
      </p:sp>
      <p:sp>
        <p:nvSpPr>
          <p:cNvPr id="27" name="TextBox 26"/>
          <p:cNvSpPr txBox="1"/>
          <p:nvPr/>
        </p:nvSpPr>
        <p:spPr>
          <a:xfrm>
            <a:off x="2133600" y="3360420"/>
            <a:ext cx="1536192" cy="617220"/>
          </a:xfrm>
          <a:prstGeom prst="rect">
            <a:avLst/>
          </a:prstGeom>
          <a:noFill/>
        </p:spPr>
        <p:txBody>
          <a:bodyPr wrap="square" lIns="0" rIns="0" tIns="0" bIns="0" anchor="ctr">
            <a:noAutofit/>
          </a:bodyPr>
          <a:lstStyle/>
          <a:p>
            <a:pPr algn="ctr">
              <a:lnSpc>
                <a:spcPct val="110000"/>
              </a:lnSpc>
            </a:pPr>
            <a:r>
              <a:rPr sz="1600" b="0">
                <a:solidFill>
                  <a:srgbClr val="1A1A1A"/>
                </a:solidFill>
                <a:latin typeface="Malgun Gothic Semilight"/>
                <a:ea typeface="Malgun Gothic Semilight"/>
                <a:cs typeface="Malgun Gothic Semilight"/>
              </a:rPr>
              <a:t>×0.7 ~ 1.3</a:t>
            </a:r>
          </a:p>
        </p:txBody>
      </p:sp>
      <p:sp>
        <p:nvSpPr>
          <p:cNvPr id="28" name="TextBox 27"/>
          <p:cNvSpPr txBox="1"/>
          <p:nvPr/>
        </p:nvSpPr>
        <p:spPr>
          <a:xfrm>
            <a:off x="3669792" y="3360420"/>
            <a:ext cx="1536192" cy="617220"/>
          </a:xfrm>
          <a:prstGeom prst="rect">
            <a:avLst/>
          </a:prstGeom>
          <a:noFill/>
        </p:spPr>
        <p:txBody>
          <a:bodyPr wrap="square" lIns="0" rIns="0" tIns="0" bIns="0" anchor="ctr">
            <a:noAutofit/>
          </a:bodyPr>
          <a:lstStyle/>
          <a:p>
            <a:pPr algn="ctr">
              <a:lnSpc>
                <a:spcPct val="110000"/>
              </a:lnSpc>
            </a:pPr>
            <a:r>
              <a:rPr sz="1600" b="1">
                <a:solidFill>
                  <a:srgbClr val="1428A0"/>
                </a:solidFill>
                <a:latin typeface="맑은 고딕"/>
                <a:ea typeface="맑은 고딕"/>
                <a:cs typeface="맑은 고딕"/>
              </a:rPr>
              <a:t>±0.075</a:t>
            </a:r>
          </a:p>
        </p:txBody>
      </p:sp>
      <p:sp>
        <p:nvSpPr>
          <p:cNvPr id="29" name="TextBox 28"/>
          <p:cNvSpPr txBox="1"/>
          <p:nvPr/>
        </p:nvSpPr>
        <p:spPr>
          <a:xfrm>
            <a:off x="5205984" y="3360420"/>
            <a:ext cx="1536192" cy="617220"/>
          </a:xfrm>
          <a:prstGeom prst="rect">
            <a:avLst/>
          </a:prstGeom>
          <a:noFill/>
        </p:spPr>
        <p:txBody>
          <a:bodyPr wrap="square" lIns="0" rIns="0" tIns="0" bIns="0" anchor="ctr">
            <a:noAutofit/>
          </a:bodyPr>
          <a:lstStyle/>
          <a:p>
            <a:pPr algn="ctr">
              <a:lnSpc>
                <a:spcPct val="110000"/>
              </a:lnSpc>
            </a:pPr>
            <a:r>
              <a:rPr sz="1600" b="0">
                <a:solidFill>
                  <a:srgbClr val="1A1A1A"/>
                </a:solidFill>
                <a:latin typeface="Malgun Gothic Semilight"/>
                <a:ea typeface="Malgun Gothic Semilight"/>
                <a:cs typeface="Malgun Gothic Semilight"/>
              </a:rPr>
              <a:t>×0.7 ~ 1.3</a:t>
            </a:r>
          </a:p>
        </p:txBody>
      </p:sp>
      <p:sp>
        <p:nvSpPr>
          <p:cNvPr id="30" name="Rectangle 29"/>
          <p:cNvSpPr/>
          <p:nvPr/>
        </p:nvSpPr>
        <p:spPr>
          <a:xfrm>
            <a:off x="463296" y="3972878"/>
            <a:ext cx="6278880"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3296" y="4320540"/>
            <a:ext cx="6278880" cy="61722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0832" y="4320540"/>
            <a:ext cx="6083808" cy="617220"/>
          </a:xfrm>
          <a:prstGeom prst="rect">
            <a:avLst/>
          </a:prstGeom>
          <a:noFill/>
        </p:spPr>
        <p:txBody>
          <a:bodyPr wrap="square" lIns="0" rIns="0" tIns="0" bIns="0" anchor="ctr">
            <a:noAutofit/>
          </a:bodyPr>
          <a:lstStyle/>
          <a:p>
            <a:pPr algn="ctr">
              <a:lnSpc>
                <a:spcPct val="110000"/>
              </a:lnSpc>
            </a:pPr>
            <a:r>
              <a:rPr sz="1600" b="1">
                <a:solidFill>
                  <a:srgbClr val="1A1A1A"/>
                </a:solidFill>
                <a:latin typeface="맑은 고딕"/>
                <a:ea typeface="맑은 고딕"/>
                <a:cs typeface="맑은 고딕"/>
              </a:rPr>
              <a:t>PG = 공통 + skew      PD = 공통 − skew</a:t>
            </a:r>
          </a:p>
        </p:txBody>
      </p:sp>
      <p:sp>
        <p:nvSpPr>
          <p:cNvPr id="33" name="TextBox 32"/>
          <p:cNvSpPr txBox="1"/>
          <p:nvPr/>
        </p:nvSpPr>
        <p:spPr>
          <a:xfrm>
            <a:off x="475488" y="5040630"/>
            <a:ext cx="6266688" cy="274320"/>
          </a:xfrm>
          <a:prstGeom prst="rect">
            <a:avLst/>
          </a:prstGeom>
          <a:noFill/>
        </p:spPr>
        <p:txBody>
          <a:bodyPr wrap="square" lIns="0" rIns="0" tIns="0" bIns="0" anchor="t">
            <a:noAutofit/>
          </a:bodyPr>
          <a:lstStyle/>
          <a:p>
            <a:pPr algn="l">
              <a:lnSpc>
                <a:spcPct val="110000"/>
              </a:lnSpc>
            </a:pPr>
            <a:r>
              <a:rPr sz="1200" b="0">
                <a:solidFill>
                  <a:srgbClr val="7F7F7F"/>
                </a:solidFill>
                <a:latin typeface="Malgun Gothic Semilight"/>
                <a:ea typeface="Malgun Gothic Semilight"/>
                <a:cs typeface="Malgun Gothic Semilight"/>
              </a:rPr>
              <a:t>local mismatch · mobility도 같은 방식 (배율 = 공통 ± skew)</a:t>
            </a:r>
          </a:p>
        </p:txBody>
      </p:sp>
      <p:sp>
        <p:nvSpPr>
          <p:cNvPr id="34" name="TextBox 33"/>
          <p:cNvSpPr txBox="1"/>
          <p:nvPr/>
        </p:nvSpPr>
        <p:spPr>
          <a:xfrm>
            <a:off x="475488" y="5417820"/>
            <a:ext cx="6266688" cy="548640"/>
          </a:xfrm>
          <a:prstGeom prst="rect">
            <a:avLst/>
          </a:prstGeom>
          <a:noFill/>
        </p:spPr>
        <p:txBody>
          <a:bodyPr wrap="square" lIns="0" rIns="0" tIns="0" bIns="0" anchor="t">
            <a:noAutofit/>
          </a:bodyPr>
          <a:lstStyle/>
          <a:p>
            <a:pPr algn="l">
              <a:lnSpc>
                <a:spcPct val="125000"/>
              </a:lnSpc>
            </a:pPr>
            <a:r>
              <a:rPr sz="1300" b="1">
                <a:solidFill>
                  <a:srgbClr val="1428A0"/>
                </a:solidFill>
                <a:latin typeface="맑은 고딕"/>
                <a:ea typeface="맑은 고딕"/>
                <a:cs typeface="맑은 고딕"/>
              </a:rPr>
              <a:t>표본 선정</a:t>
            </a:r>
            <a:r>
              <a:rPr sz="1300" b="0">
                <a:solidFill>
                  <a:srgbClr val="1A1A1A"/>
                </a:solidFill>
                <a:latin typeface="Malgun Gothic Semilight"/>
                <a:ea typeface="Malgun Gothic Semilight"/>
                <a:cs typeface="Malgun Gothic Semilight"/>
              </a:rPr>
              <a:t>: read · write 각 2,000 조건 · 각 축은 범위 안에서 random (PCG64)</a:t>
            </a:r>
          </a:p>
          <a:p>
            <a:pPr algn="l">
              <a:lnSpc>
                <a:spcPct val="125000"/>
              </a:lnSpc>
            </a:pPr>
            <a:r>
              <a:rPr sz="1300" b="0">
                <a:solidFill>
                  <a:srgbClr val="1A1A1A"/>
                </a:solidFill>
                <a:latin typeface="Malgun Gothic Semilight"/>
                <a:ea typeface="Malgun Gothic Semilight"/>
                <a:cs typeface="Malgun Gothic Semilight"/>
              </a:rPr>
              <a:t>Vmin이 나빠지는 사분면에 가중 — read FSG 45 %, write SFG 45 %</a:t>
            </a:r>
          </a:p>
        </p:txBody>
      </p:sp>
      <p:sp>
        <p:nvSpPr>
          <p:cNvPr id="35" name="Rectangle 34"/>
          <p:cNvSpPr/>
          <p:nvPr/>
        </p:nvSpPr>
        <p:spPr>
          <a:xfrm>
            <a:off x="7066598" y="1097280"/>
            <a:ext cx="9525" cy="452628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37120" y="1097280"/>
            <a:ext cx="4291584" cy="308610"/>
          </a:xfrm>
          <a:prstGeom prst="rect">
            <a:avLst/>
          </a:prstGeom>
          <a:noFill/>
        </p:spPr>
        <p:txBody>
          <a:bodyPr wrap="square" lIns="0" rIns="0" tIns="0" bIns="0" anchor="t">
            <a:noAutofit/>
          </a:bodyPr>
          <a:lstStyle/>
          <a:p>
            <a:pPr algn="l">
              <a:lnSpc>
                <a:spcPct val="110000"/>
              </a:lnSpc>
            </a:pPr>
            <a:r>
              <a:rPr sz="1500" b="1">
                <a:solidFill>
                  <a:srgbClr val="1428A0"/>
                </a:solidFill>
                <a:latin typeface="맑은 고딕"/>
                <a:ea typeface="맑은 고딕"/>
                <a:cs typeface="맑은 고딕"/>
              </a:rPr>
              <a:t>왜 공통 + skew인가</a:t>
            </a:r>
          </a:p>
        </p:txBody>
      </p:sp>
      <p:sp>
        <p:nvSpPr>
          <p:cNvPr id="37" name="TextBox 36"/>
          <p:cNvSpPr txBox="1"/>
          <p:nvPr/>
        </p:nvSpPr>
        <p:spPr>
          <a:xfrm>
            <a:off x="7437120" y="1440180"/>
            <a:ext cx="4291584" cy="1261872"/>
          </a:xfrm>
          <a:prstGeom prst="rect">
            <a:avLst/>
          </a:prstGeom>
          <a:noFill/>
        </p:spPr>
        <p:txBody>
          <a:bodyPr wrap="square" lIns="0" rIns="0" tIns="0" bIns="0" anchor="t">
            <a:noAutofit/>
          </a:bodyPr>
          <a:lstStyle/>
          <a:p>
            <a:pPr algn="l">
              <a:lnSpc>
                <a:spcPct val="115000"/>
              </a:lnSpc>
            </a:pPr>
            <a:r>
              <a:rPr sz="1300" b="0">
                <a:solidFill>
                  <a:srgbClr val="1A1A1A"/>
                </a:solidFill>
                <a:latin typeface="Malgun Gothic Semilight"/>
                <a:ea typeface="Malgun Gothic Semilight"/>
                <a:cs typeface="Malgun Gothic Semilight"/>
              </a:rPr>
              <a:t>PD · PG는 같은 NMOS라 </a:t>
            </a:r>
            <a:r>
              <a:rPr sz="1300" b="1">
                <a:solidFill>
                  <a:srgbClr val="1A1A1A"/>
                </a:solidFill>
                <a:latin typeface="맑은 고딕"/>
                <a:ea typeface="맑은 고딕"/>
                <a:cs typeface="맑은 고딕"/>
              </a:rPr>
              <a:t>대부분 함께</a:t>
            </a:r>
            <a:r>
              <a:rPr sz="1300" b="0">
                <a:solidFill>
                  <a:srgbClr val="1A1A1A"/>
                </a:solidFill>
                <a:latin typeface="Malgun Gothic Semilight"/>
                <a:ea typeface="Malgun Gothic Semilight"/>
                <a:cs typeface="Malgun Gothic Semilight"/>
              </a:rPr>
              <a:t> 움직인다</a:t>
            </a:r>
          </a:p>
          <a:p>
            <a:pPr algn="l">
              <a:lnSpc>
                <a:spcPct val="115000"/>
              </a:lnSpc>
            </a:pPr>
            <a:r>
              <a:rPr sz="1300" b="0">
                <a:solidFill>
                  <a:srgbClr val="1A1A1A"/>
                </a:solidFill>
                <a:latin typeface="Malgun Gothic Semilight"/>
                <a:ea typeface="Malgun Gothic Semilight"/>
                <a:cs typeface="Malgun Gothic Semilight"/>
              </a:rPr>
              <a:t>완전히 같지는 않으니 </a:t>
            </a:r>
            <a:r>
              <a:rPr sz="1300" b="1">
                <a:solidFill>
                  <a:srgbClr val="1A1A1A"/>
                </a:solidFill>
                <a:latin typeface="맑은 고딕"/>
                <a:ea typeface="맑은 고딕"/>
                <a:cs typeface="맑은 고딕"/>
              </a:rPr>
              <a:t>차이는 skew 축 하나</a:t>
            </a:r>
            <a:r>
              <a:rPr sz="1300" b="0">
                <a:solidFill>
                  <a:srgbClr val="1A1A1A"/>
                </a:solidFill>
                <a:latin typeface="Malgun Gothic Semilight"/>
                <a:ea typeface="Malgun Gothic Semilight"/>
                <a:cs typeface="Malgun Gothic Semilight"/>
              </a:rPr>
              <a:t>로 허용</a:t>
            </a:r>
          </a:p>
          <a:p>
            <a:pPr algn="l">
              <a:lnSpc>
                <a:spcPct val="115000"/>
              </a:lnSpc>
            </a:pPr>
            <a:r>
              <a:rPr sz="1300" b="0">
                <a:solidFill>
                  <a:srgbClr val="1A1A1A"/>
                </a:solidFill>
                <a:latin typeface="Malgun Gothic Semilight"/>
                <a:ea typeface="Malgun Gothic Semilight"/>
                <a:cs typeface="Malgun Gothic Semilight"/>
              </a:rPr>
              <a:t>따로 뽑으면 PG −30 %, PD +30 % 같은</a:t>
            </a:r>
          </a:p>
          <a:p>
            <a:pPr algn="l">
              <a:lnSpc>
                <a:spcPct val="115000"/>
              </a:lnSpc>
            </a:pPr>
            <a:r>
              <a:rPr sz="1300" b="0">
                <a:solidFill>
                  <a:srgbClr val="1A1A1A"/>
                </a:solidFill>
                <a:latin typeface="Malgun Gothic Semilight"/>
                <a:ea typeface="Malgun Gothic Semilight"/>
                <a:cs typeface="Malgun Gothic Semilight"/>
              </a:rPr>
              <a:t>비현실적인 조건에 표본을 낭비한다</a:t>
            </a:r>
          </a:p>
        </p:txBody>
      </p:sp>
      <p:sp>
        <p:nvSpPr>
          <p:cNvPr id="38" name="TextBox 37"/>
          <p:cNvSpPr txBox="1"/>
          <p:nvPr/>
        </p:nvSpPr>
        <p:spPr>
          <a:xfrm>
            <a:off x="7437120" y="2907792"/>
            <a:ext cx="4291584" cy="308610"/>
          </a:xfrm>
          <a:prstGeom prst="rect">
            <a:avLst/>
          </a:prstGeom>
          <a:noFill/>
        </p:spPr>
        <p:txBody>
          <a:bodyPr wrap="square" lIns="0" rIns="0" tIns="0" bIns="0" anchor="t">
            <a:noAutofit/>
          </a:bodyPr>
          <a:lstStyle/>
          <a:p>
            <a:pPr algn="l">
              <a:lnSpc>
                <a:spcPct val="110000"/>
              </a:lnSpc>
            </a:pPr>
            <a:r>
              <a:rPr sz="1500" b="1">
                <a:solidFill>
                  <a:srgbClr val="1428A0"/>
                </a:solidFill>
                <a:latin typeface="맑은 고딕"/>
                <a:ea typeface="맑은 고딕"/>
                <a:cs typeface="맑은 고딕"/>
              </a:rPr>
              <a:t>공통 축의 범위</a:t>
            </a:r>
          </a:p>
        </p:txBody>
      </p:sp>
      <p:sp>
        <p:nvSpPr>
          <p:cNvPr id="39" name="TextBox 38"/>
          <p:cNvSpPr txBox="1"/>
          <p:nvPr/>
        </p:nvSpPr>
        <p:spPr>
          <a:xfrm>
            <a:off x="7437120" y="3250692"/>
            <a:ext cx="4291584" cy="1261872"/>
          </a:xfrm>
          <a:prstGeom prst="rect">
            <a:avLst/>
          </a:prstGeom>
          <a:noFill/>
        </p:spPr>
        <p:txBody>
          <a:bodyPr wrap="square" lIns="0" rIns="0" tIns="0" bIns="0" anchor="t">
            <a:noAutofit/>
          </a:bodyPr>
          <a:lstStyle/>
          <a:p>
            <a:pPr algn="l">
              <a:lnSpc>
                <a:spcPct val="115000"/>
              </a:lnSpc>
            </a:pPr>
            <a:r>
              <a:rPr sz="1300" b="0">
                <a:solidFill>
                  <a:srgbClr val="1A1A1A"/>
                </a:solidFill>
                <a:latin typeface="Malgun Gothic Semilight"/>
                <a:ea typeface="Malgun Gothic Semilight"/>
                <a:cs typeface="Malgun Gothic Semilight"/>
              </a:rPr>
              <a:t>Vth </a:t>
            </a:r>
            <a:r>
              <a:rPr sz="1300" b="1">
                <a:solidFill>
                  <a:srgbClr val="1A1A1A"/>
                </a:solidFill>
                <a:latin typeface="맑은 고딕"/>
                <a:ea typeface="맑은 고딕"/>
                <a:cs typeface="맑은 고딕"/>
              </a:rPr>
              <a:t>±60 mV</a:t>
            </a:r>
            <a:r>
              <a:rPr sz="1300" b="0">
                <a:solidFill>
                  <a:srgbClr val="1A1A1A"/>
                </a:solidFill>
                <a:latin typeface="Malgun Gothic Semilight"/>
                <a:ea typeface="Malgun Gothic Semilight"/>
                <a:cs typeface="Malgun Gothic Semilight"/>
              </a:rPr>
              <a:t>: PDK corner (±29~45 mV)를 모두 포함</a:t>
            </a:r>
          </a:p>
          <a:p>
            <a:pPr algn="l">
              <a:lnSpc>
                <a:spcPct val="115000"/>
              </a:lnSpc>
            </a:pPr>
            <a:r>
              <a:rPr sz="1300" b="0">
                <a:solidFill>
                  <a:srgbClr val="1A1A1A"/>
                </a:solidFill>
                <a:latin typeface="Malgun Gothic Semilight"/>
                <a:ea typeface="Malgun Gothic Semilight"/>
                <a:cs typeface="Malgun Gothic Semilight"/>
              </a:rPr>
              <a:t>local mismatch · mobility </a:t>
            </a:r>
            <a:r>
              <a:rPr sz="1300" b="1">
                <a:solidFill>
                  <a:srgbClr val="1A1A1A"/>
                </a:solidFill>
                <a:latin typeface="맑은 고딕"/>
                <a:ea typeface="맑은 고딕"/>
                <a:cs typeface="맑은 고딕"/>
              </a:rPr>
              <a:t>±30 %</a:t>
            </a:r>
            <a:r>
              <a:rPr sz="1300" b="0">
                <a:solidFill>
                  <a:srgbClr val="1A1A1A"/>
                </a:solidFill>
                <a:latin typeface="Malgun Gothic Semilight"/>
                <a:ea typeface="Malgun Gothic Semilight"/>
                <a:cs typeface="Malgun Gothic Semilight"/>
              </a:rPr>
              <a:t>:</a:t>
            </a:r>
          </a:p>
          <a:p>
            <a:pPr algn="l">
              <a:lnSpc>
                <a:spcPct val="115000"/>
              </a:lnSpc>
            </a:pPr>
            <a:r>
              <a:rPr sz="1300" b="0">
                <a:solidFill>
                  <a:srgbClr val="1A1A1A"/>
                </a:solidFill>
                <a:latin typeface="Malgun Gothic Semilight"/>
                <a:ea typeface="Malgun Gothic Semilight"/>
                <a:cs typeface="Malgun Gothic Semilight"/>
              </a:rPr>
              <a:t>보통 corner 폭 (±10~15 %)보다 넉넉하게</a:t>
            </a:r>
          </a:p>
          <a:p>
            <a:pPr algn="l">
              <a:lnSpc>
                <a:spcPct val="115000"/>
              </a:lnSpc>
            </a:pPr>
            <a:r>
              <a:rPr sz="1300" b="0">
                <a:solidFill>
                  <a:srgbClr val="1A1A1A"/>
                </a:solidFill>
                <a:latin typeface="Malgun Gothic Semilight"/>
                <a:ea typeface="Malgun Gothic Semilight"/>
                <a:cs typeface="Malgun Gothic Semilight"/>
              </a:rPr>
              <a:t>→ 개선 경계가 범위 안에 들어온다</a:t>
            </a:r>
          </a:p>
        </p:txBody>
      </p:sp>
      <p:sp>
        <p:nvSpPr>
          <p:cNvPr id="40" name="TextBox 39"/>
          <p:cNvSpPr txBox="1"/>
          <p:nvPr/>
        </p:nvSpPr>
        <p:spPr>
          <a:xfrm>
            <a:off x="7437120" y="4718304"/>
            <a:ext cx="4291584" cy="308610"/>
          </a:xfrm>
          <a:prstGeom prst="rect">
            <a:avLst/>
          </a:prstGeom>
          <a:noFill/>
        </p:spPr>
        <p:txBody>
          <a:bodyPr wrap="square" lIns="0" rIns="0" tIns="0" bIns="0" anchor="t">
            <a:noAutofit/>
          </a:bodyPr>
          <a:lstStyle/>
          <a:p>
            <a:pPr algn="l">
              <a:lnSpc>
                <a:spcPct val="110000"/>
              </a:lnSpc>
            </a:pPr>
            <a:r>
              <a:rPr sz="1500" b="1">
                <a:solidFill>
                  <a:srgbClr val="1428A0"/>
                </a:solidFill>
                <a:latin typeface="맑은 고딕"/>
                <a:ea typeface="맑은 고딕"/>
                <a:cs typeface="맑은 고딕"/>
              </a:rPr>
              <a:t>skew 축의 범위</a:t>
            </a:r>
          </a:p>
        </p:txBody>
      </p:sp>
      <p:sp>
        <p:nvSpPr>
          <p:cNvPr id="41" name="TextBox 40"/>
          <p:cNvSpPr txBox="1"/>
          <p:nvPr/>
        </p:nvSpPr>
        <p:spPr>
          <a:xfrm>
            <a:off x="7437120" y="5061204"/>
            <a:ext cx="4291584" cy="630936"/>
          </a:xfrm>
          <a:prstGeom prst="rect">
            <a:avLst/>
          </a:prstGeom>
          <a:noFill/>
        </p:spPr>
        <p:txBody>
          <a:bodyPr wrap="square" lIns="0" rIns="0" tIns="0" bIns="0" anchor="t">
            <a:noAutofit/>
          </a:bodyPr>
          <a:lstStyle/>
          <a:p>
            <a:pPr algn="l">
              <a:lnSpc>
                <a:spcPct val="115000"/>
              </a:lnSpc>
            </a:pPr>
            <a:r>
              <a:rPr sz="1300" b="0">
                <a:solidFill>
                  <a:srgbClr val="1A1A1A"/>
                </a:solidFill>
                <a:latin typeface="Malgun Gothic Semilight"/>
                <a:ea typeface="Malgun Gothic Semilight"/>
                <a:cs typeface="Malgun Gothic Semilight"/>
              </a:rPr>
              <a:t>공통 범위의 </a:t>
            </a:r>
            <a:r>
              <a:rPr sz="1300" b="1">
                <a:solidFill>
                  <a:srgbClr val="1A1A1A"/>
                </a:solidFill>
                <a:latin typeface="맑은 고딕"/>
                <a:ea typeface="맑은 고딕"/>
                <a:cs typeface="맑은 고딕"/>
              </a:rPr>
              <a:t>1/4 ~ 1/3</a:t>
            </a:r>
            <a:r>
              <a:rPr sz="1300" b="0">
                <a:solidFill>
                  <a:srgbClr val="1A1A1A"/>
                </a:solidFill>
                <a:latin typeface="Malgun Gothic Semilight"/>
                <a:ea typeface="Malgun Gothic Semilight"/>
                <a:cs typeface="Malgun Gothic Semilight"/>
              </a:rPr>
              <a:t> (Vth ±20 mV, 배율 ±0.075)</a:t>
            </a:r>
          </a:p>
          <a:p>
            <a:pPr algn="l">
              <a:lnSpc>
                <a:spcPct val="115000"/>
              </a:lnSpc>
            </a:pPr>
            <a:r>
              <a:rPr sz="1300" b="0">
                <a:solidFill>
                  <a:srgbClr val="1A1A1A"/>
                </a:solidFill>
                <a:latin typeface="Malgun Gothic Semilight"/>
                <a:ea typeface="Malgun Gothic Semilight"/>
                <a:cs typeface="Malgun Gothic Semilight"/>
              </a:rPr>
              <a:t>→ PD · PG가 함께 움직이는 정도(상관) 약 0.8 ~ 0.9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33172"/>
            <a:ext cx="11253216" cy="541782"/>
          </a:xfrm>
          <a:prstGeom prst="rect">
            <a:avLst/>
          </a:prstGeom>
          <a:noFill/>
        </p:spPr>
        <p:txBody>
          <a:bodyPr wrap="square" lIns="0" rIns="0" tIns="0" bIns="0" anchor="ctr">
            <a:noAutofit/>
          </a:bodyPr>
          <a:lstStyle/>
          <a:p>
            <a:pPr algn="l">
              <a:lnSpc>
                <a:spcPct val="110000"/>
              </a:lnSpc>
            </a:pPr>
            <a:r>
              <a:rPr sz="3000" b="1">
                <a:solidFill>
                  <a:srgbClr val="000000"/>
                </a:solidFill>
                <a:latin typeface="맑은 고딕"/>
                <a:ea typeface="맑은 고딕"/>
                <a:cs typeface="맑은 고딕"/>
              </a:rPr>
              <a:t>model 구성: GP와 ARD</a:t>
            </a:r>
          </a:p>
        </p:txBody>
      </p:sp>
      <p:sp>
        <p:nvSpPr>
          <p:cNvPr id="3" name="Rectangle 2"/>
          <p:cNvSpPr/>
          <p:nvPr/>
        </p:nvSpPr>
        <p:spPr>
          <a:xfrm>
            <a:off x="463296" y="887984"/>
            <a:ext cx="11265408" cy="48260"/>
          </a:xfrm>
          <a:prstGeom prst="rect">
            <a:avLst/>
          </a:prstGeom>
          <a:solidFill>
            <a:srgbClr val="E7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6720" y="6480810"/>
            <a:ext cx="182880" cy="205740"/>
          </a:xfrm>
          <a:prstGeom prst="rect">
            <a:avLst/>
          </a:prstGeom>
          <a:noFill/>
        </p:spPr>
        <p:txBody>
          <a:bodyPr wrap="square" lIns="0" rIns="0" tIns="0" bIns="0" anchor="t">
            <a:noAutofit/>
          </a:bodyPr>
          <a:lstStyle/>
          <a:p>
            <a:pPr algn="l">
              <a:lnSpc>
                <a:spcPct val="110000"/>
              </a:lnSpc>
            </a:pPr>
            <a:r>
              <a:rPr sz="1000" b="1">
                <a:solidFill>
                  <a:srgbClr val="44566A"/>
                </a:solidFill>
                <a:latin typeface="맑은 고딕"/>
                <a:ea typeface="맑은 고딕"/>
                <a:cs typeface="맑은 고딕"/>
              </a:rPr>
              <a:t>8</a:t>
            </a:r>
          </a:p>
        </p:txBody>
      </p:sp>
      <p:sp>
        <p:nvSpPr>
          <p:cNvPr id="5" name="TextBox 4"/>
          <p:cNvSpPr txBox="1"/>
          <p:nvPr/>
        </p:nvSpPr>
        <p:spPr>
          <a:xfrm>
            <a:off x="670560" y="6494526"/>
            <a:ext cx="9022080" cy="205740"/>
          </a:xfrm>
          <a:prstGeom prst="rect">
            <a:avLst/>
          </a:prstGeom>
          <a:noFill/>
        </p:spPr>
        <p:txBody>
          <a:bodyPr wrap="square" lIns="0" rIns="0" tIns="0" bIns="0" anchor="t">
            <a:noAutofit/>
          </a:bodyPr>
          <a:lstStyle/>
          <a:p>
            <a:pPr algn="l">
              <a:lnSpc>
                <a:spcPct val="110000"/>
              </a:lnSpc>
            </a:pPr>
            <a:r>
              <a:rPr sz="900" b="0">
                <a:solidFill>
                  <a:srgbClr val="4C5759"/>
                </a:solidFill>
                <a:latin typeface="Malgun Gothic Semilight"/>
                <a:ea typeface="Malgun Gothic Semilight"/>
                <a:cs typeface="Malgun Gothic Semilight"/>
              </a:rPr>
              <a:t>GP: Gaussian Process · ARD: Automatic Relevance Determination · 자세한 구성은 논문 참고</a:t>
            </a:r>
          </a:p>
        </p:txBody>
      </p:sp>
      <p:sp>
        <p:nvSpPr>
          <p:cNvPr id="6" name="TextBox 5"/>
          <p:cNvSpPr txBox="1"/>
          <p:nvPr/>
        </p:nvSpPr>
        <p:spPr>
          <a:xfrm>
            <a:off x="9265920" y="6487668"/>
            <a:ext cx="2462784" cy="205740"/>
          </a:xfrm>
          <a:prstGeom prst="rect">
            <a:avLst/>
          </a:prstGeom>
          <a:noFill/>
        </p:spPr>
        <p:txBody>
          <a:bodyPr wrap="square" lIns="0" rIns="0" tIns="0" bIns="0" anchor="t">
            <a:noAutofit/>
          </a:bodyPr>
          <a:lstStyle/>
          <a:p>
            <a:pPr algn="r">
              <a:lnSpc>
                <a:spcPct val="110000"/>
              </a:lnSpc>
            </a:pPr>
            <a:r>
              <a:rPr sz="900" b="0">
                <a:solidFill>
                  <a:srgbClr val="7F7F7F"/>
                </a:solidFill>
                <a:latin typeface="Malgun Gothic Semilight"/>
                <a:ea typeface="Malgun Gothic Semilight"/>
                <a:cs typeface="Malgun Gothic Semilight"/>
              </a:rPr>
              <a:t>SRAM Vmin 순·역방향 추정</a:t>
            </a:r>
          </a:p>
        </p:txBody>
      </p:sp>
      <p:sp>
        <p:nvSpPr>
          <p:cNvPr id="7" name="TextBox 6"/>
          <p:cNvSpPr txBox="1"/>
          <p:nvPr/>
        </p:nvSpPr>
        <p:spPr>
          <a:xfrm>
            <a:off x="463296" y="1097280"/>
            <a:ext cx="5437632" cy="480060"/>
          </a:xfrm>
          <a:prstGeom prst="rect">
            <a:avLst/>
          </a:prstGeom>
          <a:noFill/>
        </p:spPr>
        <p:txBody>
          <a:bodyPr wrap="square" lIns="0" rIns="0" tIns="0" bIns="0" anchor="ctr">
            <a:noAutofit/>
          </a:bodyPr>
          <a:lstStyle/>
          <a:p>
            <a:pPr algn="ctr">
              <a:lnSpc>
                <a:spcPct val="110000"/>
              </a:lnSpc>
            </a:pPr>
            <a:r>
              <a:rPr sz="2600" b="1">
                <a:solidFill>
                  <a:srgbClr val="1428A0"/>
                </a:solidFill>
                <a:latin typeface="맑은 고딕"/>
                <a:ea typeface="맑은 고딕"/>
                <a:cs typeface="맑은 고딕"/>
              </a:rPr>
              <a:t>GP</a:t>
            </a:r>
          </a:p>
        </p:txBody>
      </p:sp>
      <p:sp>
        <p:nvSpPr>
          <p:cNvPr id="8" name="Rectangle 7"/>
          <p:cNvSpPr/>
          <p:nvPr/>
        </p:nvSpPr>
        <p:spPr>
          <a:xfrm>
            <a:off x="2292096" y="1603692"/>
            <a:ext cx="1780032" cy="15875"/>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6_gp.png"/>
          <p:cNvPicPr>
            <a:picLocks noChangeAspect="1"/>
          </p:cNvPicPr>
          <p:nvPr/>
        </p:nvPicPr>
        <p:blipFill>
          <a:blip r:embed="rId3"/>
          <a:stretch>
            <a:fillRect/>
          </a:stretch>
        </p:blipFill>
        <p:spPr>
          <a:xfrm>
            <a:off x="946619" y="1851660"/>
            <a:ext cx="4470985" cy="3017520"/>
          </a:xfrm>
          <a:prstGeom prst="rect">
            <a:avLst/>
          </a:prstGeom>
        </p:spPr>
      </p:pic>
      <p:sp>
        <p:nvSpPr>
          <p:cNvPr id="10" name="TextBox 9"/>
          <p:cNvSpPr txBox="1"/>
          <p:nvPr/>
        </p:nvSpPr>
        <p:spPr>
          <a:xfrm>
            <a:off x="463296" y="5074920"/>
            <a:ext cx="5437632" cy="685800"/>
          </a:xfrm>
          <a:prstGeom prst="rect">
            <a:avLst/>
          </a:prstGeom>
          <a:noFill/>
        </p:spPr>
        <p:txBody>
          <a:bodyPr wrap="square" lIns="0" rIns="0" tIns="0" bIns="0" anchor="t">
            <a:noAutofit/>
          </a:bodyPr>
          <a:lstStyle/>
          <a:p>
            <a:pPr algn="ctr">
              <a:lnSpc>
                <a:spcPct val="115000"/>
              </a:lnSpc>
            </a:pPr>
            <a:r>
              <a:rPr sz="1800" b="1">
                <a:solidFill>
                  <a:srgbClr val="1A1A1A"/>
                </a:solidFill>
                <a:latin typeface="맑은 고딕"/>
                <a:ea typeface="맑은 고딕"/>
                <a:cs typeface="맑은 고딕"/>
              </a:rPr>
              <a:t>수행한 조건 사이를 매끄럽게 메워</a:t>
            </a:r>
          </a:p>
          <a:p>
            <a:pPr algn="ctr">
              <a:lnSpc>
                <a:spcPct val="115000"/>
              </a:lnSpc>
            </a:pPr>
            <a:r>
              <a:rPr sz="1800" b="1">
                <a:solidFill>
                  <a:srgbClr val="1A1A1A"/>
                </a:solidFill>
                <a:latin typeface="맑은 고딕"/>
                <a:ea typeface="맑은 고딕"/>
                <a:cs typeface="맑은 고딕"/>
              </a:rPr>
              <a:t>수행하지 않은 조건을 추정한다</a:t>
            </a:r>
          </a:p>
        </p:txBody>
      </p:sp>
      <p:sp>
        <p:nvSpPr>
          <p:cNvPr id="11" name="TextBox 10"/>
          <p:cNvSpPr txBox="1"/>
          <p:nvPr/>
        </p:nvSpPr>
        <p:spPr>
          <a:xfrm>
            <a:off x="6266688" y="1097280"/>
            <a:ext cx="5437632" cy="480060"/>
          </a:xfrm>
          <a:prstGeom prst="rect">
            <a:avLst/>
          </a:prstGeom>
          <a:noFill/>
        </p:spPr>
        <p:txBody>
          <a:bodyPr wrap="square" lIns="0" rIns="0" tIns="0" bIns="0" anchor="ctr">
            <a:noAutofit/>
          </a:bodyPr>
          <a:lstStyle/>
          <a:p>
            <a:pPr algn="ctr">
              <a:lnSpc>
                <a:spcPct val="110000"/>
              </a:lnSpc>
            </a:pPr>
            <a:r>
              <a:rPr sz="2600" b="1">
                <a:solidFill>
                  <a:srgbClr val="1428A0"/>
                </a:solidFill>
                <a:latin typeface="맑은 고딕"/>
                <a:ea typeface="맑은 고딕"/>
                <a:cs typeface="맑은 고딕"/>
              </a:rPr>
              <a:t>ARD</a:t>
            </a:r>
          </a:p>
        </p:txBody>
      </p:sp>
      <p:sp>
        <p:nvSpPr>
          <p:cNvPr id="12" name="Rectangle 11"/>
          <p:cNvSpPr/>
          <p:nvPr/>
        </p:nvSpPr>
        <p:spPr>
          <a:xfrm>
            <a:off x="8095488" y="1603692"/>
            <a:ext cx="1780032" cy="15875"/>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6_ard.png"/>
          <p:cNvPicPr>
            <a:picLocks noChangeAspect="1"/>
          </p:cNvPicPr>
          <p:nvPr/>
        </p:nvPicPr>
        <p:blipFill>
          <a:blip r:embed="rId4"/>
          <a:stretch>
            <a:fillRect/>
          </a:stretch>
        </p:blipFill>
        <p:spPr>
          <a:xfrm>
            <a:off x="6750011" y="1851660"/>
            <a:ext cx="4470985" cy="3017520"/>
          </a:xfrm>
          <a:prstGeom prst="rect">
            <a:avLst/>
          </a:prstGeom>
        </p:spPr>
      </p:pic>
      <p:sp>
        <p:nvSpPr>
          <p:cNvPr id="14" name="TextBox 13"/>
          <p:cNvSpPr txBox="1"/>
          <p:nvPr/>
        </p:nvSpPr>
        <p:spPr>
          <a:xfrm>
            <a:off x="6266688" y="5074920"/>
            <a:ext cx="5437632" cy="685800"/>
          </a:xfrm>
          <a:prstGeom prst="rect">
            <a:avLst/>
          </a:prstGeom>
          <a:noFill/>
        </p:spPr>
        <p:txBody>
          <a:bodyPr wrap="square" lIns="0" rIns="0" tIns="0" bIns="0" anchor="t">
            <a:noAutofit/>
          </a:bodyPr>
          <a:lstStyle/>
          <a:p>
            <a:pPr algn="ctr">
              <a:lnSpc>
                <a:spcPct val="115000"/>
              </a:lnSpc>
            </a:pPr>
            <a:r>
              <a:rPr sz="1800" b="1">
                <a:solidFill>
                  <a:srgbClr val="1A1A1A"/>
                </a:solidFill>
                <a:latin typeface="맑은 고딕"/>
                <a:ea typeface="맑은 고딕"/>
                <a:cs typeface="맑은 고딕"/>
              </a:rPr>
              <a:t>knob마다 값을 흔드는 정도를</a:t>
            </a:r>
          </a:p>
          <a:p>
            <a:pPr algn="ctr">
              <a:lnSpc>
                <a:spcPct val="115000"/>
              </a:lnSpc>
            </a:pPr>
            <a:r>
              <a:rPr sz="1800" b="1">
                <a:solidFill>
                  <a:srgbClr val="1A1A1A"/>
                </a:solidFill>
                <a:latin typeface="맑은 고딕"/>
                <a:ea typeface="맑은 고딕"/>
                <a:cs typeface="맑은 고딕"/>
              </a:rPr>
              <a:t>따로 학습한다</a:t>
            </a:r>
          </a:p>
        </p:txBody>
      </p:sp>
      <p:sp>
        <p:nvSpPr>
          <p:cNvPr id="15" name="Rectangle 14"/>
          <p:cNvSpPr/>
          <p:nvPr/>
        </p:nvSpPr>
        <p:spPr>
          <a:xfrm>
            <a:off x="6079046" y="1097280"/>
            <a:ext cx="9525" cy="48006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33172"/>
            <a:ext cx="11253216" cy="541782"/>
          </a:xfrm>
          <a:prstGeom prst="rect">
            <a:avLst/>
          </a:prstGeom>
          <a:noFill/>
        </p:spPr>
        <p:txBody>
          <a:bodyPr wrap="square" lIns="0" rIns="0" tIns="0" bIns="0" anchor="ctr">
            <a:noAutofit/>
          </a:bodyPr>
          <a:lstStyle/>
          <a:p>
            <a:pPr algn="l">
              <a:lnSpc>
                <a:spcPct val="110000"/>
              </a:lnSpc>
            </a:pPr>
            <a:r>
              <a:rPr sz="3000" b="1">
                <a:solidFill>
                  <a:srgbClr val="000000"/>
                </a:solidFill>
                <a:latin typeface="맑은 고딕"/>
                <a:ea typeface="맑은 고딕"/>
                <a:cs typeface="맑은 고딕"/>
              </a:rPr>
              <a:t>검증: 기존 Monte Carlo 대비 Vmin 추정 정확도</a:t>
            </a:r>
          </a:p>
        </p:txBody>
      </p:sp>
      <p:sp>
        <p:nvSpPr>
          <p:cNvPr id="3" name="Rectangle 2"/>
          <p:cNvSpPr/>
          <p:nvPr/>
        </p:nvSpPr>
        <p:spPr>
          <a:xfrm>
            <a:off x="463296" y="887984"/>
            <a:ext cx="11265408" cy="48260"/>
          </a:xfrm>
          <a:prstGeom prst="rect">
            <a:avLst/>
          </a:prstGeom>
          <a:solidFill>
            <a:srgbClr val="E7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6720" y="6480810"/>
            <a:ext cx="182880" cy="205740"/>
          </a:xfrm>
          <a:prstGeom prst="rect">
            <a:avLst/>
          </a:prstGeom>
          <a:noFill/>
        </p:spPr>
        <p:txBody>
          <a:bodyPr wrap="square" lIns="0" rIns="0" tIns="0" bIns="0" anchor="t">
            <a:noAutofit/>
          </a:bodyPr>
          <a:lstStyle/>
          <a:p>
            <a:pPr algn="l">
              <a:lnSpc>
                <a:spcPct val="110000"/>
              </a:lnSpc>
            </a:pPr>
            <a:r>
              <a:rPr sz="1000" b="1">
                <a:solidFill>
                  <a:srgbClr val="44566A"/>
                </a:solidFill>
                <a:latin typeface="맑은 고딕"/>
                <a:ea typeface="맑은 고딕"/>
                <a:cs typeface="맑은 고딕"/>
              </a:rPr>
              <a:t>9</a:t>
            </a:r>
          </a:p>
        </p:txBody>
      </p:sp>
      <p:sp>
        <p:nvSpPr>
          <p:cNvPr id="5" name="TextBox 4"/>
          <p:cNvSpPr txBox="1"/>
          <p:nvPr/>
        </p:nvSpPr>
        <p:spPr>
          <a:xfrm>
            <a:off x="670560" y="6494526"/>
            <a:ext cx="9022080" cy="205740"/>
          </a:xfrm>
          <a:prstGeom prst="rect">
            <a:avLst/>
          </a:prstGeom>
          <a:noFill/>
        </p:spPr>
        <p:txBody>
          <a:bodyPr wrap="square" lIns="0" rIns="0" tIns="0" bIns="0" anchor="t">
            <a:noAutofit/>
          </a:bodyPr>
          <a:lstStyle/>
          <a:p>
            <a:pPr algn="l">
              <a:lnSpc>
                <a:spcPct val="110000"/>
              </a:lnSpc>
            </a:pPr>
            <a:r>
              <a:rPr sz="900" b="0">
                <a:solidFill>
                  <a:srgbClr val="4C5759"/>
                </a:solidFill>
                <a:latin typeface="Malgun Gothic Semilight"/>
                <a:ea typeface="Malgun Gothic Semilight"/>
                <a:cs typeface="Malgun Gothic Semilight"/>
              </a:rPr>
              <a:t>silicon 측정이 아닌, 같은 조건에서 수행한 기존 Monte Carlo simulation 결과와 비교 · 학습에 쓰지 않은 300개 조건 중 Vmin이 VDD 범위 안에 있는 조건</a:t>
            </a:r>
          </a:p>
        </p:txBody>
      </p:sp>
      <p:sp>
        <p:nvSpPr>
          <p:cNvPr id="6" name="TextBox 5"/>
          <p:cNvSpPr txBox="1"/>
          <p:nvPr/>
        </p:nvSpPr>
        <p:spPr>
          <a:xfrm>
            <a:off x="9265920" y="6487668"/>
            <a:ext cx="2462784" cy="205740"/>
          </a:xfrm>
          <a:prstGeom prst="rect">
            <a:avLst/>
          </a:prstGeom>
          <a:noFill/>
        </p:spPr>
        <p:txBody>
          <a:bodyPr wrap="square" lIns="0" rIns="0" tIns="0" bIns="0" anchor="t">
            <a:noAutofit/>
          </a:bodyPr>
          <a:lstStyle/>
          <a:p>
            <a:pPr algn="r">
              <a:lnSpc>
                <a:spcPct val="110000"/>
              </a:lnSpc>
            </a:pPr>
            <a:r>
              <a:rPr sz="900" b="0">
                <a:solidFill>
                  <a:srgbClr val="7F7F7F"/>
                </a:solidFill>
                <a:latin typeface="Malgun Gothic Semilight"/>
                <a:ea typeface="Malgun Gothic Semilight"/>
                <a:cs typeface="Malgun Gothic Semilight"/>
              </a:rPr>
              <a:t>SRAM Vmin 순·역방향 추정</a:t>
            </a:r>
          </a:p>
        </p:txBody>
      </p:sp>
      <p:sp>
        <p:nvSpPr>
          <p:cNvPr id="7" name="TextBox 6"/>
          <p:cNvSpPr txBox="1"/>
          <p:nvPr/>
        </p:nvSpPr>
        <p:spPr>
          <a:xfrm>
            <a:off x="463296" y="1062990"/>
            <a:ext cx="7376160" cy="342900"/>
          </a:xfrm>
          <a:prstGeom prst="rect">
            <a:avLst/>
          </a:prstGeom>
          <a:noFill/>
        </p:spPr>
        <p:txBody>
          <a:bodyPr wrap="square" lIns="0" rIns="0" tIns="0" bIns="0" anchor="ctr">
            <a:noAutofit/>
          </a:bodyPr>
          <a:lstStyle/>
          <a:p>
            <a:pPr algn="ctr">
              <a:lnSpc>
                <a:spcPct val="110000"/>
              </a:lnSpc>
            </a:pPr>
            <a:r>
              <a:rPr sz="1500" b="1">
                <a:solidFill>
                  <a:srgbClr val="7F7F7F"/>
                </a:solidFill>
                <a:latin typeface="맑은 고딕"/>
                <a:ea typeface="맑은 고딕"/>
                <a:cs typeface="맑은 고딕"/>
              </a:rPr>
              <a:t>기존 Monte Carlo simulation  vs  </a:t>
            </a:r>
            <a:r>
              <a:rPr sz="1500" b="1">
                <a:solidFill>
                  <a:srgbClr val="1428A0"/>
                </a:solidFill>
                <a:latin typeface="맑은 고딕"/>
                <a:ea typeface="맑은 고딕"/>
                <a:cs typeface="맑은 고딕"/>
              </a:rPr>
              <a:t>제안 model</a:t>
            </a:r>
          </a:p>
        </p:txBody>
      </p:sp>
      <p:pic>
        <p:nvPicPr>
          <p:cNvPr id="8" name="Picture 7" descr="forward_accuracy.png"/>
          <p:cNvPicPr>
            <a:picLocks noChangeAspect="1"/>
          </p:cNvPicPr>
          <p:nvPr/>
        </p:nvPicPr>
        <p:blipFill>
          <a:blip r:embed="rId3"/>
          <a:stretch>
            <a:fillRect/>
          </a:stretch>
        </p:blipFill>
        <p:spPr>
          <a:xfrm>
            <a:off x="463296" y="1508760"/>
            <a:ext cx="7376160" cy="3682512"/>
          </a:xfrm>
          <a:prstGeom prst="rect">
            <a:avLst/>
          </a:prstGeom>
        </p:spPr>
      </p:pic>
      <p:sp>
        <p:nvSpPr>
          <p:cNvPr id="9" name="TextBox 8"/>
          <p:cNvSpPr txBox="1"/>
          <p:nvPr/>
        </p:nvSpPr>
        <p:spPr>
          <a:xfrm>
            <a:off x="475488" y="5486400"/>
            <a:ext cx="7315200" cy="274320"/>
          </a:xfrm>
          <a:prstGeom prst="rect">
            <a:avLst/>
          </a:prstGeom>
          <a:noFill/>
        </p:spPr>
        <p:txBody>
          <a:bodyPr wrap="square" lIns="0" rIns="0" tIns="0" bIns="0" anchor="t">
            <a:noAutofit/>
          </a:bodyPr>
          <a:lstStyle/>
          <a:p>
            <a:pPr algn="l">
              <a:lnSpc>
                <a:spcPct val="110000"/>
              </a:lnSpc>
            </a:pPr>
            <a:r>
              <a:rPr sz="1300" b="0">
                <a:solidFill>
                  <a:srgbClr val="7F7F7F"/>
                </a:solidFill>
                <a:latin typeface="Malgun Gothic Semilight"/>
                <a:ea typeface="Malgun Gothic Semilight"/>
                <a:cs typeface="Malgun Gothic Semilight"/>
              </a:rPr>
              <a:t>점이 대각선에 붙을수록 정확하다 (회색 띠 ±10 mV)</a:t>
            </a:r>
          </a:p>
        </p:txBody>
      </p:sp>
      <p:sp>
        <p:nvSpPr>
          <p:cNvPr id="10" name="TextBox 9"/>
          <p:cNvSpPr txBox="1"/>
          <p:nvPr/>
        </p:nvSpPr>
        <p:spPr>
          <a:xfrm>
            <a:off x="8229600" y="1165860"/>
            <a:ext cx="3499104" cy="274320"/>
          </a:xfrm>
          <a:prstGeom prst="rect">
            <a:avLst/>
          </a:prstGeom>
          <a:noFill/>
        </p:spPr>
        <p:txBody>
          <a:bodyPr wrap="square" lIns="0" rIns="0" tIns="0" bIns="0" anchor="t">
            <a:noAutofit/>
          </a:bodyPr>
          <a:lstStyle/>
          <a:p>
            <a:pPr algn="l">
              <a:lnSpc>
                <a:spcPct val="110000"/>
              </a:lnSpc>
            </a:pPr>
            <a:r>
              <a:rPr sz="1400" b="1">
                <a:solidFill>
                  <a:srgbClr val="1A1A1A"/>
                </a:solidFill>
                <a:latin typeface="맑은 고딕"/>
                <a:ea typeface="맑은 고딕"/>
                <a:cs typeface="맑은 고딕"/>
              </a:rPr>
              <a:t>학습에 없던 조건 · Vmin 오차 (RMSE)</a:t>
            </a:r>
          </a:p>
        </p:txBody>
      </p:sp>
      <p:sp>
        <p:nvSpPr>
          <p:cNvPr id="11" name="TextBox 10"/>
          <p:cNvSpPr txBox="1"/>
          <p:nvPr/>
        </p:nvSpPr>
        <p:spPr>
          <a:xfrm>
            <a:off x="8229600" y="1508760"/>
            <a:ext cx="1743456" cy="548640"/>
          </a:xfrm>
          <a:prstGeom prst="rect">
            <a:avLst/>
          </a:prstGeom>
          <a:noFill/>
        </p:spPr>
        <p:txBody>
          <a:bodyPr wrap="square" lIns="0" rIns="0" tIns="0" bIns="0" anchor="t">
            <a:noAutofit/>
          </a:bodyPr>
          <a:lstStyle/>
          <a:p>
            <a:pPr algn="ctr">
              <a:lnSpc>
                <a:spcPct val="110000"/>
              </a:lnSpc>
            </a:pPr>
            <a:r>
              <a:rPr sz="3000" b="1">
                <a:solidFill>
                  <a:srgbClr val="1428A0"/>
                </a:solidFill>
                <a:latin typeface="맑은 고딕"/>
                <a:ea typeface="맑은 고딕"/>
                <a:cs typeface="맑은 고딕"/>
              </a:rPr>
              <a:t>3.98</a:t>
            </a:r>
            <a:r>
              <a:rPr sz="1800">
                <a:solidFill>
                  <a:srgbClr val="1428A0"/>
                </a:solidFill>
                <a:latin typeface="Malgun Gothic Semilight"/>
                <a:ea typeface="Malgun Gothic Semilight"/>
                <a:cs typeface="Malgun Gothic Semilight"/>
              </a:rPr>
              <a:t> mV</a:t>
            </a:r>
          </a:p>
        </p:txBody>
      </p:sp>
      <p:sp>
        <p:nvSpPr>
          <p:cNvPr id="12" name="TextBox 11"/>
          <p:cNvSpPr txBox="1"/>
          <p:nvPr/>
        </p:nvSpPr>
        <p:spPr>
          <a:xfrm>
            <a:off x="8229600" y="2098548"/>
            <a:ext cx="1743456" cy="240030"/>
          </a:xfrm>
          <a:prstGeom prst="rect">
            <a:avLst/>
          </a:prstGeom>
          <a:noFill/>
        </p:spPr>
        <p:txBody>
          <a:bodyPr wrap="square" lIns="0" rIns="0" tIns="0" bIns="0" anchor="t">
            <a:noAutofit/>
          </a:bodyPr>
          <a:lstStyle/>
          <a:p>
            <a:pPr algn="ctr">
              <a:lnSpc>
                <a:spcPct val="110000"/>
              </a:lnSpc>
            </a:pPr>
            <a:r>
              <a:rPr sz="1200" b="0">
                <a:solidFill>
                  <a:srgbClr val="7F7F7F"/>
                </a:solidFill>
                <a:latin typeface="Malgun Gothic Semilight"/>
                <a:ea typeface="Malgun Gothic Semilight"/>
                <a:cs typeface="Malgun Gothic Semilight"/>
              </a:rPr>
              <a:t>read</a:t>
            </a:r>
          </a:p>
        </p:txBody>
      </p:sp>
      <p:sp>
        <p:nvSpPr>
          <p:cNvPr id="13" name="TextBox 12"/>
          <p:cNvSpPr txBox="1"/>
          <p:nvPr/>
        </p:nvSpPr>
        <p:spPr>
          <a:xfrm>
            <a:off x="9985248" y="1508760"/>
            <a:ext cx="1743456" cy="548640"/>
          </a:xfrm>
          <a:prstGeom prst="rect">
            <a:avLst/>
          </a:prstGeom>
          <a:noFill/>
        </p:spPr>
        <p:txBody>
          <a:bodyPr wrap="square" lIns="0" rIns="0" tIns="0" bIns="0" anchor="t">
            <a:noAutofit/>
          </a:bodyPr>
          <a:lstStyle/>
          <a:p>
            <a:pPr algn="ctr">
              <a:lnSpc>
                <a:spcPct val="110000"/>
              </a:lnSpc>
            </a:pPr>
            <a:r>
              <a:rPr sz="3000" b="1">
                <a:solidFill>
                  <a:srgbClr val="1428A0"/>
                </a:solidFill>
                <a:latin typeface="맑은 고딕"/>
                <a:ea typeface="맑은 고딕"/>
                <a:cs typeface="맑은 고딕"/>
              </a:rPr>
              <a:t>5.65</a:t>
            </a:r>
            <a:r>
              <a:rPr sz="1800">
                <a:solidFill>
                  <a:srgbClr val="1428A0"/>
                </a:solidFill>
                <a:latin typeface="Malgun Gothic Semilight"/>
                <a:ea typeface="Malgun Gothic Semilight"/>
                <a:cs typeface="Malgun Gothic Semilight"/>
              </a:rPr>
              <a:t> mV</a:t>
            </a:r>
          </a:p>
        </p:txBody>
      </p:sp>
      <p:sp>
        <p:nvSpPr>
          <p:cNvPr id="14" name="TextBox 13"/>
          <p:cNvSpPr txBox="1"/>
          <p:nvPr/>
        </p:nvSpPr>
        <p:spPr>
          <a:xfrm>
            <a:off x="9985248" y="2098548"/>
            <a:ext cx="1743456" cy="240030"/>
          </a:xfrm>
          <a:prstGeom prst="rect">
            <a:avLst/>
          </a:prstGeom>
          <a:noFill/>
        </p:spPr>
        <p:txBody>
          <a:bodyPr wrap="square" lIns="0" rIns="0" tIns="0" bIns="0" anchor="t">
            <a:noAutofit/>
          </a:bodyPr>
          <a:lstStyle/>
          <a:p>
            <a:pPr algn="ctr">
              <a:lnSpc>
                <a:spcPct val="110000"/>
              </a:lnSpc>
            </a:pPr>
            <a:r>
              <a:rPr sz="1200" b="0">
                <a:solidFill>
                  <a:srgbClr val="7F7F7F"/>
                </a:solidFill>
                <a:latin typeface="Malgun Gothic Semilight"/>
                <a:ea typeface="Malgun Gothic Semilight"/>
                <a:cs typeface="Malgun Gothic Semilight"/>
              </a:rPr>
              <a:t>write</a:t>
            </a:r>
          </a:p>
        </p:txBody>
      </p:sp>
      <p:sp>
        <p:nvSpPr>
          <p:cNvPr id="15" name="Rectangle 14"/>
          <p:cNvSpPr/>
          <p:nvPr/>
        </p:nvSpPr>
        <p:spPr>
          <a:xfrm>
            <a:off x="9974389" y="1543050"/>
            <a:ext cx="9525" cy="6858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2566988"/>
            <a:ext cx="349910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2743200"/>
            <a:ext cx="3499104" cy="274320"/>
          </a:xfrm>
          <a:prstGeom prst="rect">
            <a:avLst/>
          </a:prstGeom>
          <a:noFill/>
        </p:spPr>
        <p:txBody>
          <a:bodyPr wrap="square" lIns="0" rIns="0" tIns="0" bIns="0" anchor="t">
            <a:noAutofit/>
          </a:bodyPr>
          <a:lstStyle/>
          <a:p>
            <a:pPr algn="l">
              <a:lnSpc>
                <a:spcPct val="110000"/>
              </a:lnSpc>
            </a:pPr>
            <a:r>
              <a:rPr sz="1400" b="1">
                <a:solidFill>
                  <a:srgbClr val="1A1A1A"/>
                </a:solidFill>
                <a:latin typeface="맑은 고딕"/>
                <a:ea typeface="맑은 고딕"/>
                <a:cs typeface="맑은 고딕"/>
              </a:rPr>
              <a:t>학습에서 뺀 PDK corner · RMSE</a:t>
            </a:r>
          </a:p>
        </p:txBody>
      </p:sp>
      <p:sp>
        <p:nvSpPr>
          <p:cNvPr id="18" name="TextBox 17"/>
          <p:cNvSpPr txBox="1"/>
          <p:nvPr/>
        </p:nvSpPr>
        <p:spPr>
          <a:xfrm>
            <a:off x="8229600" y="3086100"/>
            <a:ext cx="1743456" cy="548640"/>
          </a:xfrm>
          <a:prstGeom prst="rect">
            <a:avLst/>
          </a:prstGeom>
          <a:noFill/>
        </p:spPr>
        <p:txBody>
          <a:bodyPr wrap="square" lIns="0" rIns="0" tIns="0" bIns="0" anchor="t">
            <a:noAutofit/>
          </a:bodyPr>
          <a:lstStyle/>
          <a:p>
            <a:pPr algn="ctr">
              <a:lnSpc>
                <a:spcPct val="110000"/>
              </a:lnSpc>
            </a:pPr>
            <a:r>
              <a:rPr sz="3000" b="1">
                <a:solidFill>
                  <a:srgbClr val="1428A0"/>
                </a:solidFill>
                <a:latin typeface="맑은 고딕"/>
                <a:ea typeface="맑은 고딕"/>
                <a:cs typeface="맑은 고딕"/>
              </a:rPr>
              <a:t>8.5</a:t>
            </a:r>
            <a:r>
              <a:rPr sz="1800">
                <a:solidFill>
                  <a:srgbClr val="1428A0"/>
                </a:solidFill>
                <a:latin typeface="Malgun Gothic Semilight"/>
                <a:ea typeface="Malgun Gothic Semilight"/>
                <a:cs typeface="Malgun Gothic Semilight"/>
              </a:rPr>
              <a:t> mV</a:t>
            </a:r>
          </a:p>
        </p:txBody>
      </p:sp>
      <p:sp>
        <p:nvSpPr>
          <p:cNvPr id="19" name="TextBox 18"/>
          <p:cNvSpPr txBox="1"/>
          <p:nvPr/>
        </p:nvSpPr>
        <p:spPr>
          <a:xfrm>
            <a:off x="8229600" y="3675888"/>
            <a:ext cx="1743456" cy="240030"/>
          </a:xfrm>
          <a:prstGeom prst="rect">
            <a:avLst/>
          </a:prstGeom>
          <a:noFill/>
        </p:spPr>
        <p:txBody>
          <a:bodyPr wrap="square" lIns="0" rIns="0" tIns="0" bIns="0" anchor="t">
            <a:noAutofit/>
          </a:bodyPr>
          <a:lstStyle/>
          <a:p>
            <a:pPr algn="ctr">
              <a:lnSpc>
                <a:spcPct val="110000"/>
              </a:lnSpc>
            </a:pPr>
            <a:r>
              <a:rPr sz="1200" b="0">
                <a:solidFill>
                  <a:srgbClr val="7F7F7F"/>
                </a:solidFill>
                <a:latin typeface="Malgun Gothic Semilight"/>
                <a:ea typeface="Malgun Gothic Semilight"/>
                <a:cs typeface="Malgun Gothic Semilight"/>
              </a:rPr>
              <a:t>read</a:t>
            </a:r>
          </a:p>
        </p:txBody>
      </p:sp>
      <p:sp>
        <p:nvSpPr>
          <p:cNvPr id="20" name="TextBox 19"/>
          <p:cNvSpPr txBox="1"/>
          <p:nvPr/>
        </p:nvSpPr>
        <p:spPr>
          <a:xfrm>
            <a:off x="9985248" y="3086100"/>
            <a:ext cx="1743456" cy="548640"/>
          </a:xfrm>
          <a:prstGeom prst="rect">
            <a:avLst/>
          </a:prstGeom>
          <a:noFill/>
        </p:spPr>
        <p:txBody>
          <a:bodyPr wrap="square" lIns="0" rIns="0" tIns="0" bIns="0" anchor="t">
            <a:noAutofit/>
          </a:bodyPr>
          <a:lstStyle/>
          <a:p>
            <a:pPr algn="ctr">
              <a:lnSpc>
                <a:spcPct val="110000"/>
              </a:lnSpc>
            </a:pPr>
            <a:r>
              <a:rPr sz="3000" b="1">
                <a:solidFill>
                  <a:srgbClr val="1428A0"/>
                </a:solidFill>
                <a:latin typeface="맑은 고딕"/>
                <a:ea typeface="맑은 고딕"/>
                <a:cs typeface="맑은 고딕"/>
              </a:rPr>
              <a:t>5.8</a:t>
            </a:r>
            <a:r>
              <a:rPr sz="1800">
                <a:solidFill>
                  <a:srgbClr val="1428A0"/>
                </a:solidFill>
                <a:latin typeface="Malgun Gothic Semilight"/>
                <a:ea typeface="Malgun Gothic Semilight"/>
                <a:cs typeface="Malgun Gothic Semilight"/>
              </a:rPr>
              <a:t> mV</a:t>
            </a:r>
          </a:p>
        </p:txBody>
      </p:sp>
      <p:sp>
        <p:nvSpPr>
          <p:cNvPr id="21" name="TextBox 20"/>
          <p:cNvSpPr txBox="1"/>
          <p:nvPr/>
        </p:nvSpPr>
        <p:spPr>
          <a:xfrm>
            <a:off x="9985248" y="3675888"/>
            <a:ext cx="1743456" cy="240030"/>
          </a:xfrm>
          <a:prstGeom prst="rect">
            <a:avLst/>
          </a:prstGeom>
          <a:noFill/>
        </p:spPr>
        <p:txBody>
          <a:bodyPr wrap="square" lIns="0" rIns="0" tIns="0" bIns="0" anchor="t">
            <a:noAutofit/>
          </a:bodyPr>
          <a:lstStyle/>
          <a:p>
            <a:pPr algn="ctr">
              <a:lnSpc>
                <a:spcPct val="110000"/>
              </a:lnSpc>
            </a:pPr>
            <a:r>
              <a:rPr sz="1200" b="0">
                <a:solidFill>
                  <a:srgbClr val="7F7F7F"/>
                </a:solidFill>
                <a:latin typeface="Malgun Gothic Semilight"/>
                <a:ea typeface="Malgun Gothic Semilight"/>
                <a:cs typeface="Malgun Gothic Semilight"/>
              </a:rPr>
              <a:t>write</a:t>
            </a:r>
          </a:p>
        </p:txBody>
      </p:sp>
      <p:sp>
        <p:nvSpPr>
          <p:cNvPr id="22" name="Rectangle 21"/>
          <p:cNvSpPr/>
          <p:nvPr/>
        </p:nvSpPr>
        <p:spPr>
          <a:xfrm>
            <a:off x="9974389" y="3120390"/>
            <a:ext cx="9525" cy="6858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0" y="4144328"/>
            <a:ext cx="349910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4320540"/>
            <a:ext cx="3499104" cy="274320"/>
          </a:xfrm>
          <a:prstGeom prst="rect">
            <a:avLst/>
          </a:prstGeom>
          <a:noFill/>
        </p:spPr>
        <p:txBody>
          <a:bodyPr wrap="square" lIns="0" rIns="0" tIns="0" bIns="0" anchor="t">
            <a:noAutofit/>
          </a:bodyPr>
          <a:lstStyle/>
          <a:p>
            <a:pPr algn="l">
              <a:lnSpc>
                <a:spcPct val="110000"/>
              </a:lnSpc>
            </a:pPr>
            <a:r>
              <a:rPr sz="1400" b="1">
                <a:solidFill>
                  <a:srgbClr val="1A1A1A"/>
                </a:solidFill>
                <a:latin typeface="맑은 고딕"/>
                <a:ea typeface="맑은 고딕"/>
                <a:cs typeface="맑은 고딕"/>
              </a:rPr>
              <a:t>Read worst · Write worst</a:t>
            </a:r>
          </a:p>
        </p:txBody>
      </p:sp>
      <p:sp>
        <p:nvSpPr>
          <p:cNvPr id="25" name="TextBox 24"/>
          <p:cNvSpPr txBox="1"/>
          <p:nvPr/>
        </p:nvSpPr>
        <p:spPr>
          <a:xfrm>
            <a:off x="8229600" y="4663440"/>
            <a:ext cx="1743456" cy="548640"/>
          </a:xfrm>
          <a:prstGeom prst="rect">
            <a:avLst/>
          </a:prstGeom>
          <a:noFill/>
        </p:spPr>
        <p:txBody>
          <a:bodyPr wrap="square" lIns="0" rIns="0" tIns="0" bIns="0" anchor="t">
            <a:noAutofit/>
          </a:bodyPr>
          <a:lstStyle/>
          <a:p>
            <a:pPr algn="ctr">
              <a:lnSpc>
                <a:spcPct val="110000"/>
              </a:lnSpc>
            </a:pPr>
            <a:r>
              <a:rPr sz="2400" b="1">
                <a:solidFill>
                  <a:srgbClr val="1428A0"/>
                </a:solidFill>
                <a:latin typeface="맑은 고딕"/>
                <a:ea typeface="맑은 고딕"/>
                <a:cs typeface="맑은 고딕"/>
              </a:rPr>
              <a:t>FSG ✓</a:t>
            </a:r>
            <a:r>
              <a:rPr sz="1800">
                <a:solidFill>
                  <a:srgbClr val="1428A0"/>
                </a:solidFill>
                <a:latin typeface="Malgun Gothic Semilight"/>
                <a:ea typeface="Malgun Gothic Semilight"/>
                <a:cs typeface="Malgun Gothic Semilight"/>
              </a:rPr>
              <a:t> </a:t>
            </a:r>
          </a:p>
        </p:txBody>
      </p:sp>
      <p:sp>
        <p:nvSpPr>
          <p:cNvPr id="26" name="TextBox 25"/>
          <p:cNvSpPr txBox="1"/>
          <p:nvPr/>
        </p:nvSpPr>
        <p:spPr>
          <a:xfrm>
            <a:off x="8229600" y="5253228"/>
            <a:ext cx="1743456" cy="240030"/>
          </a:xfrm>
          <a:prstGeom prst="rect">
            <a:avLst/>
          </a:prstGeom>
          <a:noFill/>
        </p:spPr>
        <p:txBody>
          <a:bodyPr wrap="square" lIns="0" rIns="0" tIns="0" bIns="0" anchor="t">
            <a:noAutofit/>
          </a:bodyPr>
          <a:lstStyle/>
          <a:p>
            <a:pPr algn="ctr">
              <a:lnSpc>
                <a:spcPct val="110000"/>
              </a:lnSpc>
            </a:pPr>
            <a:r>
              <a:rPr sz="1200" b="0">
                <a:solidFill>
                  <a:srgbClr val="7F7F7F"/>
                </a:solidFill>
                <a:latin typeface="Malgun Gothic Semilight"/>
                <a:ea typeface="Malgun Gothic Semilight"/>
                <a:cs typeface="Malgun Gothic Semilight"/>
              </a:rPr>
              <a:t>read</a:t>
            </a:r>
          </a:p>
        </p:txBody>
      </p:sp>
      <p:sp>
        <p:nvSpPr>
          <p:cNvPr id="27" name="TextBox 26"/>
          <p:cNvSpPr txBox="1"/>
          <p:nvPr/>
        </p:nvSpPr>
        <p:spPr>
          <a:xfrm>
            <a:off x="9985248" y="4663440"/>
            <a:ext cx="1743456" cy="548640"/>
          </a:xfrm>
          <a:prstGeom prst="rect">
            <a:avLst/>
          </a:prstGeom>
          <a:noFill/>
        </p:spPr>
        <p:txBody>
          <a:bodyPr wrap="square" lIns="0" rIns="0" tIns="0" bIns="0" anchor="t">
            <a:noAutofit/>
          </a:bodyPr>
          <a:lstStyle/>
          <a:p>
            <a:pPr algn="ctr">
              <a:lnSpc>
                <a:spcPct val="110000"/>
              </a:lnSpc>
            </a:pPr>
            <a:r>
              <a:rPr sz="2400" b="1">
                <a:solidFill>
                  <a:srgbClr val="1428A0"/>
                </a:solidFill>
                <a:latin typeface="맑은 고딕"/>
                <a:ea typeface="맑은 고딕"/>
                <a:cs typeface="맑은 고딕"/>
              </a:rPr>
              <a:t>SFG ✓</a:t>
            </a:r>
            <a:r>
              <a:rPr sz="1800">
                <a:solidFill>
                  <a:srgbClr val="1428A0"/>
                </a:solidFill>
                <a:latin typeface="Malgun Gothic Semilight"/>
                <a:ea typeface="Malgun Gothic Semilight"/>
                <a:cs typeface="Malgun Gothic Semilight"/>
              </a:rPr>
              <a:t> </a:t>
            </a:r>
          </a:p>
        </p:txBody>
      </p:sp>
      <p:sp>
        <p:nvSpPr>
          <p:cNvPr id="28" name="TextBox 27"/>
          <p:cNvSpPr txBox="1"/>
          <p:nvPr/>
        </p:nvSpPr>
        <p:spPr>
          <a:xfrm>
            <a:off x="9985248" y="5253228"/>
            <a:ext cx="1743456" cy="240030"/>
          </a:xfrm>
          <a:prstGeom prst="rect">
            <a:avLst/>
          </a:prstGeom>
          <a:noFill/>
        </p:spPr>
        <p:txBody>
          <a:bodyPr wrap="square" lIns="0" rIns="0" tIns="0" bIns="0" anchor="t">
            <a:noAutofit/>
          </a:bodyPr>
          <a:lstStyle/>
          <a:p>
            <a:pPr algn="ctr">
              <a:lnSpc>
                <a:spcPct val="110000"/>
              </a:lnSpc>
            </a:pPr>
            <a:r>
              <a:rPr sz="1200" b="0">
                <a:solidFill>
                  <a:srgbClr val="7F7F7F"/>
                </a:solidFill>
                <a:latin typeface="Malgun Gothic Semilight"/>
                <a:ea typeface="Malgun Gothic Semilight"/>
                <a:cs typeface="Malgun Gothic Semilight"/>
              </a:rPr>
              <a:t>write</a:t>
            </a:r>
          </a:p>
        </p:txBody>
      </p:sp>
      <p:sp>
        <p:nvSpPr>
          <p:cNvPr id="29" name="Rectangle 28"/>
          <p:cNvSpPr/>
          <p:nvPr/>
        </p:nvSpPr>
        <p:spPr>
          <a:xfrm>
            <a:off x="9974389" y="4697730"/>
            <a:ext cx="9525" cy="6858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33172"/>
            <a:ext cx="11253216" cy="541782"/>
          </a:xfrm>
          <a:prstGeom prst="rect">
            <a:avLst/>
          </a:prstGeom>
          <a:noFill/>
        </p:spPr>
        <p:txBody>
          <a:bodyPr wrap="square" lIns="0" rIns="0" tIns="0" bIns="0" anchor="ctr">
            <a:noAutofit/>
          </a:bodyPr>
          <a:lstStyle/>
          <a:p>
            <a:pPr algn="l">
              <a:lnSpc>
                <a:spcPct val="110000"/>
              </a:lnSpc>
            </a:pPr>
            <a:r>
              <a:rPr sz="3000" b="1">
                <a:solidFill>
                  <a:srgbClr val="000000"/>
                </a:solidFill>
                <a:latin typeface="맑은 고딕"/>
                <a:ea typeface="맑은 고딕"/>
                <a:cs typeface="맑은 고딕"/>
              </a:rPr>
              <a:t>적용 사례: Low Vmin VOC (0.625 → 0.575 V)</a:t>
            </a:r>
          </a:p>
        </p:txBody>
      </p:sp>
      <p:sp>
        <p:nvSpPr>
          <p:cNvPr id="3" name="Rectangle 2"/>
          <p:cNvSpPr/>
          <p:nvPr/>
        </p:nvSpPr>
        <p:spPr>
          <a:xfrm>
            <a:off x="463296" y="887984"/>
            <a:ext cx="11265408" cy="48260"/>
          </a:xfrm>
          <a:prstGeom prst="rect">
            <a:avLst/>
          </a:prstGeom>
          <a:solidFill>
            <a:srgbClr val="E7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6720" y="6480810"/>
            <a:ext cx="182880" cy="205740"/>
          </a:xfrm>
          <a:prstGeom prst="rect">
            <a:avLst/>
          </a:prstGeom>
          <a:noFill/>
        </p:spPr>
        <p:txBody>
          <a:bodyPr wrap="square" lIns="0" rIns="0" tIns="0" bIns="0" anchor="t">
            <a:noAutofit/>
          </a:bodyPr>
          <a:lstStyle/>
          <a:p>
            <a:pPr algn="l">
              <a:lnSpc>
                <a:spcPct val="110000"/>
              </a:lnSpc>
            </a:pPr>
            <a:r>
              <a:rPr sz="1000" b="1">
                <a:solidFill>
                  <a:srgbClr val="44566A"/>
                </a:solidFill>
                <a:latin typeface="맑은 고딕"/>
                <a:ea typeface="맑은 고딕"/>
                <a:cs typeface="맑은 고딕"/>
              </a:rPr>
              <a:t>10</a:t>
            </a:r>
          </a:p>
        </p:txBody>
      </p:sp>
      <p:sp>
        <p:nvSpPr>
          <p:cNvPr id="5" name="TextBox 4"/>
          <p:cNvSpPr txBox="1"/>
          <p:nvPr/>
        </p:nvSpPr>
        <p:spPr>
          <a:xfrm>
            <a:off x="670560" y="6494526"/>
            <a:ext cx="9022080" cy="205740"/>
          </a:xfrm>
          <a:prstGeom prst="rect">
            <a:avLst/>
          </a:prstGeom>
          <a:noFill/>
        </p:spPr>
        <p:txBody>
          <a:bodyPr wrap="square" lIns="0" rIns="0" tIns="0" bIns="0" anchor="t">
            <a:noAutofit/>
          </a:bodyPr>
          <a:lstStyle/>
          <a:p>
            <a:pPr algn="l">
              <a:lnSpc>
                <a:spcPct val="110000"/>
              </a:lnSpc>
            </a:pPr>
            <a:r>
              <a:rPr sz="900" b="0">
                <a:solidFill>
                  <a:srgbClr val="4C5759"/>
                </a:solidFill>
                <a:latin typeface="Malgun Gothic Semilight"/>
                <a:ea typeface="Malgun Gothic Semilight"/>
                <a:cs typeface="Malgun Gothic Semilight"/>
              </a:rPr>
              <a:t>고객명과 제품 정보는 생략 · 막대는 model이 계산한 현재 Read worst · Write worst의 Vmin</a:t>
            </a:r>
          </a:p>
        </p:txBody>
      </p:sp>
      <p:sp>
        <p:nvSpPr>
          <p:cNvPr id="6" name="TextBox 5"/>
          <p:cNvSpPr txBox="1"/>
          <p:nvPr/>
        </p:nvSpPr>
        <p:spPr>
          <a:xfrm>
            <a:off x="9265920" y="6487668"/>
            <a:ext cx="2462784" cy="205740"/>
          </a:xfrm>
          <a:prstGeom prst="rect">
            <a:avLst/>
          </a:prstGeom>
          <a:noFill/>
        </p:spPr>
        <p:txBody>
          <a:bodyPr wrap="square" lIns="0" rIns="0" tIns="0" bIns="0" anchor="t">
            <a:noAutofit/>
          </a:bodyPr>
          <a:lstStyle/>
          <a:p>
            <a:pPr algn="r">
              <a:lnSpc>
                <a:spcPct val="110000"/>
              </a:lnSpc>
            </a:pPr>
            <a:r>
              <a:rPr sz="900" b="0">
                <a:solidFill>
                  <a:srgbClr val="7F7F7F"/>
                </a:solidFill>
                <a:latin typeface="Malgun Gothic Semilight"/>
                <a:ea typeface="Malgun Gothic Semilight"/>
                <a:cs typeface="Malgun Gothic Semilight"/>
              </a:rPr>
              <a:t>SRAM Vmin 순·역방향 추정</a:t>
            </a:r>
          </a:p>
        </p:txBody>
      </p:sp>
      <p:sp>
        <p:nvSpPr>
          <p:cNvPr id="7" name="TextBox 6"/>
          <p:cNvSpPr txBox="1"/>
          <p:nvPr/>
        </p:nvSpPr>
        <p:spPr>
          <a:xfrm>
            <a:off x="475488" y="1097280"/>
            <a:ext cx="5242560" cy="308610"/>
          </a:xfrm>
          <a:prstGeom prst="rect">
            <a:avLst/>
          </a:prstGeom>
          <a:noFill/>
        </p:spPr>
        <p:txBody>
          <a:bodyPr wrap="square" lIns="0" rIns="0" tIns="0" bIns="0" anchor="t">
            <a:noAutofit/>
          </a:bodyPr>
          <a:lstStyle/>
          <a:p>
            <a:pPr algn="l">
              <a:lnSpc>
                <a:spcPct val="110000"/>
              </a:lnSpc>
            </a:pPr>
            <a:r>
              <a:rPr sz="1400" b="1">
                <a:solidFill>
                  <a:srgbClr val="7F7F7F"/>
                </a:solidFill>
                <a:latin typeface="맑은 고딕"/>
                <a:ea typeface="맑은 고딕"/>
                <a:cs typeface="맑은 고딕"/>
              </a:rPr>
              <a:t>Low Vmin VOC</a:t>
            </a:r>
          </a:p>
        </p:txBody>
      </p:sp>
      <p:sp>
        <p:nvSpPr>
          <p:cNvPr id="8" name="TextBox 7"/>
          <p:cNvSpPr txBox="1"/>
          <p:nvPr/>
        </p:nvSpPr>
        <p:spPr>
          <a:xfrm>
            <a:off x="475488" y="1405890"/>
            <a:ext cx="5242560" cy="480060"/>
          </a:xfrm>
          <a:prstGeom prst="rect">
            <a:avLst/>
          </a:prstGeom>
          <a:noFill/>
        </p:spPr>
        <p:txBody>
          <a:bodyPr wrap="square" lIns="0" rIns="0" tIns="0" bIns="0" anchor="t">
            <a:noAutofit/>
          </a:bodyPr>
          <a:lstStyle/>
          <a:p>
            <a:pPr algn="l">
              <a:lnSpc>
                <a:spcPct val="110000"/>
              </a:lnSpc>
            </a:pPr>
            <a:r>
              <a:rPr sz="2400" b="1">
                <a:solidFill>
                  <a:srgbClr val="1428A0"/>
                </a:solidFill>
                <a:latin typeface="맑은 고딕"/>
                <a:ea typeface="맑은 고딕"/>
                <a:cs typeface="맑은 고딕"/>
              </a:rPr>
              <a:t>“Vmin 0.625 V → 0.575 V”</a:t>
            </a:r>
          </a:p>
        </p:txBody>
      </p:sp>
      <p:pic>
        <p:nvPicPr>
          <p:cNvPr id="9" name="Picture 8" descr="voc_target.png"/>
          <p:cNvPicPr>
            <a:picLocks noChangeAspect="1"/>
          </p:cNvPicPr>
          <p:nvPr/>
        </p:nvPicPr>
        <p:blipFill>
          <a:blip r:embed="rId3"/>
          <a:stretch>
            <a:fillRect/>
          </a:stretch>
        </p:blipFill>
        <p:spPr>
          <a:xfrm>
            <a:off x="463296" y="2125980"/>
            <a:ext cx="5242560" cy="3593269"/>
          </a:xfrm>
          <a:prstGeom prst="rect">
            <a:avLst/>
          </a:prstGeom>
        </p:spPr>
      </p:pic>
      <p:sp>
        <p:nvSpPr>
          <p:cNvPr id="10" name="Rectangle 9"/>
          <p:cNvSpPr/>
          <p:nvPr/>
        </p:nvSpPr>
        <p:spPr>
          <a:xfrm>
            <a:off x="6030278" y="1097280"/>
            <a:ext cx="9525" cy="48006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9840" y="1097280"/>
            <a:ext cx="5388864" cy="308610"/>
          </a:xfrm>
          <a:prstGeom prst="rect">
            <a:avLst/>
          </a:prstGeom>
          <a:noFill/>
        </p:spPr>
        <p:txBody>
          <a:bodyPr wrap="square" lIns="0" rIns="0" tIns="0" bIns="0" anchor="t">
            <a:noAutofit/>
          </a:bodyPr>
          <a:lstStyle/>
          <a:p>
            <a:pPr algn="l">
              <a:lnSpc>
                <a:spcPct val="110000"/>
              </a:lnSpc>
            </a:pPr>
            <a:r>
              <a:rPr sz="1600" b="1">
                <a:solidFill>
                  <a:srgbClr val="1A1A1A"/>
                </a:solidFill>
                <a:latin typeface="맑은 고딕"/>
                <a:ea typeface="맑은 고딕"/>
                <a:cs typeface="맑은 고딕"/>
              </a:rPr>
              <a:t>목표와 현재 공정의 차이</a:t>
            </a:r>
          </a:p>
        </p:txBody>
      </p:sp>
      <p:sp>
        <p:nvSpPr>
          <p:cNvPr id="12" name="TextBox 11"/>
          <p:cNvSpPr txBox="1"/>
          <p:nvPr/>
        </p:nvSpPr>
        <p:spPr>
          <a:xfrm>
            <a:off x="6339840" y="1508760"/>
            <a:ext cx="5388864" cy="480060"/>
          </a:xfrm>
          <a:prstGeom prst="rect">
            <a:avLst/>
          </a:prstGeom>
          <a:noFill/>
        </p:spPr>
        <p:txBody>
          <a:bodyPr wrap="square" lIns="0" rIns="0" tIns="0" bIns="0" anchor="ctr">
            <a:noAutofit/>
          </a:bodyPr>
          <a:lstStyle/>
          <a:p>
            <a:pPr algn="l">
              <a:lnSpc>
                <a:spcPct val="110000"/>
              </a:lnSpc>
            </a:pPr>
            <a:r>
              <a:rPr sz="1600" b="0">
                <a:solidFill>
                  <a:srgbClr val="1A1A1A"/>
                </a:solidFill>
                <a:latin typeface="Malgun Gothic Semilight"/>
                <a:ea typeface="Malgun Gothic Semilight"/>
                <a:cs typeface="Malgun Gothic Semilight"/>
              </a:rPr>
              <a:t>목표 Vmin = 0.625 V − 0.05 V = </a:t>
            </a:r>
            <a:r>
              <a:rPr sz="1600" b="1">
                <a:solidFill>
                  <a:srgbClr val="1428A0"/>
                </a:solidFill>
                <a:latin typeface="맑은 고딕"/>
                <a:ea typeface="맑은 고딕"/>
                <a:cs typeface="맑은 고딕"/>
              </a:rPr>
              <a:t>0.575 V</a:t>
            </a:r>
          </a:p>
        </p:txBody>
      </p:sp>
      <p:sp>
        <p:nvSpPr>
          <p:cNvPr id="13" name="TextBox 12"/>
          <p:cNvSpPr txBox="1"/>
          <p:nvPr/>
        </p:nvSpPr>
        <p:spPr>
          <a:xfrm>
            <a:off x="6339840" y="2263140"/>
            <a:ext cx="2560320" cy="548640"/>
          </a:xfrm>
          <a:prstGeom prst="rect">
            <a:avLst/>
          </a:prstGeom>
          <a:noFill/>
        </p:spPr>
        <p:txBody>
          <a:bodyPr wrap="square" lIns="0" rIns="0" tIns="0" bIns="0" anchor="t">
            <a:noAutofit/>
          </a:bodyPr>
          <a:lstStyle/>
          <a:p>
            <a:pPr algn="ctr">
              <a:lnSpc>
                <a:spcPct val="110000"/>
              </a:lnSpc>
            </a:pPr>
            <a:r>
              <a:rPr sz="4000" b="1">
                <a:solidFill>
                  <a:srgbClr val="1428A0"/>
                </a:solidFill>
                <a:latin typeface="맑은 고딕"/>
                <a:ea typeface="맑은 고딕"/>
                <a:cs typeface="맑은 고딕"/>
              </a:rPr>
              <a:t>21</a:t>
            </a:r>
            <a:r>
              <a:rPr sz="1800">
                <a:solidFill>
                  <a:srgbClr val="1428A0"/>
                </a:solidFill>
                <a:latin typeface="Malgun Gothic Semilight"/>
                <a:ea typeface="Malgun Gothic Semilight"/>
                <a:cs typeface="Malgun Gothic Semilight"/>
              </a:rPr>
              <a:t> mV</a:t>
            </a:r>
          </a:p>
        </p:txBody>
      </p:sp>
      <p:sp>
        <p:nvSpPr>
          <p:cNvPr id="14" name="TextBox 13"/>
          <p:cNvSpPr txBox="1"/>
          <p:nvPr/>
        </p:nvSpPr>
        <p:spPr>
          <a:xfrm>
            <a:off x="6339840" y="2852928"/>
            <a:ext cx="2560320" cy="240030"/>
          </a:xfrm>
          <a:prstGeom prst="rect">
            <a:avLst/>
          </a:prstGeom>
          <a:noFill/>
        </p:spPr>
        <p:txBody>
          <a:bodyPr wrap="square" lIns="0" rIns="0" tIns="0" bIns="0" anchor="t">
            <a:noAutofit/>
          </a:bodyPr>
          <a:lstStyle/>
          <a:p>
            <a:pPr algn="ctr">
              <a:lnSpc>
                <a:spcPct val="110000"/>
              </a:lnSpc>
            </a:pPr>
            <a:r>
              <a:rPr sz="1200" b="0">
                <a:solidFill>
                  <a:srgbClr val="7F7F7F"/>
                </a:solidFill>
                <a:latin typeface="Malgun Gothic Semilight"/>
                <a:ea typeface="Malgun Gothic Semilight"/>
                <a:cs typeface="Malgun Gothic Semilight"/>
              </a:rPr>
              <a:t>read 부족</a:t>
            </a:r>
          </a:p>
        </p:txBody>
      </p:sp>
      <p:sp>
        <p:nvSpPr>
          <p:cNvPr id="15" name="TextBox 14"/>
          <p:cNvSpPr txBox="1"/>
          <p:nvPr/>
        </p:nvSpPr>
        <p:spPr>
          <a:xfrm>
            <a:off x="9144000" y="2263140"/>
            <a:ext cx="2560320" cy="548640"/>
          </a:xfrm>
          <a:prstGeom prst="rect">
            <a:avLst/>
          </a:prstGeom>
          <a:noFill/>
        </p:spPr>
        <p:txBody>
          <a:bodyPr wrap="square" lIns="0" rIns="0" tIns="0" bIns="0" anchor="t">
            <a:noAutofit/>
          </a:bodyPr>
          <a:lstStyle/>
          <a:p>
            <a:pPr algn="ctr">
              <a:lnSpc>
                <a:spcPct val="110000"/>
              </a:lnSpc>
            </a:pPr>
            <a:r>
              <a:rPr sz="4000" b="1">
                <a:solidFill>
                  <a:srgbClr val="1428A0"/>
                </a:solidFill>
                <a:latin typeface="맑은 고딕"/>
                <a:ea typeface="맑은 고딕"/>
                <a:cs typeface="맑은 고딕"/>
              </a:rPr>
              <a:t>18</a:t>
            </a:r>
            <a:r>
              <a:rPr sz="1800">
                <a:solidFill>
                  <a:srgbClr val="1428A0"/>
                </a:solidFill>
                <a:latin typeface="Malgun Gothic Semilight"/>
                <a:ea typeface="Malgun Gothic Semilight"/>
                <a:cs typeface="Malgun Gothic Semilight"/>
              </a:rPr>
              <a:t> mV</a:t>
            </a:r>
          </a:p>
        </p:txBody>
      </p:sp>
      <p:sp>
        <p:nvSpPr>
          <p:cNvPr id="16" name="TextBox 15"/>
          <p:cNvSpPr txBox="1"/>
          <p:nvPr/>
        </p:nvSpPr>
        <p:spPr>
          <a:xfrm>
            <a:off x="9144000" y="2852928"/>
            <a:ext cx="2560320" cy="240030"/>
          </a:xfrm>
          <a:prstGeom prst="rect">
            <a:avLst/>
          </a:prstGeom>
          <a:noFill/>
        </p:spPr>
        <p:txBody>
          <a:bodyPr wrap="square" lIns="0" rIns="0" tIns="0" bIns="0" anchor="t">
            <a:noAutofit/>
          </a:bodyPr>
          <a:lstStyle/>
          <a:p>
            <a:pPr algn="ctr">
              <a:lnSpc>
                <a:spcPct val="110000"/>
              </a:lnSpc>
            </a:pPr>
            <a:r>
              <a:rPr sz="1200" b="0">
                <a:solidFill>
                  <a:srgbClr val="7F7F7F"/>
                </a:solidFill>
                <a:latin typeface="Malgun Gothic Semilight"/>
                <a:ea typeface="Malgun Gothic Semilight"/>
                <a:cs typeface="Malgun Gothic Semilight"/>
              </a:rPr>
              <a:t>write 부족</a:t>
            </a:r>
          </a:p>
        </p:txBody>
      </p:sp>
      <p:sp>
        <p:nvSpPr>
          <p:cNvPr id="17" name="Rectangle 16"/>
          <p:cNvSpPr/>
          <p:nvPr/>
        </p:nvSpPr>
        <p:spPr>
          <a:xfrm>
            <a:off x="9017318" y="2331720"/>
            <a:ext cx="9525" cy="82296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39840" y="3629978"/>
            <a:ext cx="538886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9840" y="3840480"/>
            <a:ext cx="5388864" cy="1234440"/>
          </a:xfrm>
          <a:prstGeom prst="rect">
            <a:avLst/>
          </a:prstGeom>
          <a:noFill/>
        </p:spPr>
        <p:txBody>
          <a:bodyPr wrap="square" lIns="0" rIns="0" tIns="0" bIns="0" anchor="t">
            <a:noAutofit/>
          </a:bodyPr>
          <a:lstStyle/>
          <a:p>
            <a:pPr algn="l">
              <a:lnSpc>
                <a:spcPct val="135000"/>
              </a:lnSpc>
            </a:pPr>
            <a:r>
              <a:rPr sz="1700" b="0">
                <a:solidFill>
                  <a:srgbClr val="1A1A1A"/>
                </a:solidFill>
                <a:latin typeface="Malgun Gothic Semilight"/>
                <a:ea typeface="Malgun Gothic Semilight"/>
                <a:cs typeface="Malgun Gothic Semilight"/>
              </a:rPr>
              <a:t>read와 write를 </a:t>
            </a:r>
            <a:r>
              <a:rPr sz="1700" b="1">
                <a:solidFill>
                  <a:srgbClr val="1428A0"/>
                </a:solidFill>
                <a:latin typeface="맑은 고딕"/>
                <a:ea typeface="맑은 고딕"/>
                <a:cs typeface="맑은 고딕"/>
              </a:rPr>
              <a:t>둘 다</a:t>
            </a:r>
            <a:r>
              <a:rPr sz="1700" b="0">
                <a:solidFill>
                  <a:srgbClr val="1A1A1A"/>
                </a:solidFill>
                <a:latin typeface="Malgun Gothic Semilight"/>
                <a:ea typeface="Malgun Gothic Semilight"/>
                <a:cs typeface="Malgun Gothic Semilight"/>
              </a:rPr>
              <a:t> 맞춰야 하므로</a:t>
            </a:r>
          </a:p>
          <a:p>
            <a:pPr algn="l">
              <a:lnSpc>
                <a:spcPct val="135000"/>
              </a:lnSpc>
            </a:pPr>
            <a:r>
              <a:rPr sz="1700" b="0">
                <a:solidFill>
                  <a:srgbClr val="1A1A1A"/>
                </a:solidFill>
                <a:latin typeface="Malgun Gothic Semilight"/>
                <a:ea typeface="Malgun Gothic Semilight"/>
                <a:cs typeface="Malgun Gothic Semilight"/>
              </a:rPr>
              <a:t>cell Vmin = </a:t>
            </a:r>
            <a:r>
              <a:rPr sz="1700" b="1">
                <a:solidFill>
                  <a:srgbClr val="1428A0"/>
                </a:solidFill>
                <a:latin typeface="맑은 고딕"/>
                <a:ea typeface="맑은 고딕"/>
                <a:cs typeface="맑은 고딕"/>
              </a:rPr>
              <a:t>max(read, write)</a:t>
            </a:r>
            <a:r>
              <a:rPr sz="1700" b="0">
                <a:solidFill>
                  <a:srgbClr val="1A1A1A"/>
                </a:solidFill>
                <a:latin typeface="Malgun Gothic Semilight"/>
                <a:ea typeface="Malgun Gothic Semilight"/>
                <a:cs typeface="Malgun Gothic Semilight"/>
              </a:rPr>
              <a:t>로 본다</a:t>
            </a:r>
          </a:p>
          <a:p>
            <a:pPr algn="l">
              <a:lnSpc>
                <a:spcPct val="135000"/>
              </a:lnSpc>
            </a:pPr>
            <a:r>
              <a:rPr sz="1700" b="0">
                <a:solidFill>
                  <a:srgbClr val="1A1A1A"/>
                </a:solidFill>
                <a:latin typeface="Malgun Gothic Semilight"/>
                <a:ea typeface="Malgun Gothic Semilight"/>
                <a:cs typeface="Malgun Gothic Semilight"/>
              </a:rPr>
              <a:t>→ 무엇을 얼마나 바꾸면 될까?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33172"/>
            <a:ext cx="11253216" cy="541782"/>
          </a:xfrm>
          <a:prstGeom prst="rect">
            <a:avLst/>
          </a:prstGeom>
          <a:noFill/>
        </p:spPr>
        <p:txBody>
          <a:bodyPr wrap="square" lIns="0" rIns="0" tIns="0" bIns="0" anchor="ctr">
            <a:noAutofit/>
          </a:bodyPr>
          <a:lstStyle/>
          <a:p>
            <a:pPr algn="l">
              <a:lnSpc>
                <a:spcPct val="110000"/>
              </a:lnSpc>
            </a:pPr>
            <a:r>
              <a:rPr sz="3000" b="1">
                <a:solidFill>
                  <a:srgbClr val="000000"/>
                </a:solidFill>
                <a:latin typeface="맑은 고딕"/>
                <a:ea typeface="맑은 고딕"/>
                <a:cs typeface="맑은 고딕"/>
              </a:rPr>
              <a:t>knob별 Vmin 개선 효과 비교</a:t>
            </a:r>
          </a:p>
        </p:txBody>
      </p:sp>
      <p:sp>
        <p:nvSpPr>
          <p:cNvPr id="3" name="Rectangle 2"/>
          <p:cNvSpPr/>
          <p:nvPr/>
        </p:nvSpPr>
        <p:spPr>
          <a:xfrm>
            <a:off x="463296" y="887984"/>
            <a:ext cx="11265408" cy="48260"/>
          </a:xfrm>
          <a:prstGeom prst="rect">
            <a:avLst/>
          </a:prstGeom>
          <a:solidFill>
            <a:srgbClr val="E7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6720" y="6480810"/>
            <a:ext cx="182880" cy="205740"/>
          </a:xfrm>
          <a:prstGeom prst="rect">
            <a:avLst/>
          </a:prstGeom>
          <a:noFill/>
        </p:spPr>
        <p:txBody>
          <a:bodyPr wrap="square" lIns="0" rIns="0" tIns="0" bIns="0" anchor="t">
            <a:noAutofit/>
          </a:bodyPr>
          <a:lstStyle/>
          <a:p>
            <a:pPr algn="l">
              <a:lnSpc>
                <a:spcPct val="110000"/>
              </a:lnSpc>
            </a:pPr>
            <a:r>
              <a:rPr sz="1000" b="1">
                <a:solidFill>
                  <a:srgbClr val="44566A"/>
                </a:solidFill>
                <a:latin typeface="맑은 고딕"/>
                <a:ea typeface="맑은 고딕"/>
                <a:cs typeface="맑은 고딕"/>
              </a:rPr>
              <a:t>11</a:t>
            </a:r>
          </a:p>
        </p:txBody>
      </p:sp>
      <p:sp>
        <p:nvSpPr>
          <p:cNvPr id="5" name="TextBox 4"/>
          <p:cNvSpPr txBox="1"/>
          <p:nvPr/>
        </p:nvSpPr>
        <p:spPr>
          <a:xfrm>
            <a:off x="670560" y="6494526"/>
            <a:ext cx="9022080" cy="205740"/>
          </a:xfrm>
          <a:prstGeom prst="rect">
            <a:avLst/>
          </a:prstGeom>
          <a:noFill/>
        </p:spPr>
        <p:txBody>
          <a:bodyPr wrap="square" lIns="0" rIns="0" tIns="0" bIns="0" anchor="t">
            <a:noAutofit/>
          </a:bodyPr>
          <a:lstStyle/>
          <a:p>
            <a:pPr algn="l">
              <a:lnSpc>
                <a:spcPct val="110000"/>
              </a:lnSpc>
            </a:pPr>
            <a:r>
              <a:rPr sz="900" b="0">
                <a:solidFill>
                  <a:srgbClr val="4C5759"/>
                </a:solidFill>
                <a:latin typeface="Malgun Gothic Semilight"/>
                <a:ea typeface="Malgun Gothic Semilight"/>
                <a:cs typeface="Malgun Gothic Semilight"/>
              </a:rPr>
              <a:t>나머지 조건은 고정하고 knob 하나씩 역방향 추정 · 막대 = 학습 범위 대비 바꿔야 하는 양 · 빗금 = 학습 범위 안에서는 목표에 닿지 않음</a:t>
            </a:r>
          </a:p>
        </p:txBody>
      </p:sp>
      <p:sp>
        <p:nvSpPr>
          <p:cNvPr id="6" name="TextBox 5"/>
          <p:cNvSpPr txBox="1"/>
          <p:nvPr/>
        </p:nvSpPr>
        <p:spPr>
          <a:xfrm>
            <a:off x="9265920" y="6487668"/>
            <a:ext cx="2462784" cy="205740"/>
          </a:xfrm>
          <a:prstGeom prst="rect">
            <a:avLst/>
          </a:prstGeom>
          <a:noFill/>
        </p:spPr>
        <p:txBody>
          <a:bodyPr wrap="square" lIns="0" rIns="0" tIns="0" bIns="0" anchor="t">
            <a:noAutofit/>
          </a:bodyPr>
          <a:lstStyle/>
          <a:p>
            <a:pPr algn="r">
              <a:lnSpc>
                <a:spcPct val="110000"/>
              </a:lnSpc>
            </a:pPr>
            <a:r>
              <a:rPr sz="900" b="0">
                <a:solidFill>
                  <a:srgbClr val="7F7F7F"/>
                </a:solidFill>
                <a:latin typeface="Malgun Gothic Semilight"/>
                <a:ea typeface="Malgun Gothic Semilight"/>
                <a:cs typeface="Malgun Gothic Semilight"/>
              </a:rPr>
              <a:t>SRAM Vmin 순·역방향 추정</a:t>
            </a:r>
          </a:p>
        </p:txBody>
      </p:sp>
      <p:pic>
        <p:nvPicPr>
          <p:cNvPr id="7" name="Picture 6" descr="lab_rank.png"/>
          <p:cNvPicPr>
            <a:picLocks noChangeAspect="1"/>
          </p:cNvPicPr>
          <p:nvPr/>
        </p:nvPicPr>
        <p:blipFill>
          <a:blip r:embed="rId3"/>
          <a:stretch>
            <a:fillRect/>
          </a:stretch>
        </p:blipFill>
        <p:spPr>
          <a:xfrm>
            <a:off x="539414" y="1097280"/>
            <a:ext cx="6553365" cy="5212080"/>
          </a:xfrm>
          <a:prstGeom prst="rect">
            <a:avLst/>
          </a:prstGeom>
        </p:spPr>
      </p:pic>
      <p:sp>
        <p:nvSpPr>
          <p:cNvPr id="8" name="TextBox 7"/>
          <p:cNvSpPr txBox="1"/>
          <p:nvPr/>
        </p:nvSpPr>
        <p:spPr>
          <a:xfrm>
            <a:off x="7559040" y="1165860"/>
            <a:ext cx="4169664" cy="274320"/>
          </a:xfrm>
          <a:prstGeom prst="rect">
            <a:avLst/>
          </a:prstGeom>
          <a:noFill/>
        </p:spPr>
        <p:txBody>
          <a:bodyPr wrap="square" lIns="0" rIns="0" tIns="0" bIns="0" anchor="t">
            <a:noAutofit/>
          </a:bodyPr>
          <a:lstStyle/>
          <a:p>
            <a:pPr algn="l">
              <a:lnSpc>
                <a:spcPct val="110000"/>
              </a:lnSpc>
            </a:pPr>
            <a:r>
              <a:rPr sz="1300" b="1">
                <a:solidFill>
                  <a:srgbClr val="7F7F7F"/>
                </a:solidFill>
                <a:latin typeface="맑은 고딕"/>
                <a:ea typeface="맑은 고딕"/>
                <a:cs typeface="맑은 고딕"/>
              </a:rPr>
              <a:t>NMOS local mismatch</a:t>
            </a:r>
          </a:p>
        </p:txBody>
      </p:sp>
      <p:sp>
        <p:nvSpPr>
          <p:cNvPr id="9" name="TextBox 8"/>
          <p:cNvSpPr txBox="1"/>
          <p:nvPr/>
        </p:nvSpPr>
        <p:spPr>
          <a:xfrm>
            <a:off x="7559040" y="1440180"/>
            <a:ext cx="4169664" cy="342900"/>
          </a:xfrm>
          <a:prstGeom prst="rect">
            <a:avLst/>
          </a:prstGeom>
          <a:noFill/>
        </p:spPr>
        <p:txBody>
          <a:bodyPr wrap="square" lIns="0" rIns="0" tIns="0" bIns="0" anchor="t">
            <a:noAutofit/>
          </a:bodyPr>
          <a:lstStyle/>
          <a:p>
            <a:pPr algn="l">
              <a:lnSpc>
                <a:spcPct val="110000"/>
              </a:lnSpc>
            </a:pPr>
            <a:r>
              <a:rPr sz="2100" b="1">
                <a:solidFill>
                  <a:srgbClr val="1428A0"/>
                </a:solidFill>
                <a:latin typeface="맑은 고딕"/>
                <a:ea typeface="맑은 고딕"/>
                <a:cs typeface="맑은 고딕"/>
              </a:rPr>
              <a:t>−10.9 %</a:t>
            </a:r>
          </a:p>
        </p:txBody>
      </p:sp>
      <p:sp>
        <p:nvSpPr>
          <p:cNvPr id="10" name="TextBox 9"/>
          <p:cNvSpPr txBox="1"/>
          <p:nvPr/>
        </p:nvSpPr>
        <p:spPr>
          <a:xfrm>
            <a:off x="7559040" y="1803654"/>
            <a:ext cx="4169664" cy="240030"/>
          </a:xfrm>
          <a:prstGeom prst="rect">
            <a:avLst/>
          </a:prstGeom>
          <a:noFill/>
        </p:spPr>
        <p:txBody>
          <a:bodyPr wrap="square" lIns="0" rIns="0" tIns="0" bIns="0" anchor="t">
            <a:noAutofit/>
          </a:bodyPr>
          <a:lstStyle/>
          <a:p>
            <a:pPr algn="l">
              <a:lnSpc>
                <a:spcPct val="110000"/>
              </a:lnSpc>
            </a:pPr>
            <a:r>
              <a:rPr sz="1200" b="0">
                <a:solidFill>
                  <a:srgbClr val="7F7F7F"/>
                </a:solidFill>
                <a:latin typeface="Malgun Gothic Semilight"/>
                <a:ea typeface="Malgun Gothic Semilight"/>
                <a:cs typeface="Malgun Gothic Semilight"/>
              </a:rPr>
              <a:t>하나만 바꿀 때 가장 작다</a:t>
            </a:r>
          </a:p>
        </p:txBody>
      </p:sp>
      <p:sp>
        <p:nvSpPr>
          <p:cNvPr id="11" name="Rectangle 10"/>
          <p:cNvSpPr/>
          <p:nvPr/>
        </p:nvSpPr>
        <p:spPr>
          <a:xfrm>
            <a:off x="7559040" y="2121218"/>
            <a:ext cx="416966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59040" y="2194560"/>
            <a:ext cx="4169664" cy="274320"/>
          </a:xfrm>
          <a:prstGeom prst="rect">
            <a:avLst/>
          </a:prstGeom>
          <a:noFill/>
        </p:spPr>
        <p:txBody>
          <a:bodyPr wrap="square" lIns="0" rIns="0" tIns="0" bIns="0" anchor="t">
            <a:noAutofit/>
          </a:bodyPr>
          <a:lstStyle/>
          <a:p>
            <a:pPr algn="l">
              <a:lnSpc>
                <a:spcPct val="110000"/>
              </a:lnSpc>
            </a:pPr>
            <a:r>
              <a:rPr sz="1300" b="1">
                <a:solidFill>
                  <a:srgbClr val="7F7F7F"/>
                </a:solidFill>
                <a:latin typeface="맑은 고딕"/>
                <a:ea typeface="맑은 고딕"/>
                <a:cs typeface="맑은 고딕"/>
              </a:rPr>
              <a:t>NMOS + PMOS local mismatch</a:t>
            </a:r>
          </a:p>
        </p:txBody>
      </p:sp>
      <p:sp>
        <p:nvSpPr>
          <p:cNvPr id="13" name="TextBox 12"/>
          <p:cNvSpPr txBox="1"/>
          <p:nvPr/>
        </p:nvSpPr>
        <p:spPr>
          <a:xfrm>
            <a:off x="7559040" y="2468880"/>
            <a:ext cx="4169664" cy="342900"/>
          </a:xfrm>
          <a:prstGeom prst="rect">
            <a:avLst/>
          </a:prstGeom>
          <a:noFill/>
        </p:spPr>
        <p:txBody>
          <a:bodyPr wrap="square" lIns="0" rIns="0" tIns="0" bIns="0" anchor="t">
            <a:noAutofit/>
          </a:bodyPr>
          <a:lstStyle/>
          <a:p>
            <a:pPr algn="l">
              <a:lnSpc>
                <a:spcPct val="110000"/>
              </a:lnSpc>
            </a:pPr>
            <a:r>
              <a:rPr sz="2100" b="1">
                <a:solidFill>
                  <a:srgbClr val="1428A0"/>
                </a:solidFill>
                <a:latin typeface="맑은 고딕"/>
                <a:ea typeface="맑은 고딕"/>
                <a:cs typeface="맑은 고딕"/>
              </a:rPr>
              <a:t>각각 −7.8 %</a:t>
            </a:r>
          </a:p>
        </p:txBody>
      </p:sp>
      <p:sp>
        <p:nvSpPr>
          <p:cNvPr id="14" name="TextBox 13"/>
          <p:cNvSpPr txBox="1"/>
          <p:nvPr/>
        </p:nvSpPr>
        <p:spPr>
          <a:xfrm>
            <a:off x="7559040" y="2832354"/>
            <a:ext cx="4169664" cy="240030"/>
          </a:xfrm>
          <a:prstGeom prst="rect">
            <a:avLst/>
          </a:prstGeom>
          <a:noFill/>
        </p:spPr>
        <p:txBody>
          <a:bodyPr wrap="square" lIns="0" rIns="0" tIns="0" bIns="0" anchor="t">
            <a:noAutofit/>
          </a:bodyPr>
          <a:lstStyle/>
          <a:p>
            <a:pPr algn="l">
              <a:lnSpc>
                <a:spcPct val="110000"/>
              </a:lnSpc>
            </a:pPr>
            <a:r>
              <a:rPr sz="1200" b="0">
                <a:solidFill>
                  <a:srgbClr val="7F7F7F"/>
                </a:solidFill>
                <a:latin typeface="Malgun Gothic Semilight"/>
                <a:ea typeface="Malgun Gothic Semilight"/>
                <a:cs typeface="Malgun Gothic Semilight"/>
              </a:rPr>
              <a:t>둘을 같은 비율로 줄일 때</a:t>
            </a:r>
          </a:p>
        </p:txBody>
      </p:sp>
      <p:sp>
        <p:nvSpPr>
          <p:cNvPr id="15" name="Rectangle 14"/>
          <p:cNvSpPr/>
          <p:nvPr/>
        </p:nvSpPr>
        <p:spPr>
          <a:xfrm>
            <a:off x="7559040" y="3149918"/>
            <a:ext cx="416966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59040" y="3223260"/>
            <a:ext cx="4169664" cy="274320"/>
          </a:xfrm>
          <a:prstGeom prst="rect">
            <a:avLst/>
          </a:prstGeom>
          <a:noFill/>
        </p:spPr>
        <p:txBody>
          <a:bodyPr wrap="square" lIns="0" rIns="0" tIns="0" bIns="0" anchor="t">
            <a:noAutofit/>
          </a:bodyPr>
          <a:lstStyle/>
          <a:p>
            <a:pPr algn="l">
              <a:lnSpc>
                <a:spcPct val="110000"/>
              </a:lnSpc>
            </a:pPr>
            <a:r>
              <a:rPr sz="1300" b="1">
                <a:solidFill>
                  <a:srgbClr val="7F7F7F"/>
                </a:solidFill>
                <a:latin typeface="맑은 고딕"/>
                <a:ea typeface="맑은 고딕"/>
                <a:cs typeface="맑은 고딕"/>
              </a:rPr>
              <a:t>PMOS local mismatch</a:t>
            </a:r>
          </a:p>
        </p:txBody>
      </p:sp>
      <p:sp>
        <p:nvSpPr>
          <p:cNvPr id="17" name="TextBox 16"/>
          <p:cNvSpPr txBox="1"/>
          <p:nvPr/>
        </p:nvSpPr>
        <p:spPr>
          <a:xfrm>
            <a:off x="7559040" y="3497580"/>
            <a:ext cx="4169664" cy="342900"/>
          </a:xfrm>
          <a:prstGeom prst="rect">
            <a:avLst/>
          </a:prstGeom>
          <a:noFill/>
        </p:spPr>
        <p:txBody>
          <a:bodyPr wrap="square" lIns="0" rIns="0" tIns="0" bIns="0" anchor="t">
            <a:noAutofit/>
          </a:bodyPr>
          <a:lstStyle/>
          <a:p>
            <a:pPr algn="l">
              <a:lnSpc>
                <a:spcPct val="110000"/>
              </a:lnSpc>
            </a:pPr>
            <a:r>
              <a:rPr sz="1700" b="1">
                <a:solidFill>
                  <a:srgbClr val="7F7F7F"/>
                </a:solidFill>
                <a:latin typeface="맑은 고딕"/>
                <a:ea typeface="맑은 고딕"/>
                <a:cs typeface="맑은 고딕"/>
              </a:rPr>
              <a:t>−30 %로도 모자람</a:t>
            </a:r>
          </a:p>
        </p:txBody>
      </p:sp>
      <p:sp>
        <p:nvSpPr>
          <p:cNvPr id="18" name="TextBox 17"/>
          <p:cNvSpPr txBox="1"/>
          <p:nvPr/>
        </p:nvSpPr>
        <p:spPr>
          <a:xfrm>
            <a:off x="7559040" y="3861054"/>
            <a:ext cx="4169664" cy="240030"/>
          </a:xfrm>
          <a:prstGeom prst="rect">
            <a:avLst/>
          </a:prstGeom>
          <a:noFill/>
        </p:spPr>
        <p:txBody>
          <a:bodyPr wrap="square" lIns="0" rIns="0" tIns="0" bIns="0" anchor="t">
            <a:noAutofit/>
          </a:bodyPr>
          <a:lstStyle/>
          <a:p>
            <a:pPr algn="l">
              <a:lnSpc>
                <a:spcPct val="110000"/>
              </a:lnSpc>
            </a:pPr>
            <a:r>
              <a:rPr sz="1200" b="0">
                <a:solidFill>
                  <a:srgbClr val="7F7F7F"/>
                </a:solidFill>
                <a:latin typeface="Malgun Gothic Semilight"/>
                <a:ea typeface="Malgun Gothic Semilight"/>
                <a:cs typeface="Malgun Gothic Semilight"/>
              </a:rPr>
              <a:t>이것만으로는 닿지 않는다</a:t>
            </a:r>
          </a:p>
        </p:txBody>
      </p:sp>
      <p:sp>
        <p:nvSpPr>
          <p:cNvPr id="19" name="Rectangle 18"/>
          <p:cNvSpPr/>
          <p:nvPr/>
        </p:nvSpPr>
        <p:spPr>
          <a:xfrm>
            <a:off x="7559040" y="4178618"/>
            <a:ext cx="416966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9040" y="4389120"/>
            <a:ext cx="4169664" cy="1508760"/>
          </a:xfrm>
          <a:prstGeom prst="rect">
            <a:avLst/>
          </a:prstGeom>
          <a:noFill/>
        </p:spPr>
        <p:txBody>
          <a:bodyPr wrap="square" lIns="0" rIns="0" tIns="0" bIns="0" anchor="t">
            <a:noAutofit/>
          </a:bodyPr>
          <a:lstStyle/>
          <a:p>
            <a:pPr algn="l">
              <a:lnSpc>
                <a:spcPct val="140000"/>
              </a:lnSpc>
            </a:pPr>
            <a:r>
              <a:rPr sz="1500" b="1">
                <a:solidFill>
                  <a:srgbClr val="1428A0"/>
                </a:solidFill>
                <a:latin typeface="맑은 고딕"/>
                <a:ea typeface="맑은 고딕"/>
                <a:cs typeface="맑은 고딕"/>
              </a:rPr>
              <a:t>Vth · mobility는 어느 것도 닿지 않는다</a:t>
            </a:r>
          </a:p>
          <a:p>
            <a:pPr algn="l">
              <a:lnSpc>
                <a:spcPct val="140000"/>
              </a:lnSpc>
            </a:pPr>
            <a:r>
              <a:rPr sz="1500" b="0">
                <a:solidFill>
                  <a:srgbClr val="1A1A1A"/>
                </a:solidFill>
                <a:latin typeface="Malgun Gothic Semilight"/>
                <a:ea typeface="Malgun Gothic Semilight"/>
                <a:cs typeface="Malgun Gothic Semilight"/>
              </a:rPr>
              <a:t>read가 좋아지면 write가 나빠진다</a:t>
            </a:r>
          </a:p>
          <a:p>
            <a:pPr algn="l">
              <a:lnSpc>
                <a:spcPct val="140000"/>
              </a:lnSpc>
            </a:pPr>
            <a:r>
              <a:rPr sz="1500" b="0">
                <a:solidFill>
                  <a:srgbClr val="1A1A1A"/>
                </a:solidFill>
                <a:latin typeface="Malgun Gothic Semilight"/>
                <a:ea typeface="Malgun Gothic Semilight"/>
                <a:cs typeface="Malgun Gothic Semilight"/>
              </a:rPr>
              <a:t>→ 둘을 </a:t>
            </a:r>
            <a:r>
              <a:rPr sz="1500" b="1">
                <a:solidFill>
                  <a:srgbClr val="1428A0"/>
                </a:solidFill>
                <a:latin typeface="맑은 고딕"/>
                <a:ea typeface="맑은 고딕"/>
                <a:cs typeface="맑은 고딕"/>
              </a:rPr>
              <a:t>함께 낮추는 건 local mismatch뿐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33172"/>
            <a:ext cx="11253216" cy="541782"/>
          </a:xfrm>
          <a:prstGeom prst="rect">
            <a:avLst/>
          </a:prstGeom>
          <a:noFill/>
        </p:spPr>
        <p:txBody>
          <a:bodyPr wrap="square" lIns="0" rIns="0" tIns="0" bIns="0" anchor="ctr">
            <a:noAutofit/>
          </a:bodyPr>
          <a:lstStyle/>
          <a:p>
            <a:pPr algn="l">
              <a:lnSpc>
                <a:spcPct val="110000"/>
              </a:lnSpc>
            </a:pPr>
            <a:r>
              <a:rPr sz="3000" b="1">
                <a:solidFill>
                  <a:srgbClr val="000000"/>
                </a:solidFill>
                <a:latin typeface="맑은 고딕"/>
                <a:ea typeface="맑은 고딕"/>
                <a:cs typeface="맑은 고딕"/>
              </a:rPr>
              <a:t>목표 Vmin 달성에 필요한 개선량</a:t>
            </a:r>
          </a:p>
        </p:txBody>
      </p:sp>
      <p:sp>
        <p:nvSpPr>
          <p:cNvPr id="3" name="Rectangle 2"/>
          <p:cNvSpPr/>
          <p:nvPr/>
        </p:nvSpPr>
        <p:spPr>
          <a:xfrm>
            <a:off x="463296" y="887984"/>
            <a:ext cx="11265408" cy="48260"/>
          </a:xfrm>
          <a:prstGeom prst="rect">
            <a:avLst/>
          </a:prstGeom>
          <a:solidFill>
            <a:srgbClr val="E7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6720" y="6480810"/>
            <a:ext cx="182880" cy="205740"/>
          </a:xfrm>
          <a:prstGeom prst="rect">
            <a:avLst/>
          </a:prstGeom>
          <a:noFill/>
        </p:spPr>
        <p:txBody>
          <a:bodyPr wrap="square" lIns="0" rIns="0" tIns="0" bIns="0" anchor="t">
            <a:noAutofit/>
          </a:bodyPr>
          <a:lstStyle/>
          <a:p>
            <a:pPr algn="l">
              <a:lnSpc>
                <a:spcPct val="110000"/>
              </a:lnSpc>
            </a:pPr>
            <a:r>
              <a:rPr sz="1000" b="1">
                <a:solidFill>
                  <a:srgbClr val="44566A"/>
                </a:solidFill>
                <a:latin typeface="맑은 고딕"/>
                <a:ea typeface="맑은 고딕"/>
                <a:cs typeface="맑은 고딕"/>
              </a:rPr>
              <a:t>12</a:t>
            </a:r>
          </a:p>
        </p:txBody>
      </p:sp>
      <p:sp>
        <p:nvSpPr>
          <p:cNvPr id="5" name="TextBox 4"/>
          <p:cNvSpPr txBox="1"/>
          <p:nvPr/>
        </p:nvSpPr>
        <p:spPr>
          <a:xfrm>
            <a:off x="670560" y="6494526"/>
            <a:ext cx="9022080" cy="205740"/>
          </a:xfrm>
          <a:prstGeom prst="rect">
            <a:avLst/>
          </a:prstGeom>
          <a:noFill/>
        </p:spPr>
        <p:txBody>
          <a:bodyPr wrap="square" lIns="0" rIns="0" tIns="0" bIns="0" anchor="t">
            <a:noAutofit/>
          </a:bodyPr>
          <a:lstStyle/>
          <a:p>
            <a:pPr algn="l">
              <a:lnSpc>
                <a:spcPct val="110000"/>
              </a:lnSpc>
            </a:pPr>
            <a:r>
              <a:rPr sz="900" b="0">
                <a:solidFill>
                  <a:srgbClr val="4C5759"/>
                </a:solidFill>
                <a:latin typeface="Malgun Gothic Semilight"/>
                <a:ea typeface="Malgun Gothic Semilight"/>
                <a:cs typeface="Malgun Gothic Semilight"/>
              </a:rPr>
              <a:t>cell Vmin = max(read, write) · 별 = Read worst (FSG) · Write worst (SFG) · 나머지 7개 knob은 고정 · 학습 범위 안만 표시</a:t>
            </a:r>
          </a:p>
        </p:txBody>
      </p:sp>
      <p:sp>
        <p:nvSpPr>
          <p:cNvPr id="6" name="TextBox 5"/>
          <p:cNvSpPr txBox="1"/>
          <p:nvPr/>
        </p:nvSpPr>
        <p:spPr>
          <a:xfrm>
            <a:off x="9265920" y="6487668"/>
            <a:ext cx="2462784" cy="205740"/>
          </a:xfrm>
          <a:prstGeom prst="rect">
            <a:avLst/>
          </a:prstGeom>
          <a:noFill/>
        </p:spPr>
        <p:txBody>
          <a:bodyPr wrap="square" lIns="0" rIns="0" tIns="0" bIns="0" anchor="t">
            <a:noAutofit/>
          </a:bodyPr>
          <a:lstStyle/>
          <a:p>
            <a:pPr algn="r">
              <a:lnSpc>
                <a:spcPct val="110000"/>
              </a:lnSpc>
            </a:pPr>
            <a:r>
              <a:rPr sz="900" b="0">
                <a:solidFill>
                  <a:srgbClr val="7F7F7F"/>
                </a:solidFill>
                <a:latin typeface="Malgun Gothic Semilight"/>
                <a:ea typeface="Malgun Gothic Semilight"/>
                <a:cs typeface="Malgun Gothic Semilight"/>
              </a:rPr>
              <a:t>SRAM Vmin 순·역방향 추정</a:t>
            </a:r>
          </a:p>
        </p:txBody>
      </p:sp>
      <p:pic>
        <p:nvPicPr>
          <p:cNvPr id="7" name="Picture 6" descr="lab_window.png"/>
          <p:cNvPicPr>
            <a:picLocks noChangeAspect="1"/>
          </p:cNvPicPr>
          <p:nvPr/>
        </p:nvPicPr>
        <p:blipFill>
          <a:blip r:embed="rId3"/>
          <a:stretch>
            <a:fillRect/>
          </a:stretch>
        </p:blipFill>
        <p:spPr>
          <a:xfrm>
            <a:off x="1485603" y="1097280"/>
            <a:ext cx="9220794" cy="4251960"/>
          </a:xfrm>
          <a:prstGeom prst="rect">
            <a:avLst/>
          </a:prstGeom>
        </p:spPr>
      </p:pic>
      <p:sp>
        <p:nvSpPr>
          <p:cNvPr id="8" name="Rectangle 7"/>
          <p:cNvSpPr/>
          <p:nvPr/>
        </p:nvSpPr>
        <p:spPr>
          <a:xfrm>
            <a:off x="463296" y="5481638"/>
            <a:ext cx="11265408"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296" y="5568696"/>
            <a:ext cx="11265408" cy="480060"/>
          </a:xfrm>
          <a:prstGeom prst="rect">
            <a:avLst/>
          </a:prstGeom>
          <a:noFill/>
        </p:spPr>
        <p:txBody>
          <a:bodyPr wrap="square" lIns="0" rIns="0" tIns="0" bIns="0" anchor="ctr">
            <a:noAutofit/>
          </a:bodyPr>
          <a:lstStyle/>
          <a:p>
            <a:pPr algn="ctr">
              <a:lnSpc>
                <a:spcPct val="110000"/>
              </a:lnSpc>
            </a:pPr>
            <a:r>
              <a:rPr sz="1900" b="1">
                <a:solidFill>
                  <a:srgbClr val="1428A0"/>
                </a:solidFill>
                <a:latin typeface="맑은 고딕"/>
                <a:ea typeface="맑은 고딕"/>
                <a:cs typeface="맑은 고딕"/>
              </a:rPr>
              <a:t>NMOS local mismatch −10.9 %로 read · write 모두 목표 달성</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33172"/>
            <a:ext cx="11253216" cy="541782"/>
          </a:xfrm>
          <a:prstGeom prst="rect">
            <a:avLst/>
          </a:prstGeom>
          <a:noFill/>
        </p:spPr>
        <p:txBody>
          <a:bodyPr wrap="square" lIns="0" rIns="0" tIns="0" bIns="0" anchor="ctr">
            <a:noAutofit/>
          </a:bodyPr>
          <a:lstStyle/>
          <a:p>
            <a:pPr algn="l">
              <a:lnSpc>
                <a:spcPct val="110000"/>
              </a:lnSpc>
            </a:pPr>
            <a:r>
              <a:rPr sz="3000" b="1">
                <a:solidFill>
                  <a:srgbClr val="000000"/>
                </a:solidFill>
                <a:latin typeface="맑은 고딕"/>
                <a:ea typeface="맑은 고딕"/>
                <a:cs typeface="맑은 고딕"/>
              </a:rPr>
              <a:t>장점: 조건 변경 검토의 유연성과 학습 비용</a:t>
            </a:r>
          </a:p>
        </p:txBody>
      </p:sp>
      <p:sp>
        <p:nvSpPr>
          <p:cNvPr id="3" name="Rectangle 2"/>
          <p:cNvSpPr/>
          <p:nvPr/>
        </p:nvSpPr>
        <p:spPr>
          <a:xfrm>
            <a:off x="463296" y="887984"/>
            <a:ext cx="11265408" cy="48260"/>
          </a:xfrm>
          <a:prstGeom prst="rect">
            <a:avLst/>
          </a:prstGeom>
          <a:solidFill>
            <a:srgbClr val="E7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6720" y="6480810"/>
            <a:ext cx="182880" cy="205740"/>
          </a:xfrm>
          <a:prstGeom prst="rect">
            <a:avLst/>
          </a:prstGeom>
          <a:noFill/>
        </p:spPr>
        <p:txBody>
          <a:bodyPr wrap="square" lIns="0" rIns="0" tIns="0" bIns="0" anchor="t">
            <a:noAutofit/>
          </a:bodyPr>
          <a:lstStyle/>
          <a:p>
            <a:pPr algn="l">
              <a:lnSpc>
                <a:spcPct val="110000"/>
              </a:lnSpc>
            </a:pPr>
            <a:r>
              <a:rPr sz="1000" b="1">
                <a:solidFill>
                  <a:srgbClr val="44566A"/>
                </a:solidFill>
                <a:latin typeface="맑은 고딕"/>
                <a:ea typeface="맑은 고딕"/>
                <a:cs typeface="맑은 고딕"/>
              </a:rPr>
              <a:t>13</a:t>
            </a:r>
          </a:p>
        </p:txBody>
      </p:sp>
      <p:sp>
        <p:nvSpPr>
          <p:cNvPr id="5" name="TextBox 4"/>
          <p:cNvSpPr txBox="1"/>
          <p:nvPr/>
        </p:nvSpPr>
        <p:spPr>
          <a:xfrm>
            <a:off x="670560" y="6494526"/>
            <a:ext cx="9022080" cy="205740"/>
          </a:xfrm>
          <a:prstGeom prst="rect">
            <a:avLst/>
          </a:prstGeom>
          <a:noFill/>
        </p:spPr>
        <p:txBody>
          <a:bodyPr wrap="square" lIns="0" rIns="0" tIns="0" bIns="0" anchor="t">
            <a:noAutofit/>
          </a:bodyPr>
          <a:lstStyle/>
          <a:p>
            <a:pPr algn="l">
              <a:lnSpc>
                <a:spcPct val="110000"/>
              </a:lnSpc>
            </a:pPr>
            <a:r>
              <a:rPr sz="900" b="0">
                <a:solidFill>
                  <a:srgbClr val="4C5759"/>
                </a:solidFill>
                <a:latin typeface="Malgun Gothic Semilight"/>
                <a:ea typeface="Malgun Gothic Semilight"/>
                <a:cs typeface="Malgun Gothic Semilight"/>
              </a:rPr>
              <a:t>표는 Read worst · Write worst가 모두 목표를 맞추는 값 (역방향 추정) · 53×는 조건 수 · VDD 수 · Monte Carlo 횟수로 계산한 비율</a:t>
            </a:r>
          </a:p>
        </p:txBody>
      </p:sp>
      <p:sp>
        <p:nvSpPr>
          <p:cNvPr id="6" name="TextBox 5"/>
          <p:cNvSpPr txBox="1"/>
          <p:nvPr/>
        </p:nvSpPr>
        <p:spPr>
          <a:xfrm>
            <a:off x="9265920" y="6487668"/>
            <a:ext cx="2462784" cy="205740"/>
          </a:xfrm>
          <a:prstGeom prst="rect">
            <a:avLst/>
          </a:prstGeom>
          <a:noFill/>
        </p:spPr>
        <p:txBody>
          <a:bodyPr wrap="square" lIns="0" rIns="0" tIns="0" bIns="0" anchor="t">
            <a:noAutofit/>
          </a:bodyPr>
          <a:lstStyle/>
          <a:p>
            <a:pPr algn="r">
              <a:lnSpc>
                <a:spcPct val="110000"/>
              </a:lnSpc>
            </a:pPr>
            <a:r>
              <a:rPr sz="900" b="0">
                <a:solidFill>
                  <a:srgbClr val="7F7F7F"/>
                </a:solidFill>
                <a:latin typeface="Malgun Gothic Semilight"/>
                <a:ea typeface="Malgun Gothic Semilight"/>
                <a:cs typeface="Malgun Gothic Semilight"/>
              </a:rPr>
              <a:t>SRAM Vmin 순·역방향 추정</a:t>
            </a:r>
          </a:p>
        </p:txBody>
      </p:sp>
      <p:sp>
        <p:nvSpPr>
          <p:cNvPr id="7" name="TextBox 6"/>
          <p:cNvSpPr txBox="1"/>
          <p:nvPr/>
        </p:nvSpPr>
        <p:spPr>
          <a:xfrm>
            <a:off x="475488" y="1097280"/>
            <a:ext cx="6096000" cy="308610"/>
          </a:xfrm>
          <a:prstGeom prst="rect">
            <a:avLst/>
          </a:prstGeom>
          <a:noFill/>
        </p:spPr>
        <p:txBody>
          <a:bodyPr wrap="square" lIns="0" rIns="0" tIns="0" bIns="0" anchor="t">
            <a:noAutofit/>
          </a:bodyPr>
          <a:lstStyle/>
          <a:p>
            <a:pPr algn="l">
              <a:lnSpc>
                <a:spcPct val="110000"/>
              </a:lnSpc>
            </a:pPr>
            <a:r>
              <a:rPr sz="1600" b="1">
                <a:solidFill>
                  <a:srgbClr val="1A1A1A"/>
                </a:solidFill>
                <a:latin typeface="맑은 고딕"/>
                <a:ea typeface="맑은 고딕"/>
                <a:cs typeface="맑은 고딕"/>
              </a:rPr>
              <a:t>목표 Vmin을 바꿔 보면 — 필요한 local mismatch 감소량</a:t>
            </a:r>
          </a:p>
        </p:txBody>
      </p:sp>
      <p:sp>
        <p:nvSpPr>
          <p:cNvPr id="8" name="TextBox 7"/>
          <p:cNvSpPr txBox="1"/>
          <p:nvPr/>
        </p:nvSpPr>
        <p:spPr>
          <a:xfrm>
            <a:off x="463296" y="1543050"/>
            <a:ext cx="1950720" cy="342900"/>
          </a:xfrm>
          <a:prstGeom prst="rect">
            <a:avLst/>
          </a:prstGeom>
          <a:noFill/>
        </p:spPr>
        <p:txBody>
          <a:bodyPr wrap="square" lIns="0" rIns="0" tIns="0" bIns="0" anchor="ctr">
            <a:noAutofit/>
          </a:bodyPr>
          <a:lstStyle/>
          <a:p>
            <a:pPr algn="ctr">
              <a:lnSpc>
                <a:spcPct val="110000"/>
              </a:lnSpc>
            </a:pPr>
            <a:r>
              <a:rPr sz="1400" b="1">
                <a:solidFill>
                  <a:srgbClr val="7F7F7F"/>
                </a:solidFill>
                <a:latin typeface="맑은 고딕"/>
                <a:ea typeface="맑은 고딕"/>
                <a:cs typeface="맑은 고딕"/>
              </a:rPr>
              <a:t>목표 Vmin</a:t>
            </a:r>
          </a:p>
        </p:txBody>
      </p:sp>
      <p:sp>
        <p:nvSpPr>
          <p:cNvPr id="9" name="TextBox 8"/>
          <p:cNvSpPr txBox="1"/>
          <p:nvPr/>
        </p:nvSpPr>
        <p:spPr>
          <a:xfrm>
            <a:off x="2438400" y="1543050"/>
            <a:ext cx="1950720" cy="342900"/>
          </a:xfrm>
          <a:prstGeom prst="rect">
            <a:avLst/>
          </a:prstGeom>
          <a:noFill/>
        </p:spPr>
        <p:txBody>
          <a:bodyPr wrap="square" lIns="0" rIns="0" tIns="0" bIns="0" anchor="ctr">
            <a:noAutofit/>
          </a:bodyPr>
          <a:lstStyle/>
          <a:p>
            <a:pPr algn="ctr">
              <a:lnSpc>
                <a:spcPct val="110000"/>
              </a:lnSpc>
            </a:pPr>
            <a:r>
              <a:rPr sz="1400" b="1">
                <a:solidFill>
                  <a:srgbClr val="7F7F7F"/>
                </a:solidFill>
                <a:latin typeface="맑은 고딕"/>
                <a:ea typeface="맑은 고딕"/>
                <a:cs typeface="맑은 고딕"/>
              </a:rPr>
              <a:t>NMOS만</a:t>
            </a:r>
          </a:p>
        </p:txBody>
      </p:sp>
      <p:sp>
        <p:nvSpPr>
          <p:cNvPr id="10" name="TextBox 9"/>
          <p:cNvSpPr txBox="1"/>
          <p:nvPr/>
        </p:nvSpPr>
        <p:spPr>
          <a:xfrm>
            <a:off x="4389120" y="1543050"/>
            <a:ext cx="2316480" cy="342900"/>
          </a:xfrm>
          <a:prstGeom prst="rect">
            <a:avLst/>
          </a:prstGeom>
          <a:noFill/>
        </p:spPr>
        <p:txBody>
          <a:bodyPr wrap="square" lIns="0" rIns="0" tIns="0" bIns="0" anchor="ctr">
            <a:noAutofit/>
          </a:bodyPr>
          <a:lstStyle/>
          <a:p>
            <a:pPr algn="ctr">
              <a:lnSpc>
                <a:spcPct val="110000"/>
              </a:lnSpc>
            </a:pPr>
            <a:r>
              <a:rPr sz="1400" b="1">
                <a:solidFill>
                  <a:srgbClr val="7F7F7F"/>
                </a:solidFill>
                <a:latin typeface="맑은 고딕"/>
                <a:ea typeface="맑은 고딕"/>
                <a:cs typeface="맑은 고딕"/>
              </a:rPr>
              <a:t>NMOS + PMOS 각각</a:t>
            </a:r>
          </a:p>
        </p:txBody>
      </p:sp>
      <p:sp>
        <p:nvSpPr>
          <p:cNvPr id="11" name="Rectangle 10"/>
          <p:cNvSpPr/>
          <p:nvPr/>
        </p:nvSpPr>
        <p:spPr>
          <a:xfrm>
            <a:off x="463296" y="1913890"/>
            <a:ext cx="6242304" cy="127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3296" y="1988820"/>
            <a:ext cx="1950720" cy="685800"/>
          </a:xfrm>
          <a:prstGeom prst="rect">
            <a:avLst/>
          </a:prstGeom>
          <a:noFill/>
        </p:spPr>
        <p:txBody>
          <a:bodyPr wrap="square" lIns="0" rIns="0" tIns="0" bIns="0" anchor="ctr">
            <a:noAutofit/>
          </a:bodyPr>
          <a:lstStyle/>
          <a:p>
            <a:pPr algn="ctr">
              <a:lnSpc>
                <a:spcPct val="110000"/>
              </a:lnSpc>
            </a:pPr>
            <a:r>
              <a:rPr sz="1700" b="0">
                <a:solidFill>
                  <a:srgbClr val="7F7F7F"/>
                </a:solidFill>
                <a:latin typeface="Malgun Gothic Semilight"/>
                <a:ea typeface="Malgun Gothic Semilight"/>
                <a:cs typeface="Malgun Gothic Semilight"/>
              </a:rPr>
              <a:t>0.590 V</a:t>
            </a:r>
          </a:p>
        </p:txBody>
      </p:sp>
      <p:sp>
        <p:nvSpPr>
          <p:cNvPr id="13" name="TextBox 12"/>
          <p:cNvSpPr txBox="1"/>
          <p:nvPr/>
        </p:nvSpPr>
        <p:spPr>
          <a:xfrm>
            <a:off x="2438400" y="1988820"/>
            <a:ext cx="1950720" cy="685800"/>
          </a:xfrm>
          <a:prstGeom prst="rect">
            <a:avLst/>
          </a:prstGeom>
          <a:noFill/>
        </p:spPr>
        <p:txBody>
          <a:bodyPr wrap="square" lIns="0" rIns="0" tIns="0" bIns="0" anchor="ctr">
            <a:noAutofit/>
          </a:bodyPr>
          <a:lstStyle/>
          <a:p>
            <a:pPr algn="ctr">
              <a:lnSpc>
                <a:spcPct val="110000"/>
              </a:lnSpc>
            </a:pPr>
            <a:r>
              <a:rPr sz="2000" b="1">
                <a:solidFill>
                  <a:srgbClr val="1A1A1A"/>
                </a:solidFill>
                <a:latin typeface="맑은 고딕"/>
                <a:ea typeface="맑은 고딕"/>
                <a:cs typeface="맑은 고딕"/>
              </a:rPr>
              <a:t>−2.6 %</a:t>
            </a:r>
          </a:p>
        </p:txBody>
      </p:sp>
      <p:sp>
        <p:nvSpPr>
          <p:cNvPr id="14" name="TextBox 13"/>
          <p:cNvSpPr txBox="1"/>
          <p:nvPr/>
        </p:nvSpPr>
        <p:spPr>
          <a:xfrm>
            <a:off x="4389120" y="1988820"/>
            <a:ext cx="2316480" cy="685800"/>
          </a:xfrm>
          <a:prstGeom prst="rect">
            <a:avLst/>
          </a:prstGeom>
          <a:noFill/>
        </p:spPr>
        <p:txBody>
          <a:bodyPr wrap="square" lIns="0" rIns="0" tIns="0" bIns="0" anchor="ctr">
            <a:noAutofit/>
          </a:bodyPr>
          <a:lstStyle/>
          <a:p>
            <a:pPr algn="ctr">
              <a:lnSpc>
                <a:spcPct val="110000"/>
              </a:lnSpc>
            </a:pPr>
            <a:r>
              <a:rPr sz="2000" b="1">
                <a:solidFill>
                  <a:srgbClr val="1A1A1A"/>
                </a:solidFill>
                <a:latin typeface="맑은 고딕"/>
                <a:ea typeface="맑은 고딕"/>
                <a:cs typeface="맑은 고딕"/>
              </a:rPr>
              <a:t>−1.7 %</a:t>
            </a:r>
          </a:p>
        </p:txBody>
      </p:sp>
      <p:sp>
        <p:nvSpPr>
          <p:cNvPr id="15" name="Rectangle 14"/>
          <p:cNvSpPr/>
          <p:nvPr/>
        </p:nvSpPr>
        <p:spPr>
          <a:xfrm>
            <a:off x="463296" y="2669858"/>
            <a:ext cx="624230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3296" y="2674620"/>
            <a:ext cx="6242304" cy="6858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3296" y="2674620"/>
            <a:ext cx="1950720" cy="685800"/>
          </a:xfrm>
          <a:prstGeom prst="rect">
            <a:avLst/>
          </a:prstGeom>
          <a:noFill/>
        </p:spPr>
        <p:txBody>
          <a:bodyPr wrap="square" lIns="0" rIns="0" tIns="0" bIns="0" anchor="ctr">
            <a:noAutofit/>
          </a:bodyPr>
          <a:lstStyle/>
          <a:p>
            <a:pPr algn="ctr">
              <a:lnSpc>
                <a:spcPct val="110000"/>
              </a:lnSpc>
            </a:pPr>
            <a:r>
              <a:rPr sz="1700" b="1">
                <a:solidFill>
                  <a:srgbClr val="1A1A1A"/>
                </a:solidFill>
                <a:latin typeface="맑은 고딕"/>
                <a:ea typeface="맑은 고딕"/>
                <a:cs typeface="맑은 고딕"/>
              </a:rPr>
              <a:t>0.575 V (VOC)</a:t>
            </a:r>
          </a:p>
        </p:txBody>
      </p:sp>
      <p:sp>
        <p:nvSpPr>
          <p:cNvPr id="18" name="TextBox 17"/>
          <p:cNvSpPr txBox="1"/>
          <p:nvPr/>
        </p:nvSpPr>
        <p:spPr>
          <a:xfrm>
            <a:off x="2438400" y="2674620"/>
            <a:ext cx="1950720" cy="685800"/>
          </a:xfrm>
          <a:prstGeom prst="rect">
            <a:avLst/>
          </a:prstGeom>
          <a:noFill/>
        </p:spPr>
        <p:txBody>
          <a:bodyPr wrap="square" lIns="0" rIns="0" tIns="0" bIns="0" anchor="ctr">
            <a:noAutofit/>
          </a:bodyPr>
          <a:lstStyle/>
          <a:p>
            <a:pPr algn="ctr">
              <a:lnSpc>
                <a:spcPct val="110000"/>
              </a:lnSpc>
            </a:pPr>
            <a:r>
              <a:rPr sz="2000" b="1">
                <a:solidFill>
                  <a:srgbClr val="1428A0"/>
                </a:solidFill>
                <a:latin typeface="맑은 고딕"/>
                <a:ea typeface="맑은 고딕"/>
                <a:cs typeface="맑은 고딕"/>
              </a:rPr>
              <a:t>−10.9 %</a:t>
            </a:r>
          </a:p>
        </p:txBody>
      </p:sp>
      <p:sp>
        <p:nvSpPr>
          <p:cNvPr id="19" name="TextBox 18"/>
          <p:cNvSpPr txBox="1"/>
          <p:nvPr/>
        </p:nvSpPr>
        <p:spPr>
          <a:xfrm>
            <a:off x="4389120" y="2674620"/>
            <a:ext cx="2316480" cy="685800"/>
          </a:xfrm>
          <a:prstGeom prst="rect">
            <a:avLst/>
          </a:prstGeom>
          <a:noFill/>
        </p:spPr>
        <p:txBody>
          <a:bodyPr wrap="square" lIns="0" rIns="0" tIns="0" bIns="0" anchor="ctr">
            <a:noAutofit/>
          </a:bodyPr>
          <a:lstStyle/>
          <a:p>
            <a:pPr algn="ctr">
              <a:lnSpc>
                <a:spcPct val="110000"/>
              </a:lnSpc>
            </a:pPr>
            <a:r>
              <a:rPr sz="2000" b="1">
                <a:solidFill>
                  <a:srgbClr val="1428A0"/>
                </a:solidFill>
                <a:latin typeface="맑은 고딕"/>
                <a:ea typeface="맑은 고딕"/>
                <a:cs typeface="맑은 고딕"/>
              </a:rPr>
              <a:t>−7.8 %</a:t>
            </a:r>
          </a:p>
        </p:txBody>
      </p:sp>
      <p:sp>
        <p:nvSpPr>
          <p:cNvPr id="20" name="Rectangle 19"/>
          <p:cNvSpPr/>
          <p:nvPr/>
        </p:nvSpPr>
        <p:spPr>
          <a:xfrm>
            <a:off x="463296" y="3355658"/>
            <a:ext cx="624230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3296" y="3360420"/>
            <a:ext cx="1950720" cy="685800"/>
          </a:xfrm>
          <a:prstGeom prst="rect">
            <a:avLst/>
          </a:prstGeom>
          <a:noFill/>
        </p:spPr>
        <p:txBody>
          <a:bodyPr wrap="square" lIns="0" rIns="0" tIns="0" bIns="0" anchor="ctr">
            <a:noAutofit/>
          </a:bodyPr>
          <a:lstStyle/>
          <a:p>
            <a:pPr algn="ctr">
              <a:lnSpc>
                <a:spcPct val="110000"/>
              </a:lnSpc>
            </a:pPr>
            <a:r>
              <a:rPr sz="1700" b="0">
                <a:solidFill>
                  <a:srgbClr val="7F7F7F"/>
                </a:solidFill>
                <a:latin typeface="Malgun Gothic Semilight"/>
                <a:ea typeface="Malgun Gothic Semilight"/>
                <a:cs typeface="Malgun Gothic Semilight"/>
              </a:rPr>
              <a:t>0.560 V</a:t>
            </a:r>
          </a:p>
        </p:txBody>
      </p:sp>
      <p:sp>
        <p:nvSpPr>
          <p:cNvPr id="22" name="TextBox 21"/>
          <p:cNvSpPr txBox="1"/>
          <p:nvPr/>
        </p:nvSpPr>
        <p:spPr>
          <a:xfrm>
            <a:off x="2438400" y="3360420"/>
            <a:ext cx="1950720" cy="685800"/>
          </a:xfrm>
          <a:prstGeom prst="rect">
            <a:avLst/>
          </a:prstGeom>
          <a:noFill/>
        </p:spPr>
        <p:txBody>
          <a:bodyPr wrap="square" lIns="0" rIns="0" tIns="0" bIns="0" anchor="ctr">
            <a:noAutofit/>
          </a:bodyPr>
          <a:lstStyle/>
          <a:p>
            <a:pPr algn="ctr">
              <a:lnSpc>
                <a:spcPct val="110000"/>
              </a:lnSpc>
            </a:pPr>
            <a:r>
              <a:rPr sz="2000" b="1">
                <a:solidFill>
                  <a:srgbClr val="1A1A1A"/>
                </a:solidFill>
                <a:latin typeface="맑은 고딕"/>
                <a:ea typeface="맑은 고딕"/>
                <a:cs typeface="맑은 고딕"/>
              </a:rPr>
              <a:t>−20.0 %</a:t>
            </a:r>
          </a:p>
        </p:txBody>
      </p:sp>
      <p:sp>
        <p:nvSpPr>
          <p:cNvPr id="23" name="TextBox 22"/>
          <p:cNvSpPr txBox="1"/>
          <p:nvPr/>
        </p:nvSpPr>
        <p:spPr>
          <a:xfrm>
            <a:off x="4389120" y="3360420"/>
            <a:ext cx="2316480" cy="685800"/>
          </a:xfrm>
          <a:prstGeom prst="rect">
            <a:avLst/>
          </a:prstGeom>
          <a:noFill/>
        </p:spPr>
        <p:txBody>
          <a:bodyPr wrap="square" lIns="0" rIns="0" tIns="0" bIns="0" anchor="ctr">
            <a:noAutofit/>
          </a:bodyPr>
          <a:lstStyle/>
          <a:p>
            <a:pPr algn="ctr">
              <a:lnSpc>
                <a:spcPct val="110000"/>
              </a:lnSpc>
            </a:pPr>
            <a:r>
              <a:rPr sz="2000" b="1">
                <a:solidFill>
                  <a:srgbClr val="1A1A1A"/>
                </a:solidFill>
                <a:latin typeface="맑은 고딕"/>
                <a:ea typeface="맑은 고딕"/>
                <a:cs typeface="맑은 고딕"/>
              </a:rPr>
              <a:t>−13.9 %</a:t>
            </a:r>
          </a:p>
        </p:txBody>
      </p:sp>
      <p:sp>
        <p:nvSpPr>
          <p:cNvPr id="24" name="Rectangle 23"/>
          <p:cNvSpPr/>
          <p:nvPr/>
        </p:nvSpPr>
        <p:spPr>
          <a:xfrm>
            <a:off x="463296" y="4041458"/>
            <a:ext cx="624230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3296" y="4046220"/>
            <a:ext cx="1950720" cy="685800"/>
          </a:xfrm>
          <a:prstGeom prst="rect">
            <a:avLst/>
          </a:prstGeom>
          <a:noFill/>
        </p:spPr>
        <p:txBody>
          <a:bodyPr wrap="square" lIns="0" rIns="0" tIns="0" bIns="0" anchor="ctr">
            <a:noAutofit/>
          </a:bodyPr>
          <a:lstStyle/>
          <a:p>
            <a:pPr algn="ctr">
              <a:lnSpc>
                <a:spcPct val="110000"/>
              </a:lnSpc>
            </a:pPr>
            <a:r>
              <a:rPr sz="1700" b="0">
                <a:solidFill>
                  <a:srgbClr val="7F7F7F"/>
                </a:solidFill>
                <a:latin typeface="Malgun Gothic Semilight"/>
                <a:ea typeface="Malgun Gothic Semilight"/>
                <a:cs typeface="Malgun Gothic Semilight"/>
              </a:rPr>
              <a:t>0.550 V</a:t>
            </a:r>
          </a:p>
        </p:txBody>
      </p:sp>
      <p:sp>
        <p:nvSpPr>
          <p:cNvPr id="26" name="TextBox 25"/>
          <p:cNvSpPr txBox="1"/>
          <p:nvPr/>
        </p:nvSpPr>
        <p:spPr>
          <a:xfrm>
            <a:off x="2438400" y="4046220"/>
            <a:ext cx="1950720" cy="685800"/>
          </a:xfrm>
          <a:prstGeom prst="rect">
            <a:avLst/>
          </a:prstGeom>
          <a:noFill/>
        </p:spPr>
        <p:txBody>
          <a:bodyPr wrap="square" lIns="0" rIns="0" tIns="0" bIns="0" anchor="ctr">
            <a:noAutofit/>
          </a:bodyPr>
          <a:lstStyle/>
          <a:p>
            <a:pPr algn="ctr">
              <a:lnSpc>
                <a:spcPct val="110000"/>
              </a:lnSpc>
            </a:pPr>
            <a:r>
              <a:rPr sz="2000" b="1">
                <a:solidFill>
                  <a:srgbClr val="1A1A1A"/>
                </a:solidFill>
                <a:latin typeface="맑은 고딕"/>
                <a:ea typeface="맑은 고딕"/>
                <a:cs typeface="맑은 고딕"/>
              </a:rPr>
              <a:t>−26.3 %</a:t>
            </a:r>
          </a:p>
        </p:txBody>
      </p:sp>
      <p:sp>
        <p:nvSpPr>
          <p:cNvPr id="27" name="TextBox 26"/>
          <p:cNvSpPr txBox="1"/>
          <p:nvPr/>
        </p:nvSpPr>
        <p:spPr>
          <a:xfrm>
            <a:off x="4389120" y="4046220"/>
            <a:ext cx="2316480" cy="685800"/>
          </a:xfrm>
          <a:prstGeom prst="rect">
            <a:avLst/>
          </a:prstGeom>
          <a:noFill/>
        </p:spPr>
        <p:txBody>
          <a:bodyPr wrap="square" lIns="0" rIns="0" tIns="0" bIns="0" anchor="ctr">
            <a:noAutofit/>
          </a:bodyPr>
          <a:lstStyle/>
          <a:p>
            <a:pPr algn="ctr">
              <a:lnSpc>
                <a:spcPct val="110000"/>
              </a:lnSpc>
            </a:pPr>
            <a:r>
              <a:rPr sz="2000" b="1">
                <a:solidFill>
                  <a:srgbClr val="1A1A1A"/>
                </a:solidFill>
                <a:latin typeface="맑은 고딕"/>
                <a:ea typeface="맑은 고딕"/>
                <a:cs typeface="맑은 고딕"/>
              </a:rPr>
              <a:t>−18.0 %</a:t>
            </a:r>
          </a:p>
        </p:txBody>
      </p:sp>
      <p:sp>
        <p:nvSpPr>
          <p:cNvPr id="28" name="Rectangle 27"/>
          <p:cNvSpPr/>
          <p:nvPr/>
        </p:nvSpPr>
        <p:spPr>
          <a:xfrm>
            <a:off x="463296" y="4727258"/>
            <a:ext cx="624230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5488" y="4869180"/>
            <a:ext cx="6217920" cy="274320"/>
          </a:xfrm>
          <a:prstGeom prst="rect">
            <a:avLst/>
          </a:prstGeom>
          <a:noFill/>
        </p:spPr>
        <p:txBody>
          <a:bodyPr wrap="square" lIns="0" rIns="0" tIns="0" bIns="0" anchor="t">
            <a:noAutofit/>
          </a:bodyPr>
          <a:lstStyle/>
          <a:p>
            <a:pPr algn="l">
              <a:lnSpc>
                <a:spcPct val="110000"/>
              </a:lnSpc>
            </a:pPr>
            <a:r>
              <a:rPr sz="1400" b="1">
                <a:solidFill>
                  <a:srgbClr val="1A1A1A"/>
                </a:solidFill>
                <a:latin typeface="맑은 고딕"/>
                <a:ea typeface="맑은 고딕"/>
                <a:cs typeface="맑은 고딕"/>
              </a:rPr>
              <a:t>목표를 바꿀 때마다 Monte Carlo simulation이 더 들지 않는다</a:t>
            </a:r>
          </a:p>
        </p:txBody>
      </p:sp>
      <p:sp>
        <p:nvSpPr>
          <p:cNvPr id="30" name="Rectangle 29"/>
          <p:cNvSpPr/>
          <p:nvPr/>
        </p:nvSpPr>
        <p:spPr>
          <a:xfrm>
            <a:off x="7188518" y="1097280"/>
            <a:ext cx="9525" cy="425196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59040" y="1097280"/>
            <a:ext cx="4169664" cy="308610"/>
          </a:xfrm>
          <a:prstGeom prst="rect">
            <a:avLst/>
          </a:prstGeom>
          <a:noFill/>
        </p:spPr>
        <p:txBody>
          <a:bodyPr wrap="square" lIns="0" rIns="0" tIns="0" bIns="0" anchor="t">
            <a:noAutofit/>
          </a:bodyPr>
          <a:lstStyle/>
          <a:p>
            <a:pPr algn="l">
              <a:lnSpc>
                <a:spcPct val="110000"/>
              </a:lnSpc>
            </a:pPr>
            <a:r>
              <a:rPr sz="1600" b="1">
                <a:solidFill>
                  <a:srgbClr val="1A1A1A"/>
                </a:solidFill>
                <a:latin typeface="맑은 고딕"/>
                <a:ea typeface="맑은 고딕"/>
                <a:cs typeface="맑은 고딕"/>
              </a:rPr>
              <a:t>처음 학습 비용도 줄일 수 있다</a:t>
            </a:r>
          </a:p>
        </p:txBody>
      </p:sp>
      <p:sp>
        <p:nvSpPr>
          <p:cNvPr id="32" name="Rectangle 31"/>
          <p:cNvSpPr/>
          <p:nvPr/>
        </p:nvSpPr>
        <p:spPr>
          <a:xfrm>
            <a:off x="7559040" y="1572578"/>
            <a:ext cx="416966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59040" y="1632204"/>
            <a:ext cx="1706880" cy="480060"/>
          </a:xfrm>
          <a:prstGeom prst="rect">
            <a:avLst/>
          </a:prstGeom>
          <a:noFill/>
        </p:spPr>
        <p:txBody>
          <a:bodyPr wrap="square" lIns="0" rIns="0" tIns="0" bIns="0" anchor="ctr">
            <a:noAutofit/>
          </a:bodyPr>
          <a:lstStyle/>
          <a:p>
            <a:pPr algn="l">
              <a:lnSpc>
                <a:spcPct val="110000"/>
              </a:lnSpc>
            </a:pPr>
            <a:r>
              <a:rPr sz="1300" b="0">
                <a:solidFill>
                  <a:srgbClr val="7F7F7F"/>
                </a:solidFill>
                <a:latin typeface="Malgun Gothic Semilight"/>
                <a:ea typeface="Malgun Gothic Semilight"/>
                <a:cs typeface="Malgun Gothic Semilight"/>
              </a:rPr>
              <a:t>학습 조건</a:t>
            </a:r>
          </a:p>
        </p:txBody>
      </p:sp>
      <p:sp>
        <p:nvSpPr>
          <p:cNvPr id="34" name="TextBox 33"/>
          <p:cNvSpPr txBox="1"/>
          <p:nvPr/>
        </p:nvSpPr>
        <p:spPr>
          <a:xfrm>
            <a:off x="9265920" y="1632204"/>
            <a:ext cx="2462784" cy="480060"/>
          </a:xfrm>
          <a:prstGeom prst="rect">
            <a:avLst/>
          </a:prstGeom>
          <a:noFill/>
        </p:spPr>
        <p:txBody>
          <a:bodyPr wrap="square" lIns="0" rIns="0" tIns="0" bIns="0" anchor="ctr">
            <a:noAutofit/>
          </a:bodyPr>
          <a:lstStyle/>
          <a:p>
            <a:pPr algn="l">
              <a:lnSpc>
                <a:spcPct val="110000"/>
              </a:lnSpc>
            </a:pPr>
            <a:r>
              <a:rPr sz="1800" b="0">
                <a:solidFill>
                  <a:srgbClr val="1A1A1A"/>
                </a:solidFill>
                <a:latin typeface="Malgun Gothic Semilight"/>
                <a:ea typeface="Malgun Gothic Semilight"/>
                <a:cs typeface="Malgun Gothic Semilight"/>
              </a:rPr>
              <a:t>1,700  →  </a:t>
            </a:r>
            <a:r>
              <a:rPr sz="1800" b="1">
                <a:solidFill>
                  <a:srgbClr val="1A1A1A"/>
                </a:solidFill>
                <a:latin typeface="맑은 고딕"/>
                <a:ea typeface="맑은 고딕"/>
                <a:cs typeface="맑은 고딕"/>
              </a:rPr>
              <a:t>400</a:t>
            </a:r>
          </a:p>
        </p:txBody>
      </p:sp>
      <p:sp>
        <p:nvSpPr>
          <p:cNvPr id="35" name="Rectangle 34"/>
          <p:cNvSpPr/>
          <p:nvPr/>
        </p:nvSpPr>
        <p:spPr>
          <a:xfrm>
            <a:off x="7559040" y="2189798"/>
            <a:ext cx="416966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59040" y="2249424"/>
            <a:ext cx="1706880" cy="480060"/>
          </a:xfrm>
          <a:prstGeom prst="rect">
            <a:avLst/>
          </a:prstGeom>
          <a:noFill/>
        </p:spPr>
        <p:txBody>
          <a:bodyPr wrap="square" lIns="0" rIns="0" tIns="0" bIns="0" anchor="ctr">
            <a:noAutofit/>
          </a:bodyPr>
          <a:lstStyle/>
          <a:p>
            <a:pPr algn="l">
              <a:lnSpc>
                <a:spcPct val="110000"/>
              </a:lnSpc>
            </a:pPr>
            <a:r>
              <a:rPr sz="1300" b="0">
                <a:solidFill>
                  <a:srgbClr val="7F7F7F"/>
                </a:solidFill>
                <a:latin typeface="Malgun Gothic Semilight"/>
                <a:ea typeface="Malgun Gothic Semilight"/>
                <a:cs typeface="Malgun Gothic Semilight"/>
              </a:rPr>
              <a:t>VDD 수</a:t>
            </a:r>
          </a:p>
        </p:txBody>
      </p:sp>
      <p:sp>
        <p:nvSpPr>
          <p:cNvPr id="37" name="TextBox 36"/>
          <p:cNvSpPr txBox="1"/>
          <p:nvPr/>
        </p:nvSpPr>
        <p:spPr>
          <a:xfrm>
            <a:off x="9265920" y="2249424"/>
            <a:ext cx="2462784" cy="480060"/>
          </a:xfrm>
          <a:prstGeom prst="rect">
            <a:avLst/>
          </a:prstGeom>
          <a:noFill/>
        </p:spPr>
        <p:txBody>
          <a:bodyPr wrap="square" lIns="0" rIns="0" tIns="0" bIns="0" anchor="ctr">
            <a:noAutofit/>
          </a:bodyPr>
          <a:lstStyle/>
          <a:p>
            <a:pPr algn="l">
              <a:lnSpc>
                <a:spcPct val="110000"/>
              </a:lnSpc>
            </a:pPr>
            <a:r>
              <a:rPr sz="1800" b="0">
                <a:solidFill>
                  <a:srgbClr val="1A1A1A"/>
                </a:solidFill>
                <a:latin typeface="Malgun Gothic Semilight"/>
                <a:ea typeface="Malgun Gothic Semilight"/>
                <a:cs typeface="Malgun Gothic Semilight"/>
              </a:rPr>
              <a:t>5  →  </a:t>
            </a:r>
            <a:r>
              <a:rPr sz="1800" b="1">
                <a:solidFill>
                  <a:srgbClr val="1A1A1A"/>
                </a:solidFill>
                <a:latin typeface="맑은 고딕"/>
                <a:ea typeface="맑은 고딕"/>
                <a:cs typeface="맑은 고딕"/>
              </a:rPr>
              <a:t>4</a:t>
            </a:r>
          </a:p>
        </p:txBody>
      </p:sp>
      <p:sp>
        <p:nvSpPr>
          <p:cNvPr id="38" name="Rectangle 37"/>
          <p:cNvSpPr/>
          <p:nvPr/>
        </p:nvSpPr>
        <p:spPr>
          <a:xfrm>
            <a:off x="7559040" y="2807018"/>
            <a:ext cx="416966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59040" y="2866644"/>
            <a:ext cx="1706880" cy="480060"/>
          </a:xfrm>
          <a:prstGeom prst="rect">
            <a:avLst/>
          </a:prstGeom>
          <a:noFill/>
        </p:spPr>
        <p:txBody>
          <a:bodyPr wrap="square" lIns="0" rIns="0" tIns="0" bIns="0" anchor="ctr">
            <a:noAutofit/>
          </a:bodyPr>
          <a:lstStyle/>
          <a:p>
            <a:pPr algn="l">
              <a:lnSpc>
                <a:spcPct val="110000"/>
              </a:lnSpc>
            </a:pPr>
            <a:r>
              <a:rPr sz="1300" b="0">
                <a:solidFill>
                  <a:srgbClr val="7F7F7F"/>
                </a:solidFill>
                <a:latin typeface="Malgun Gothic Semilight"/>
                <a:ea typeface="Malgun Gothic Semilight"/>
                <a:cs typeface="Malgun Gothic Semilight"/>
              </a:rPr>
              <a:t>Monte Carlo 횟수</a:t>
            </a:r>
          </a:p>
        </p:txBody>
      </p:sp>
      <p:sp>
        <p:nvSpPr>
          <p:cNvPr id="40" name="TextBox 39"/>
          <p:cNvSpPr txBox="1"/>
          <p:nvPr/>
        </p:nvSpPr>
        <p:spPr>
          <a:xfrm>
            <a:off x="9265920" y="2866644"/>
            <a:ext cx="2462784" cy="480060"/>
          </a:xfrm>
          <a:prstGeom prst="rect">
            <a:avLst/>
          </a:prstGeom>
          <a:noFill/>
        </p:spPr>
        <p:txBody>
          <a:bodyPr wrap="square" lIns="0" rIns="0" tIns="0" bIns="0" anchor="ctr">
            <a:noAutofit/>
          </a:bodyPr>
          <a:lstStyle/>
          <a:p>
            <a:pPr algn="l">
              <a:lnSpc>
                <a:spcPct val="110000"/>
              </a:lnSpc>
            </a:pPr>
            <a:r>
              <a:rPr sz="1800" b="0">
                <a:solidFill>
                  <a:srgbClr val="1A1A1A"/>
                </a:solidFill>
                <a:latin typeface="Malgun Gothic Semilight"/>
                <a:ea typeface="Malgun Gothic Semilight"/>
                <a:cs typeface="Malgun Gothic Semilight"/>
              </a:rPr>
              <a:t>5,000  →  </a:t>
            </a:r>
            <a:r>
              <a:rPr sz="1800" b="1">
                <a:solidFill>
                  <a:srgbClr val="1A1A1A"/>
                </a:solidFill>
                <a:latin typeface="맑은 고딕"/>
                <a:ea typeface="맑은 고딕"/>
                <a:cs typeface="맑은 고딕"/>
              </a:rPr>
              <a:t>500</a:t>
            </a:r>
          </a:p>
        </p:txBody>
      </p:sp>
      <p:sp>
        <p:nvSpPr>
          <p:cNvPr id="41" name="Rectangle 40"/>
          <p:cNvSpPr/>
          <p:nvPr/>
        </p:nvSpPr>
        <p:spPr>
          <a:xfrm>
            <a:off x="7559040" y="3424238"/>
            <a:ext cx="4169664"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59040" y="3634740"/>
            <a:ext cx="2072640" cy="548640"/>
          </a:xfrm>
          <a:prstGeom prst="rect">
            <a:avLst/>
          </a:prstGeom>
          <a:noFill/>
        </p:spPr>
        <p:txBody>
          <a:bodyPr wrap="square" lIns="0" rIns="0" tIns="0" bIns="0" anchor="t">
            <a:noAutofit/>
          </a:bodyPr>
          <a:lstStyle/>
          <a:p>
            <a:pPr algn="ctr">
              <a:lnSpc>
                <a:spcPct val="110000"/>
              </a:lnSpc>
            </a:pPr>
            <a:r>
              <a:rPr sz="3000" b="1">
                <a:solidFill>
                  <a:srgbClr val="1428A0"/>
                </a:solidFill>
                <a:latin typeface="맑은 고딕"/>
                <a:ea typeface="맑은 고딕"/>
                <a:cs typeface="맑은 고딕"/>
              </a:rPr>
              <a:t>1/53</a:t>
            </a:r>
            <a:r>
              <a:rPr sz="1800">
                <a:solidFill>
                  <a:srgbClr val="1428A0"/>
                </a:solidFill>
                <a:latin typeface="Malgun Gothic Semilight"/>
                <a:ea typeface="Malgun Gothic Semilight"/>
                <a:cs typeface="Malgun Gothic Semilight"/>
              </a:rPr>
              <a:t> </a:t>
            </a:r>
          </a:p>
        </p:txBody>
      </p:sp>
      <p:sp>
        <p:nvSpPr>
          <p:cNvPr id="43" name="TextBox 42"/>
          <p:cNvSpPr txBox="1"/>
          <p:nvPr/>
        </p:nvSpPr>
        <p:spPr>
          <a:xfrm>
            <a:off x="7559040" y="4224528"/>
            <a:ext cx="2072640" cy="240030"/>
          </a:xfrm>
          <a:prstGeom prst="rect">
            <a:avLst/>
          </a:prstGeom>
          <a:noFill/>
        </p:spPr>
        <p:txBody>
          <a:bodyPr wrap="square" lIns="0" rIns="0" tIns="0" bIns="0" anchor="t">
            <a:noAutofit/>
          </a:bodyPr>
          <a:lstStyle/>
          <a:p>
            <a:pPr algn="ctr">
              <a:lnSpc>
                <a:spcPct val="110000"/>
              </a:lnSpc>
            </a:pPr>
            <a:r>
              <a:rPr sz="1200" b="0">
                <a:solidFill>
                  <a:srgbClr val="7F7F7F"/>
                </a:solidFill>
                <a:latin typeface="Malgun Gothic Semilight"/>
                <a:ea typeface="Malgun Gothic Semilight"/>
                <a:cs typeface="Malgun Gothic Semilight"/>
              </a:rPr>
              <a:t>학습 비용 (read)</a:t>
            </a:r>
          </a:p>
        </p:txBody>
      </p:sp>
      <p:sp>
        <p:nvSpPr>
          <p:cNvPr id="44" name="TextBox 43"/>
          <p:cNvSpPr txBox="1"/>
          <p:nvPr/>
        </p:nvSpPr>
        <p:spPr>
          <a:xfrm>
            <a:off x="9656064" y="3634740"/>
            <a:ext cx="2072640" cy="548640"/>
          </a:xfrm>
          <a:prstGeom prst="rect">
            <a:avLst/>
          </a:prstGeom>
          <a:noFill/>
        </p:spPr>
        <p:txBody>
          <a:bodyPr wrap="square" lIns="0" rIns="0" tIns="0" bIns="0" anchor="t">
            <a:noAutofit/>
          </a:bodyPr>
          <a:lstStyle/>
          <a:p>
            <a:pPr algn="ctr">
              <a:lnSpc>
                <a:spcPct val="110000"/>
              </a:lnSpc>
            </a:pPr>
            <a:r>
              <a:rPr sz="3000" b="1">
                <a:solidFill>
                  <a:srgbClr val="1428A0"/>
                </a:solidFill>
                <a:latin typeface="맑은 고딕"/>
                <a:ea typeface="맑은 고딕"/>
                <a:cs typeface="맑은 고딕"/>
              </a:rPr>
              <a:t>+3.5</a:t>
            </a:r>
            <a:r>
              <a:rPr sz="1800">
                <a:solidFill>
                  <a:srgbClr val="1428A0"/>
                </a:solidFill>
                <a:latin typeface="Malgun Gothic Semilight"/>
                <a:ea typeface="Malgun Gothic Semilight"/>
                <a:cs typeface="Malgun Gothic Semilight"/>
              </a:rPr>
              <a:t> mV</a:t>
            </a:r>
          </a:p>
        </p:txBody>
      </p:sp>
      <p:sp>
        <p:nvSpPr>
          <p:cNvPr id="45" name="TextBox 44"/>
          <p:cNvSpPr txBox="1"/>
          <p:nvPr/>
        </p:nvSpPr>
        <p:spPr>
          <a:xfrm>
            <a:off x="9656064" y="4224528"/>
            <a:ext cx="2072640" cy="240030"/>
          </a:xfrm>
          <a:prstGeom prst="rect">
            <a:avLst/>
          </a:prstGeom>
          <a:noFill/>
        </p:spPr>
        <p:txBody>
          <a:bodyPr wrap="square" lIns="0" rIns="0" tIns="0" bIns="0" anchor="t">
            <a:noAutofit/>
          </a:bodyPr>
          <a:lstStyle/>
          <a:p>
            <a:pPr algn="ctr">
              <a:lnSpc>
                <a:spcPct val="110000"/>
              </a:lnSpc>
            </a:pPr>
            <a:r>
              <a:rPr sz="1200" b="0">
                <a:solidFill>
                  <a:srgbClr val="7F7F7F"/>
                </a:solidFill>
                <a:latin typeface="Malgun Gothic Semilight"/>
                <a:ea typeface="Malgun Gothic Semilight"/>
                <a:cs typeface="Malgun Gothic Semilight"/>
              </a:rPr>
              <a:t>늘어나는 오차</a:t>
            </a:r>
          </a:p>
        </p:txBody>
      </p:sp>
      <p:sp>
        <p:nvSpPr>
          <p:cNvPr id="46" name="Rectangle 45"/>
          <p:cNvSpPr/>
          <p:nvPr/>
        </p:nvSpPr>
        <p:spPr>
          <a:xfrm>
            <a:off x="9639109" y="3703320"/>
            <a:ext cx="9525" cy="6858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63296" y="5481638"/>
            <a:ext cx="11265408"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3296" y="5568696"/>
            <a:ext cx="11265408" cy="480060"/>
          </a:xfrm>
          <a:prstGeom prst="rect">
            <a:avLst/>
          </a:prstGeom>
          <a:noFill/>
        </p:spPr>
        <p:txBody>
          <a:bodyPr wrap="square" lIns="0" rIns="0" tIns="0" bIns="0" anchor="ctr">
            <a:noAutofit/>
          </a:bodyPr>
          <a:lstStyle/>
          <a:p>
            <a:pPr algn="ctr">
              <a:lnSpc>
                <a:spcPct val="110000"/>
              </a:lnSpc>
            </a:pPr>
            <a:r>
              <a:rPr sz="1900" b="1">
                <a:solidFill>
                  <a:srgbClr val="1428A0"/>
                </a:solidFill>
                <a:latin typeface="맑은 고딕"/>
                <a:ea typeface="맑은 고딕"/>
                <a:cs typeface="맑은 고딕"/>
              </a:rPr>
              <a:t>검토 조건이 늘어도 Monte Carlo 비용은 늘지 않는다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233172"/>
            <a:ext cx="11253216" cy="541782"/>
          </a:xfrm>
          <a:prstGeom prst="rect">
            <a:avLst/>
          </a:prstGeom>
          <a:noFill/>
        </p:spPr>
        <p:txBody>
          <a:bodyPr wrap="square" lIns="0" rIns="0" tIns="0" bIns="0" anchor="ctr">
            <a:noAutofit/>
          </a:bodyPr>
          <a:lstStyle/>
          <a:p>
            <a:pPr algn="l">
              <a:lnSpc>
                <a:spcPct val="110000"/>
              </a:lnSpc>
            </a:pPr>
            <a:r>
              <a:rPr sz="3000" b="1">
                <a:solidFill>
                  <a:srgbClr val="000000"/>
                </a:solidFill>
                <a:latin typeface="맑은 고딕"/>
                <a:ea typeface="맑은 고딕"/>
                <a:cs typeface="맑은 고딕"/>
              </a:rPr>
              <a:t>정리: model 기반 Vmin 검토의 의의</a:t>
            </a:r>
          </a:p>
        </p:txBody>
      </p:sp>
      <p:sp>
        <p:nvSpPr>
          <p:cNvPr id="3" name="Rectangle 2"/>
          <p:cNvSpPr/>
          <p:nvPr/>
        </p:nvSpPr>
        <p:spPr>
          <a:xfrm>
            <a:off x="463296" y="887984"/>
            <a:ext cx="11265408" cy="48260"/>
          </a:xfrm>
          <a:prstGeom prst="rect">
            <a:avLst/>
          </a:prstGeom>
          <a:solidFill>
            <a:srgbClr val="E7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6720" y="6480810"/>
            <a:ext cx="182880" cy="205740"/>
          </a:xfrm>
          <a:prstGeom prst="rect">
            <a:avLst/>
          </a:prstGeom>
          <a:noFill/>
        </p:spPr>
        <p:txBody>
          <a:bodyPr wrap="square" lIns="0" rIns="0" tIns="0" bIns="0" anchor="t">
            <a:noAutofit/>
          </a:bodyPr>
          <a:lstStyle/>
          <a:p>
            <a:pPr algn="l">
              <a:lnSpc>
                <a:spcPct val="110000"/>
              </a:lnSpc>
            </a:pPr>
            <a:r>
              <a:rPr sz="1000" b="1">
                <a:solidFill>
                  <a:srgbClr val="44566A"/>
                </a:solidFill>
                <a:latin typeface="맑은 고딕"/>
                <a:ea typeface="맑은 고딕"/>
                <a:cs typeface="맑은 고딕"/>
              </a:rPr>
              <a:t>14</a:t>
            </a:r>
          </a:p>
        </p:txBody>
      </p:sp>
      <p:sp>
        <p:nvSpPr>
          <p:cNvPr id="5" name="TextBox 4"/>
          <p:cNvSpPr txBox="1"/>
          <p:nvPr/>
        </p:nvSpPr>
        <p:spPr>
          <a:xfrm>
            <a:off x="9265920" y="6487668"/>
            <a:ext cx="2462784" cy="205740"/>
          </a:xfrm>
          <a:prstGeom prst="rect">
            <a:avLst/>
          </a:prstGeom>
          <a:noFill/>
        </p:spPr>
        <p:txBody>
          <a:bodyPr wrap="square" lIns="0" rIns="0" tIns="0" bIns="0" anchor="t">
            <a:noAutofit/>
          </a:bodyPr>
          <a:lstStyle/>
          <a:p>
            <a:pPr algn="r">
              <a:lnSpc>
                <a:spcPct val="110000"/>
              </a:lnSpc>
            </a:pPr>
            <a:r>
              <a:rPr sz="900" b="0">
                <a:solidFill>
                  <a:srgbClr val="7F7F7F"/>
                </a:solidFill>
                <a:latin typeface="Malgun Gothic Semilight"/>
                <a:ea typeface="Malgun Gothic Semilight"/>
                <a:cs typeface="Malgun Gothic Semilight"/>
              </a:rPr>
              <a:t>SRAM Vmin 순·역방향 추정</a:t>
            </a:r>
          </a:p>
        </p:txBody>
      </p:sp>
      <p:sp>
        <p:nvSpPr>
          <p:cNvPr id="6" name="TextBox 5"/>
          <p:cNvSpPr txBox="1"/>
          <p:nvPr/>
        </p:nvSpPr>
        <p:spPr>
          <a:xfrm>
            <a:off x="463296" y="1165860"/>
            <a:ext cx="3511296" cy="480060"/>
          </a:xfrm>
          <a:prstGeom prst="rect">
            <a:avLst/>
          </a:prstGeom>
          <a:noFill/>
        </p:spPr>
        <p:txBody>
          <a:bodyPr wrap="square" lIns="0" rIns="0" tIns="0" bIns="0" anchor="ctr">
            <a:noAutofit/>
          </a:bodyPr>
          <a:lstStyle/>
          <a:p>
            <a:pPr algn="ctr">
              <a:lnSpc>
                <a:spcPct val="110000"/>
              </a:lnSpc>
            </a:pPr>
            <a:r>
              <a:rPr sz="2000" b="1">
                <a:solidFill>
                  <a:srgbClr val="1428A0"/>
                </a:solidFill>
                <a:latin typeface="맑은 고딕"/>
                <a:ea typeface="맑은 고딕"/>
                <a:cs typeface="맑은 고딕"/>
              </a:rPr>
              <a:t>순·역방향 추정 model</a:t>
            </a:r>
          </a:p>
        </p:txBody>
      </p:sp>
      <p:sp>
        <p:nvSpPr>
          <p:cNvPr id="7" name="Rectangle 6"/>
          <p:cNvSpPr/>
          <p:nvPr/>
        </p:nvSpPr>
        <p:spPr>
          <a:xfrm>
            <a:off x="1560576" y="1706562"/>
            <a:ext cx="1316736" cy="15875"/>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3296" y="2057400"/>
            <a:ext cx="3511296" cy="1508760"/>
          </a:xfrm>
          <a:prstGeom prst="rect">
            <a:avLst/>
          </a:prstGeom>
          <a:noFill/>
        </p:spPr>
        <p:txBody>
          <a:bodyPr wrap="square" lIns="0" rIns="0" tIns="0" bIns="0" anchor="t">
            <a:noAutofit/>
          </a:bodyPr>
          <a:lstStyle/>
          <a:p>
            <a:pPr algn="ctr">
              <a:lnSpc>
                <a:spcPct val="160000"/>
              </a:lnSpc>
            </a:pPr>
            <a:r>
              <a:rPr sz="1700" b="0">
                <a:solidFill>
                  <a:srgbClr val="1A1A1A"/>
                </a:solidFill>
                <a:latin typeface="Malgun Gothic Semilight"/>
                <a:ea typeface="Malgun Gothic Semilight"/>
                <a:cs typeface="Malgun Gothic Semilight"/>
              </a:rPr>
              <a:t>Monte Carlo simulation 결과로</a:t>
            </a:r>
          </a:p>
          <a:p>
            <a:pPr algn="ctr">
              <a:lnSpc>
                <a:spcPct val="160000"/>
              </a:lnSpc>
            </a:pPr>
            <a:r>
              <a:rPr sz="1700" b="0">
                <a:solidFill>
                  <a:srgbClr val="1A1A1A"/>
                </a:solidFill>
                <a:latin typeface="Malgun Gothic Semilight"/>
                <a:ea typeface="Malgun Gothic Semilight"/>
                <a:cs typeface="Malgun Gothic Semilight"/>
              </a:rPr>
              <a:t>Vmin을 두 방향으로 추정</a:t>
            </a:r>
          </a:p>
          <a:p>
            <a:pPr algn="ctr">
              <a:lnSpc>
                <a:spcPct val="160000"/>
              </a:lnSpc>
            </a:pPr>
            <a:r>
              <a:rPr sz="1700" b="0">
                <a:solidFill>
                  <a:srgbClr val="1A1A1A"/>
                </a:solidFill>
                <a:latin typeface="Malgun Gothic Semilight"/>
                <a:ea typeface="Malgun Gothic Semilight"/>
                <a:cs typeface="Malgun Gothic Semilight"/>
              </a:rPr>
              <a:t>오차 read 4 mV · write 6 mV</a:t>
            </a:r>
          </a:p>
        </p:txBody>
      </p:sp>
      <p:sp>
        <p:nvSpPr>
          <p:cNvPr id="9" name="TextBox 8"/>
          <p:cNvSpPr txBox="1"/>
          <p:nvPr/>
        </p:nvSpPr>
        <p:spPr>
          <a:xfrm>
            <a:off x="4340352" y="1165860"/>
            <a:ext cx="3511296" cy="480060"/>
          </a:xfrm>
          <a:prstGeom prst="rect">
            <a:avLst/>
          </a:prstGeom>
          <a:noFill/>
        </p:spPr>
        <p:txBody>
          <a:bodyPr wrap="square" lIns="0" rIns="0" tIns="0" bIns="0" anchor="ctr">
            <a:noAutofit/>
          </a:bodyPr>
          <a:lstStyle/>
          <a:p>
            <a:pPr algn="ctr">
              <a:lnSpc>
                <a:spcPct val="110000"/>
              </a:lnSpc>
            </a:pPr>
            <a:r>
              <a:rPr sz="2000" b="1">
                <a:solidFill>
                  <a:srgbClr val="1428A0"/>
                </a:solidFill>
                <a:latin typeface="맑은 고딕"/>
                <a:ea typeface="맑은 고딕"/>
                <a:cs typeface="맑은 고딕"/>
              </a:rPr>
              <a:t>효과적인 knob 도출</a:t>
            </a:r>
          </a:p>
        </p:txBody>
      </p:sp>
      <p:sp>
        <p:nvSpPr>
          <p:cNvPr id="10" name="Rectangle 9"/>
          <p:cNvSpPr/>
          <p:nvPr/>
        </p:nvSpPr>
        <p:spPr>
          <a:xfrm>
            <a:off x="5437632" y="1706562"/>
            <a:ext cx="1316736" cy="15875"/>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0352" y="2057400"/>
            <a:ext cx="3511296" cy="1508760"/>
          </a:xfrm>
          <a:prstGeom prst="rect">
            <a:avLst/>
          </a:prstGeom>
          <a:noFill/>
        </p:spPr>
        <p:txBody>
          <a:bodyPr wrap="square" lIns="0" rIns="0" tIns="0" bIns="0" anchor="t">
            <a:noAutofit/>
          </a:bodyPr>
          <a:lstStyle/>
          <a:p>
            <a:pPr algn="ctr">
              <a:lnSpc>
                <a:spcPct val="160000"/>
              </a:lnSpc>
            </a:pPr>
            <a:r>
              <a:rPr sz="1700" b="0">
                <a:solidFill>
                  <a:srgbClr val="1A1A1A"/>
                </a:solidFill>
                <a:latin typeface="Malgun Gothic Semilight"/>
                <a:ea typeface="Malgun Gothic Semilight"/>
                <a:cs typeface="Malgun Gothic Semilight"/>
              </a:rPr>
              <a:t>read · write를 함께 낮추는 건</a:t>
            </a:r>
          </a:p>
          <a:p>
            <a:pPr algn="ctr">
              <a:lnSpc>
                <a:spcPct val="160000"/>
              </a:lnSpc>
            </a:pPr>
            <a:r>
              <a:rPr sz="1700" b="0">
                <a:solidFill>
                  <a:srgbClr val="1A1A1A"/>
                </a:solidFill>
                <a:latin typeface="Malgun Gothic Semilight"/>
                <a:ea typeface="Malgun Gothic Semilight"/>
                <a:cs typeface="Malgun Gothic Semilight"/>
              </a:rPr>
              <a:t>local mismatch</a:t>
            </a:r>
          </a:p>
          <a:p>
            <a:pPr algn="ctr">
              <a:lnSpc>
                <a:spcPct val="160000"/>
              </a:lnSpc>
            </a:pPr>
            <a:r>
              <a:rPr sz="1700" b="0">
                <a:solidFill>
                  <a:srgbClr val="1A1A1A"/>
                </a:solidFill>
                <a:latin typeface="Malgun Gothic Semilight"/>
                <a:ea typeface="Malgun Gothic Semilight"/>
                <a:cs typeface="Malgun Gothic Semilight"/>
              </a:rPr>
              <a:t>Vmin −50 mV ← NMOS −10.9 %</a:t>
            </a:r>
          </a:p>
        </p:txBody>
      </p:sp>
      <p:sp>
        <p:nvSpPr>
          <p:cNvPr id="12" name="Rectangle 11"/>
          <p:cNvSpPr/>
          <p:nvPr/>
        </p:nvSpPr>
        <p:spPr>
          <a:xfrm>
            <a:off x="4152710" y="1165860"/>
            <a:ext cx="9525" cy="253746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7408" y="1165860"/>
            <a:ext cx="3511296" cy="480060"/>
          </a:xfrm>
          <a:prstGeom prst="rect">
            <a:avLst/>
          </a:prstGeom>
          <a:noFill/>
        </p:spPr>
        <p:txBody>
          <a:bodyPr wrap="square" lIns="0" rIns="0" tIns="0" bIns="0" anchor="ctr">
            <a:noAutofit/>
          </a:bodyPr>
          <a:lstStyle/>
          <a:p>
            <a:pPr algn="ctr">
              <a:lnSpc>
                <a:spcPct val="110000"/>
              </a:lnSpc>
            </a:pPr>
            <a:r>
              <a:rPr sz="2000" b="1">
                <a:solidFill>
                  <a:srgbClr val="1428A0"/>
                </a:solidFill>
                <a:latin typeface="맑은 고딕"/>
                <a:ea typeface="맑은 고딕"/>
                <a:cs typeface="맑은 고딕"/>
              </a:rPr>
              <a:t>마음껏 검토</a:t>
            </a:r>
          </a:p>
        </p:txBody>
      </p:sp>
      <p:sp>
        <p:nvSpPr>
          <p:cNvPr id="14" name="Rectangle 13"/>
          <p:cNvSpPr/>
          <p:nvPr/>
        </p:nvSpPr>
        <p:spPr>
          <a:xfrm>
            <a:off x="9314688" y="1706562"/>
            <a:ext cx="1316736" cy="15875"/>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7408" y="2057400"/>
            <a:ext cx="3511296" cy="1508760"/>
          </a:xfrm>
          <a:prstGeom prst="rect">
            <a:avLst/>
          </a:prstGeom>
          <a:noFill/>
        </p:spPr>
        <p:txBody>
          <a:bodyPr wrap="square" lIns="0" rIns="0" tIns="0" bIns="0" anchor="t">
            <a:noAutofit/>
          </a:bodyPr>
          <a:lstStyle/>
          <a:p>
            <a:pPr algn="ctr">
              <a:lnSpc>
                <a:spcPct val="160000"/>
              </a:lnSpc>
            </a:pPr>
            <a:r>
              <a:rPr sz="1700" b="0">
                <a:solidFill>
                  <a:srgbClr val="1A1A1A"/>
                </a:solidFill>
                <a:latin typeface="Malgun Gothic Semilight"/>
                <a:ea typeface="Malgun Gothic Semilight"/>
                <a:cs typeface="Malgun Gothic Semilight"/>
              </a:rPr>
              <a:t>목표 · knob 조합을 바꿔도</a:t>
            </a:r>
          </a:p>
          <a:p>
            <a:pPr algn="ctr">
              <a:lnSpc>
                <a:spcPct val="160000"/>
              </a:lnSpc>
            </a:pPr>
            <a:r>
              <a:rPr sz="1700" b="0">
                <a:solidFill>
                  <a:srgbClr val="1A1A1A"/>
                </a:solidFill>
                <a:latin typeface="Malgun Gothic Semilight"/>
                <a:ea typeface="Malgun Gothic Semilight"/>
                <a:cs typeface="Malgun Gothic Semilight"/>
              </a:rPr>
              <a:t>Monte Carlo simulation 추가 없음</a:t>
            </a:r>
          </a:p>
          <a:p>
            <a:pPr algn="ctr">
              <a:lnSpc>
                <a:spcPct val="160000"/>
              </a:lnSpc>
            </a:pPr>
            <a:r>
              <a:rPr sz="1700" b="0">
                <a:solidFill>
                  <a:srgbClr val="1A1A1A"/>
                </a:solidFill>
                <a:latin typeface="Malgun Gothic Semilight"/>
                <a:ea typeface="Malgun Gothic Semilight"/>
                <a:cs typeface="Malgun Gothic Semilight"/>
              </a:rPr>
              <a:t>학습 비용도 1/53까지</a:t>
            </a:r>
          </a:p>
        </p:txBody>
      </p:sp>
      <p:sp>
        <p:nvSpPr>
          <p:cNvPr id="16" name="Rectangle 15"/>
          <p:cNvSpPr/>
          <p:nvPr/>
        </p:nvSpPr>
        <p:spPr>
          <a:xfrm>
            <a:off x="8029766" y="1165860"/>
            <a:ext cx="9525" cy="253746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3296" y="4110038"/>
            <a:ext cx="11265408"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296" y="4197096"/>
            <a:ext cx="11265408" cy="480060"/>
          </a:xfrm>
          <a:prstGeom prst="rect">
            <a:avLst/>
          </a:prstGeom>
          <a:noFill/>
        </p:spPr>
        <p:txBody>
          <a:bodyPr wrap="square" lIns="0" rIns="0" tIns="0" bIns="0" anchor="ctr">
            <a:noAutofit/>
          </a:bodyPr>
          <a:lstStyle/>
          <a:p>
            <a:pPr algn="ctr">
              <a:lnSpc>
                <a:spcPct val="110000"/>
              </a:lnSpc>
            </a:pPr>
            <a:r>
              <a:rPr sz="1900" b="1">
                <a:solidFill>
                  <a:srgbClr val="1428A0"/>
                </a:solidFill>
                <a:latin typeface="맑은 고딕"/>
                <a:ea typeface="맑은 고딕"/>
                <a:cs typeface="맑은 고딕"/>
              </a:rPr>
              <a:t>model로 먼저 좁히고, Monte Carlo simulation은 확인에만 쓴다</a:t>
            </a:r>
          </a:p>
        </p:txBody>
      </p:sp>
      <p:sp>
        <p:nvSpPr>
          <p:cNvPr id="19" name="TextBox 18"/>
          <p:cNvSpPr txBox="1"/>
          <p:nvPr/>
        </p:nvSpPr>
        <p:spPr>
          <a:xfrm>
            <a:off x="475488" y="5349240"/>
            <a:ext cx="7315200" cy="411480"/>
          </a:xfrm>
          <a:prstGeom prst="rect">
            <a:avLst/>
          </a:prstGeom>
          <a:noFill/>
        </p:spPr>
        <p:txBody>
          <a:bodyPr wrap="square" lIns="0" rIns="0" tIns="0" bIns="0" anchor="t">
            <a:noAutofit/>
          </a:bodyPr>
          <a:lstStyle/>
          <a:p>
            <a:pPr algn="l">
              <a:lnSpc>
                <a:spcPct val="110000"/>
              </a:lnSpc>
            </a:pPr>
            <a:r>
              <a:rPr sz="1200" b="0">
                <a:solidFill>
                  <a:srgbClr val="7F7F7F"/>
                </a:solidFill>
                <a:latin typeface="Malgun Gothic Semilight"/>
                <a:ea typeface="Malgun Gothic Semilight"/>
                <a:cs typeface="Malgun Gothic Semilight"/>
              </a:rPr>
              <a:t>한계 — 결과는 나머지 조건을 고정했을 때의 값 · 비교 기준은 Monte Carlo simulation</a:t>
            </a:r>
          </a:p>
        </p:txBody>
      </p:sp>
      <p:sp>
        <p:nvSpPr>
          <p:cNvPr id="20" name="TextBox 19"/>
          <p:cNvSpPr txBox="1"/>
          <p:nvPr/>
        </p:nvSpPr>
        <p:spPr>
          <a:xfrm>
            <a:off x="8046720" y="5143500"/>
            <a:ext cx="3681984" cy="617220"/>
          </a:xfrm>
          <a:prstGeom prst="rect">
            <a:avLst/>
          </a:prstGeom>
          <a:noFill/>
        </p:spPr>
        <p:txBody>
          <a:bodyPr wrap="square" lIns="0" rIns="0" tIns="0" bIns="0" anchor="ctr">
            <a:noAutofit/>
          </a:bodyPr>
          <a:lstStyle/>
          <a:p>
            <a:pPr algn="r">
              <a:lnSpc>
                <a:spcPct val="110000"/>
              </a:lnSpc>
            </a:pPr>
            <a:r>
              <a:rPr sz="2800" b="1">
                <a:solidFill>
                  <a:srgbClr val="1428A0"/>
                </a:solidFill>
                <a:latin typeface="맑은 고딕"/>
                <a:ea typeface="맑은 고딕"/>
                <a:cs typeface="맑은 고딕"/>
              </a:rPr>
              <a:t>감사합니다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